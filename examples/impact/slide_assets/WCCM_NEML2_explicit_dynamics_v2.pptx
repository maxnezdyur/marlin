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19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19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19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NEML2Def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Gradient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 = I + ∂u/∂X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P = model(F,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∇φ·P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the experiment  ·  Taylor impact simulation  ·  calibration against the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71600"/>
            <a:ext cx="7223760" cy="4063365"/>
          </a:xfrm>
          <a:prstGeom prst="roundRect">
            <a:avLst>
              <a:gd name="adj" fmla="val 55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00362"/>
            <a:ext cx="7223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Arial"/>
                <a:cs typeface="Arial"/>
              </a:rPr>
              <a:t>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540442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B6BABF"/>
                </a:solidFill>
                <a:latin typeface="Arial"/>
                <a:cs typeface="Arial"/>
              </a:rPr>
              <a:t>high-speed video placeholder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508117"/>
            <a:ext cx="7223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impact and rebound of shot CuH04, high-speed camera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47888" y="137160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47888" y="146304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7344" y="146304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Specimen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175564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OFHC copper slug, Ø 7.62 mm × 38.1 mm, H04 full-hard temper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41401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250545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7344" y="250545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7344" y="279806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235.9 m/s impact against a rigid anvil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7888" y="3456430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3547870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547870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Recovered geometry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840478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laser-scanned to a 46k-triangle surface mesh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4498845"/>
            <a:ext cx="3376879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4590285"/>
            <a:ext cx="50292" cy="73152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4590285"/>
            <a:ext cx="2965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Role in this talk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4882893"/>
            <a:ext cx="296539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the scan is the calibration and validation target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Bayesian calibration of the material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Unknowns: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θ = (A, B, n, C, ε₀ᵖ)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plus a model-discrepancy scale σ</a:t>
            </a:r>
            <a:r>
              <a:rPr sz="1450" b="0" i="0" baseline="-25000">
                <a:solidFill>
                  <a:srgbClr val="3A3F47"/>
                </a:solidFill>
                <a:latin typeface="Arial"/>
                <a:cs typeface="Arial"/>
              </a:rPr>
              <a:t>d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. The forward model in the loop is the production simulation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Priors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A, B lognormal, ×/÷ 2 at 90% around literature values. n ∈ [0.1, 0.5], C ∈ [0.01, 0.05], ε₀ᵖ ∈ [0.1, 0.5] uniform. Discrepancy half-normal (0.15 mm).</a:t>
            </a:r>
          </a:p>
        </p:txBody>
      </p:sp>
      <p:sp>
        <p:nvSpPr>
          <p:cNvPr id="9" name="Freeform 8"/>
          <p:cNvSpPr/>
          <p:nvPr/>
        </p:nvSpPr>
        <p:spPr>
          <a:xfrm>
            <a:off x="305935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3425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425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542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96-run Sobol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542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one production simulation per point (~21 min each)</a:t>
            </a:r>
          </a:p>
        </p:txBody>
      </p:sp>
      <p:sp>
        <p:nvSpPr>
          <p:cNvPr id="14" name="Freeform 13"/>
          <p:cNvSpPr/>
          <p:nvPr/>
        </p:nvSpPr>
        <p:spPr>
          <a:xfrm>
            <a:off x="592668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158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158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75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Gaussian-process emulator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PCA of the outer profile, one GP per mode. Cross-validated to 0.03 mm.</a:t>
            </a:r>
          </a:p>
        </p:txBody>
      </p:sp>
      <p:sp>
        <p:nvSpPr>
          <p:cNvPr id="19" name="Freeform 18"/>
          <p:cNvSpPr/>
          <p:nvPr/>
        </p:nvSpPr>
        <p:spPr>
          <a:xfrm>
            <a:off x="8794013" y="2426049"/>
            <a:ext cx="338328" cy="122237"/>
          </a:xfrm>
          <a:custGeom>
            <a:avLst/>
            <a:gdLst/>
            <a:ahLst/>
            <a:cxnLst/>
            <a:rect l="l" t="t" r="r" b="b"/>
            <a:pathLst>
              <a:path w="338328" h="122237">
                <a:moveTo>
                  <a:pt x="0" y="72231"/>
                </a:moveTo>
                <a:lnTo>
                  <a:pt x="227203" y="72231"/>
                </a:lnTo>
                <a:lnTo>
                  <a:pt x="227203" y="122237"/>
                </a:lnTo>
                <a:lnTo>
                  <a:pt x="338328" y="61119"/>
                </a:lnTo>
                <a:lnTo>
                  <a:pt x="227203" y="0"/>
                </a:lnTo>
                <a:lnTo>
                  <a:pt x="227203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8917" y="1709928"/>
            <a:ext cx="2455849" cy="1554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8917" y="1819656"/>
            <a:ext cx="50292" cy="133502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0085" y="1837944"/>
            <a:ext cx="209008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MCMC posterior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0085" y="2276856"/>
            <a:ext cx="20900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A3F47"/>
                </a:solidFill>
                <a:latin typeface="Arial"/>
                <a:cs typeface="Arial"/>
              </a:rPr>
              <a:t>emcee over parameters and discrepancy. The posterior median is re-run through the true model.</a:t>
            </a:r>
          </a:p>
        </p:txBody>
      </p:sp>
      <p:pic>
        <p:nvPicPr>
          <p:cNvPr id="24" name="Picture 23" descr="bayes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675888"/>
            <a:ext cx="4212640" cy="274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4944" y="422452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posterior over parameters and discrepancy</a:t>
            </a:r>
          </a:p>
        </p:txBody>
      </p:sp>
      <p:pic>
        <p:nvPicPr>
          <p:cNvPr id="26" name="Picture 25" descr="bayes_likeli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636008"/>
            <a:ext cx="4184142" cy="3238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" y="5212080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Gaussian over ~40 profile stations, final length, and foot radius</a:t>
            </a:r>
          </a:p>
        </p:txBody>
      </p:sp>
      <p:pic>
        <p:nvPicPr>
          <p:cNvPr id="28" name="Picture 27" descr="fig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087" y="3447288"/>
            <a:ext cx="4297680" cy="26093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
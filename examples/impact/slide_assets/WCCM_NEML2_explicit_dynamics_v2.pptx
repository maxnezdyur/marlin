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Accelerated Explicit Dynamics Simulations of Impact Problems Using GPU-Enabled Material Models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. Rate- and temperature-dependent, with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solver.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where NEML2 assembles the nodal internal forces itself, batched and device-resident, while MOOSE keeps doing everything else.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20</a:t>
            </a:r>
          </a:p>
        </p:txBody>
      </p:sp>
      <p:pic>
        <p:nvPicPr>
          <p:cNvPr id="4" name="Picture 3" descr="momentum_strong_form_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884246" cy="2706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 on the reference domain</a:t>
            </a:r>
          </a:p>
        </p:txBody>
      </p:sp>
      <p:pic>
        <p:nvPicPr>
          <p:cNvPr id="6" name="Picture 5" descr="weak_form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986473" cy="374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total-Lagrangian weak form. Every integral is on the reference configuration</a:t>
            </a:r>
          </a:p>
        </p:txBody>
      </p:sp>
      <p:pic>
        <p:nvPicPr>
          <p:cNvPr id="8" name="Picture 7" descr="semi_discrete_momentum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13406" cy="3214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_t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346469" cy="3806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 from the first Piola–Kirchhoff stress at each quadrature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Reference-domain integrals: 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shape functions, weights, and dof maps never change during the run. All material physics enters through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the quadrature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I: finite-strain 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20</a:t>
            </a:r>
          </a:p>
        </p:txBody>
      </p:sp>
      <p:pic>
        <p:nvPicPr>
          <p:cNvPr id="4" name="Picture 3" descr="mul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80160"/>
            <a:ext cx="1192606" cy="234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70648" y="1261872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multiplicative split: Fᵖ carries the crush, elastic strain stays small</a:t>
            </a:r>
          </a:p>
        </p:txBody>
      </p:sp>
      <p:pic>
        <p:nvPicPr>
          <p:cNvPr id="6" name="Picture 5" descr="trial_state_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84832"/>
            <a:ext cx="4119143" cy="352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70648" y="2066544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trial state: plastic flow frozen at the old Fᵖ</a:t>
            </a:r>
          </a:p>
        </p:txBody>
      </p:sp>
      <p:pic>
        <p:nvPicPr>
          <p:cNvPr id="8" name="Picture 7" descr="radial_return_k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9504"/>
            <a:ext cx="4981879" cy="352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648" y="2871216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radial return on the trial elastic strain, one scalar unknown</a:t>
            </a:r>
          </a:p>
        </p:txBody>
      </p:sp>
      <p:pic>
        <p:nvPicPr>
          <p:cNvPr id="10" name="Picture 9" descr="fp_upd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94176"/>
            <a:ext cx="2464155" cy="3524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0648" y="3675888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linearized exponential-map plastic update</a:t>
            </a:r>
          </a:p>
        </p:txBody>
      </p:sp>
      <p:pic>
        <p:nvPicPr>
          <p:cNvPr id="12" name="Picture 11" descr="pk1_pullba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98848"/>
            <a:ext cx="2317546" cy="3524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70648" y="4480560"/>
            <a:ext cx="41541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pull-back to the reference configuration, giving the PK1 stress of the weak 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Each quantity lives on the right domain: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 on the relaxed intermediate configuration, P on the reference, matching the Ω</a:t>
            </a:r>
            <a:r>
              <a:rPr sz="1500" b="0" i="0" baseline="-25000">
                <a:solidFill>
                  <a:srgbClr val="3A3F47"/>
                </a:solidFill>
                <a:latin typeface="Arial"/>
                <a:cs typeface="Arial"/>
              </a:rPr>
              <a:t>0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integrals of the weak form. Elastic strain stays ~10⁻³, so the St. Venant–Kirchhoff law is safe under severe compression.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material model II: Johnson–Cook flow and adiabatic heating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20</a:t>
            </a:r>
          </a:p>
        </p:txBody>
      </p:sp>
      <p:pic>
        <p:nvPicPr>
          <p:cNvPr id="4" name="Picture 3" descr="jc_flow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71600"/>
            <a:ext cx="5760034" cy="386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" y="19385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flow stress: strain hardening × thermal softening; prior cold work ε₀ᵖ sets the temper</a:t>
            </a:r>
          </a:p>
        </p:txBody>
      </p:sp>
      <p:pic>
        <p:nvPicPr>
          <p:cNvPr id="6" name="Picture 5" descr="jc_rate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578608"/>
            <a:ext cx="4144518" cy="490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" y="314553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rate form (inverted Johnson–Cook): smooth viscoplastic overstress law</a:t>
            </a:r>
          </a:p>
        </p:txBody>
      </p:sp>
      <p:pic>
        <p:nvPicPr>
          <p:cNvPr id="8" name="Picture 7" descr="adiabatic_hea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85616"/>
            <a:ext cx="1914372" cy="3355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" y="435254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adiabatic Taylor–Quinney heating, integrated inside the model (β = 0.9)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93608" y="1207008"/>
            <a:ext cx="3331159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353312"/>
            <a:ext cx="28922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OFHC COPPER (CuH04 SHOT)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16824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E, 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8" y="16824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117 GPa, 0.34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0482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ρ, cₚ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9488" y="20482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8960 kg/m³, 385 J/kg·K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24140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β,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4140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0.9, 0.98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1352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277977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129 MPa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31455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9488" y="314553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308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351129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51129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87705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387705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2" y="424281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ε₀ᵖ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4242816"/>
            <a:ext cx="1776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E8614"/>
                </a:solidFill>
                <a:latin typeface="Arial"/>
                <a:cs typeface="Arial"/>
              </a:rPr>
              <a:t>0.14  (H04 temper)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13064" y="2834640"/>
            <a:ext cx="2892247" cy="0"/>
          </a:xfrm>
          <a:prstGeom prst="line">
            <a:avLst/>
          </a:prstGeom>
          <a:ln w="9525">
            <a:solidFill>
              <a:srgbClr val="DADD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31352" y="4645152"/>
            <a:ext cx="2873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green = Bayesian-calibrated against the recovered specimen (later in this talk)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Internal state (εᵖ, Fᵖ, T) advances inside the model every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divide,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Jacobian.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MIXED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Displacements: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central difference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 (temperature): 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forward Euler on the rate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Both advance in the same update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 needs no solve.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Laboratory).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algorithms,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here, parallel and production-tested.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source).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sp>
        <p:nvSpPr>
          <p:cNvPr id="8" name="Freeform 7"/>
          <p:cNvSpPr/>
          <p:nvPr/>
        </p:nvSpPr>
        <p:spPr>
          <a:xfrm>
            <a:off x="1783080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sp>
        <p:nvSpPr>
          <p:cNvPr id="10" name="Freeform 9"/>
          <p:cNvSpPr/>
          <p:nvPr/>
        </p:nvSpPr>
        <p:spPr>
          <a:xfrm>
            <a:off x="2953512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23944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94376" y="2622232"/>
            <a:ext cx="182880" cy="104775"/>
          </a:xfrm>
          <a:custGeom>
            <a:avLst/>
            <a:gdLst/>
            <a:ahLst/>
            <a:cxnLst/>
            <a:rect l="l" t="t" r="r" b="b"/>
            <a:pathLst>
              <a:path w="182880" h="104775">
                <a:moveTo>
                  <a:pt x="0" y="61913"/>
                </a:moveTo>
                <a:lnTo>
                  <a:pt x="87630" y="61913"/>
                </a:lnTo>
                <a:lnTo>
                  <a:pt x="87630" y="104775"/>
                </a:lnTo>
                <a:lnTo>
                  <a:pt x="182880" y="52388"/>
                </a:lnTo>
                <a:lnTo>
                  <a:pt x="87630" y="0"/>
                </a:lnTo>
                <a:lnTo>
                  <a:pt x="87630" y="42863"/>
                </a:lnTo>
                <a:lnTo>
                  <a:pt x="0" y="42863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material models as batched tensor programs.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It has no mesh, boundary conditions, or assembly. MOOSE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tag.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itself, not just stress,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contribution. MOOSE BCs, outputs, and MPI are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·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sp>
        <p:nvSpPr>
          <p:cNvPr id="9" name="Freeform 8"/>
          <p:cNvSpPr/>
          <p:nvPr/>
        </p:nvSpPr>
        <p:spPr>
          <a:xfrm>
            <a:off x="4099483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sp>
        <p:nvSpPr>
          <p:cNvPr id="11" name="Freeform 10"/>
          <p:cNvSpPr/>
          <p:nvPr/>
        </p:nvSpPr>
        <p:spPr>
          <a:xfrm>
            <a:off x="5922111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7744739" y="2453481"/>
            <a:ext cx="347472" cy="122237"/>
          </a:xfrm>
          <a:custGeom>
            <a:avLst/>
            <a:gdLst/>
            <a:ahLst/>
            <a:cxnLst/>
            <a:rect l="l" t="t" r="r" b="b"/>
            <a:pathLst>
              <a:path w="347472" h="122237">
                <a:moveTo>
                  <a:pt x="0" y="72231"/>
                </a:moveTo>
                <a:lnTo>
                  <a:pt x="236347" y="72231"/>
                </a:lnTo>
                <a:lnTo>
                  <a:pt x="236347" y="122237"/>
                </a:lnTo>
                <a:lnTo>
                  <a:pt x="347472" y="61119"/>
                </a:lnTo>
                <a:lnTo>
                  <a:pt x="236347" y="0"/>
                </a:lnTo>
                <a:lnTo>
                  <a:pt x="23634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sp>
        <p:nvSpPr>
          <p:cNvPr id="15" name="Freeform 14"/>
          <p:cNvSpPr/>
          <p:nvPr/>
        </p:nvSpPr>
        <p:spPr>
          <a:xfrm>
            <a:off x="2002536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567367" y="2453481"/>
            <a:ext cx="621792" cy="122237"/>
          </a:xfrm>
          <a:custGeom>
            <a:avLst/>
            <a:gdLst/>
            <a:ahLst/>
            <a:cxnLst/>
            <a:rect l="l" t="t" r="r" b="b"/>
            <a:pathLst>
              <a:path w="621792" h="122237">
                <a:moveTo>
                  <a:pt x="0" y="72231"/>
                </a:moveTo>
                <a:lnTo>
                  <a:pt x="510667" y="72231"/>
                </a:lnTo>
                <a:lnTo>
                  <a:pt x="510667" y="122237"/>
                </a:lnTo>
                <a:lnTo>
                  <a:pt x="621792" y="61119"/>
                </a:lnTo>
                <a:lnTo>
                  <a:pt x="510667" y="0"/>
                </a:lnTo>
                <a:lnTo>
                  <a:pt x="510667" y="50006"/>
                </a:lnTo>
                <a:lnTo>
                  <a:pt x="0" y="50006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/>
          <p:cNvSpPr/>
          <p:nvPr/>
        </p:nvSpPr>
        <p:spPr>
          <a:xfrm>
            <a:off x="1223200" y="3273552"/>
            <a:ext cx="104775" cy="1316736"/>
          </a:xfrm>
          <a:custGeom>
            <a:avLst/>
            <a:gdLst/>
            <a:ahLst/>
            <a:cxnLst/>
            <a:rect l="l" t="t" r="r" b="b"/>
            <a:pathLst>
              <a:path w="104775" h="1316736">
                <a:moveTo>
                  <a:pt x="61913" y="1316736"/>
                </a:moveTo>
                <a:lnTo>
                  <a:pt x="61913" y="95250"/>
                </a:lnTo>
                <a:lnTo>
                  <a:pt x="104775" y="95250"/>
                </a:lnTo>
                <a:lnTo>
                  <a:pt x="52388" y="0"/>
                </a:lnTo>
                <a:lnTo>
                  <a:pt x="0" y="95250"/>
                </a:lnTo>
                <a:lnTo>
                  <a:pt x="42863" y="95250"/>
                </a:lnTo>
                <a:lnTo>
                  <a:pt x="42863" y="1316736"/>
                </a:lnTo>
                <a:close/>
              </a:path>
            </a:pathLst>
          </a:cu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JxW.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·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sp>
        <p:nvSpPr>
          <p:cNvPr id="12" name="Freeform 11"/>
          <p:cNvSpPr/>
          <p:nvPr/>
        </p:nvSpPr>
        <p:spPr>
          <a:xfrm>
            <a:off x="3445342" y="2121227"/>
            <a:ext cx="1053506" cy="260604"/>
          </a:xfrm>
          <a:custGeom>
            <a:avLst/>
            <a:gdLst/>
            <a:ahLst/>
            <a:cxnLst/>
            <a:rect l="l" t="t" r="r" b="b"/>
            <a:pathLst>
              <a:path w="1053506" h="260604">
                <a:moveTo>
                  <a:pt x="0" y="18649"/>
                </a:moveTo>
                <a:lnTo>
                  <a:pt x="958318" y="218646"/>
                </a:lnTo>
                <a:lnTo>
                  <a:pt x="949562" y="260604"/>
                </a:lnTo>
                <a:lnTo>
                  <a:pt x="1053506" y="228781"/>
                </a:lnTo>
                <a:lnTo>
                  <a:pt x="970967" y="158039"/>
                </a:lnTo>
                <a:lnTo>
                  <a:pt x="962210" y="199997"/>
                </a:lnTo>
                <a:lnTo>
                  <a:pt x="3891" y="0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6780726" y="2124541"/>
            <a:ext cx="461322" cy="234054"/>
          </a:xfrm>
          <a:custGeom>
            <a:avLst/>
            <a:gdLst/>
            <a:ahLst/>
            <a:cxnLst/>
            <a:rect l="l" t="t" r="r" b="b"/>
            <a:pathLst>
              <a:path w="461322" h="234054">
                <a:moveTo>
                  <a:pt x="8244" y="234054"/>
                </a:moveTo>
                <a:lnTo>
                  <a:pt x="379573" y="55815"/>
                </a:lnTo>
                <a:lnTo>
                  <a:pt x="398121" y="94457"/>
                </a:lnTo>
                <a:lnTo>
                  <a:pt x="461322" y="6011"/>
                </a:lnTo>
                <a:lnTo>
                  <a:pt x="352782" y="0"/>
                </a:lnTo>
                <a:lnTo>
                  <a:pt x="371330" y="38641"/>
                </a:lnTo>
                <a:lnTo>
                  <a:pt x="0" y="216879"/>
                </a:lnTo>
                <a:close/>
              </a:path>
            </a:pathLst>
          </a:cu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step. Traffic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·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sp>
        <p:nvSpPr>
          <p:cNvPr id="23" name="Freeform 22"/>
          <p:cNvSpPr/>
          <p:nvPr/>
        </p:nvSpPr>
        <p:spPr>
          <a:xfrm>
            <a:off x="3170846" y="4187810"/>
            <a:ext cx="962242" cy="258588"/>
          </a:xfrm>
          <a:custGeom>
            <a:avLst/>
            <a:gdLst/>
            <a:ahLst/>
            <a:cxnLst/>
            <a:rect l="l" t="t" r="r" b="b"/>
            <a:pathLst>
              <a:path w="962242" h="258588">
                <a:moveTo>
                  <a:pt x="0" y="18572"/>
                </a:moveTo>
                <a:lnTo>
                  <a:pt x="867264" y="216803"/>
                </a:lnTo>
                <a:lnTo>
                  <a:pt x="857713" y="258588"/>
                </a:lnTo>
                <a:lnTo>
                  <a:pt x="962242" y="228742"/>
                </a:lnTo>
                <a:lnTo>
                  <a:pt x="881059" y="156447"/>
                </a:lnTo>
                <a:lnTo>
                  <a:pt x="871509" y="198232"/>
                </a:lnTo>
                <a:lnTo>
                  <a:pt x="4244" y="0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6872478" y="4187175"/>
            <a:ext cx="506730" cy="238107"/>
          </a:xfrm>
          <a:custGeom>
            <a:avLst/>
            <a:gdLst/>
            <a:ahLst/>
            <a:cxnLst/>
            <a:rect l="l" t="t" r="r" b="b"/>
            <a:pathLst>
              <a:path w="506730" h="238107">
                <a:moveTo>
                  <a:pt x="7619" y="238107"/>
                </a:moveTo>
                <a:lnTo>
                  <a:pt x="423239" y="56745"/>
                </a:lnTo>
                <a:lnTo>
                  <a:pt x="440381" y="96030"/>
                </a:lnTo>
                <a:lnTo>
                  <a:pt x="506730" y="9921"/>
                </a:lnTo>
                <a:lnTo>
                  <a:pt x="398477" y="0"/>
                </a:lnTo>
                <a:lnTo>
                  <a:pt x="415620" y="39285"/>
                </a:lnTo>
                <a:lnTo>
                  <a:pt x="0" y="220646"/>
                </a:lnTo>
                <a:close/>
              </a:path>
            </a:pathLst>
          </a:cu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download.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State stays where it is computed.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Transfer volume does not grow with model complexity.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flow.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,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,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.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(none, with node-wise contact)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Everything around it is negligible.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· calibrated multiplicative Johnson–Cook · reduced integration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9,600+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259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3914354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removed). Plastic strain localizes at the impact foot. The gray plane is the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179530"/>
            <a:ext cx="3931920" cy="14384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270970"/>
            <a:ext cx="6668719" cy="1529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integrator. The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one NEML2 parameter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the prior cold work (initial plastic strain)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39%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43%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3-D full-hard shortening matches the calibrated axisymmetric model (</a:t>
            </a:r>
            <a:r>
              <a:rPr sz="1350" b="1" i="0">
                <a:solidFill>
                  <a:srgbClr val="1E2430"/>
                </a:solidFill>
                <a:latin typeface="Arial"/>
                <a:cs typeface="Arial"/>
              </a:rPr>
              <a:t>39.5%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coupled. Temperature is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19215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558358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views. Run to rebound at 96 µs with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3960694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3960694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~100 µs run.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3878398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3960694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3951550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271590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transfers. Temperature state lives on the device like everything else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595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sp>
        <p:nvSpPr>
          <p:cNvPr id="11" name="Freeform 10"/>
          <p:cNvSpPr/>
          <p:nvPr/>
        </p:nvSpPr>
        <p:spPr>
          <a:xfrm>
            <a:off x="9783768" y="2560320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sp>
        <p:nvSpPr>
          <p:cNvPr id="16" name="Freeform 15"/>
          <p:cNvSpPr/>
          <p:nvPr/>
        </p:nvSpPr>
        <p:spPr>
          <a:xfrm>
            <a:off x="9783768" y="3675888"/>
            <a:ext cx="122237" cy="256032"/>
          </a:xfrm>
          <a:custGeom>
            <a:avLst/>
            <a:gdLst/>
            <a:ahLst/>
            <a:cxnLst/>
            <a:rect l="l" t="t" r="r" b="b"/>
            <a:pathLst>
              <a:path w="122237" h="256032">
                <a:moveTo>
                  <a:pt x="50006" y="0"/>
                </a:moveTo>
                <a:lnTo>
                  <a:pt x="50006" y="144907"/>
                </a:lnTo>
                <a:lnTo>
                  <a:pt x="0" y="144907"/>
                </a:lnTo>
                <a:lnTo>
                  <a:pt x="61119" y="256032"/>
                </a:lnTo>
                <a:lnTo>
                  <a:pt x="122237" y="144907"/>
                </a:lnTo>
                <a:lnTo>
                  <a:pt x="72231" y="144907"/>
                </a:lnTo>
                <a:lnTo>
                  <a:pt x="72231" y="0"/>
                </a:lnTo>
                <a:close/>
              </a:path>
            </a:pathLst>
          </a:cu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3986784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4078224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059936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462272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A–B–n–C. Multi-velocity shots are next.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20 / 20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
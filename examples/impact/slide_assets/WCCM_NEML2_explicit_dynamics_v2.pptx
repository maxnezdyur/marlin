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92" r:id="rId4"/>
  </p:sldMasterIdLst>
  <p:notesMasterIdLst>
    <p:notesMasterId r:id="rId8"/>
  </p:notesMasterIdLst>
  <p:sldIdLst>
    <p:sldId id="256" r:id="rId7"/>
    <p:sldId id="257" r:id="rId6"/>
    <p:sldId id="258" r:id="rId5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519E"/>
    <a:srgbClr val="2DA9E1"/>
    <a:srgbClr val="1C3665"/>
    <a:srgbClr val="8EC4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/>
    <p:restoredTop sz="94694"/>
  </p:normalViewPr>
  <p:slideViewPr>
    <p:cSldViewPr snapToGrid="0" snapToObjects="1">
      <p:cViewPr varScale="1">
        <p:scale>
          <a:sx n="124" d="100"/>
          <a:sy n="124" d="100"/>
        </p:scale>
        <p:origin x="120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09992B-A26C-6A4B-AC27-2602734F286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0CCFD4-A7F8-054B-8822-BC244B9535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012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Hex_0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77A4BE5-FE46-EA43-B6B0-450DE02CC37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3" name="blue/green box bottom">
            <a:extLst>
              <a:ext uri="{FF2B5EF4-FFF2-40B4-BE49-F238E27FC236}">
                <a16:creationId xmlns:a16="http://schemas.microsoft.com/office/drawing/2014/main" id="{01F9400E-D49A-AA40-B4BD-53F03EC31D76}"/>
              </a:ext>
            </a:extLst>
          </p:cNvPr>
          <p:cNvGrpSpPr/>
          <p:nvPr userDrawn="1"/>
        </p:nvGrpSpPr>
        <p:grpSpPr>
          <a:xfrm>
            <a:off x="0" y="5340350"/>
            <a:ext cx="12192000" cy="1517650"/>
            <a:chOff x="0" y="5340350"/>
            <a:chExt cx="12192000" cy="151765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C04B8F3-C379-C04D-8634-1CDEC81586E2}"/>
                </a:ext>
              </a:extLst>
            </p:cNvPr>
            <p:cNvSpPr/>
            <p:nvPr userDrawn="1"/>
          </p:nvSpPr>
          <p:spPr bwMode="auto">
            <a:xfrm>
              <a:off x="0" y="5444519"/>
              <a:ext cx="12192000" cy="1413481"/>
            </a:xfrm>
            <a:prstGeom prst="rect">
              <a:avLst/>
            </a:prstGeom>
            <a:solidFill>
              <a:srgbClr val="07519E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03207E4-91BC-AB48-939F-AAC2AA29BF23}"/>
                </a:ext>
              </a:extLst>
            </p:cNvPr>
            <p:cNvSpPr/>
            <p:nvPr userDrawn="1"/>
          </p:nvSpPr>
          <p:spPr bwMode="auto">
            <a:xfrm>
              <a:off x="0" y="5340350"/>
              <a:ext cx="12192000" cy="104169"/>
            </a:xfrm>
            <a:prstGeom prst="rect">
              <a:avLst/>
            </a:prstGeom>
            <a:solidFill>
              <a:srgbClr val="8EC423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E1DFF24A-6025-2847-8C93-29954BFB7B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37144" y="1938829"/>
            <a:ext cx="9354855" cy="2292350"/>
          </a:xfrm>
          <a:prstGeom prst="rect">
            <a:avLst/>
          </a:prstGeom>
          <a:noFill/>
        </p:spPr>
        <p:txBody>
          <a:bodyPr wrap="square" lIns="365760" tIns="822960" rIns="1097280" bIns="822960" anchor="ctr" anchorCtr="0"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 sz="3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525" indent="0">
              <a:buFontTx/>
              <a:buNone/>
              <a:tabLst/>
              <a:defRPr sz="2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title</a:t>
            </a:r>
          </a:p>
          <a:p>
            <a:pPr lvl="1"/>
            <a:r>
              <a:rPr lang="en-US" dirty="0"/>
              <a:t>Click to edit subtitle</a:t>
            </a:r>
          </a:p>
        </p:txBody>
      </p:sp>
      <p:sp>
        <p:nvSpPr>
          <p:cNvPr id="14" name="Text Placeholder 46">
            <a:extLst>
              <a:ext uri="{FF2B5EF4-FFF2-40B4-BE49-F238E27FC236}">
                <a16:creationId xmlns:a16="http://schemas.microsoft.com/office/drawing/2014/main" id="{45BFF713-8DD6-6843-86C3-2D1862E3CA9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70142" y="273297"/>
            <a:ext cx="2541981" cy="1392237"/>
          </a:xfrm>
          <a:effectLst/>
        </p:spPr>
        <p:txBody>
          <a:bodyPr lIns="0" rIns="0" bIns="0" anchor="b" anchorCtr="0">
            <a:noAutofit/>
          </a:bodyPr>
          <a:lstStyle>
            <a:lvl1pPr marL="7938" indent="0">
              <a:buFontTx/>
              <a:buNone/>
              <a:tabLst/>
              <a:defRPr sz="1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2pPr>
            <a:lvl3pPr marL="7938" indent="0">
              <a:buFontTx/>
              <a:buNone/>
              <a:tabLst/>
              <a:defRPr sz="16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4pPr>
            <a:lvl5pPr marL="18288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5pPr>
          </a:lstStyle>
          <a:p>
            <a:pPr lvl="0"/>
            <a:endParaRPr lang="en-US" dirty="0"/>
          </a:p>
          <a:p>
            <a:pPr lvl="2"/>
            <a:r>
              <a:rPr lang="en-US" dirty="0"/>
              <a:t>Date</a:t>
            </a:r>
          </a:p>
          <a:p>
            <a:pPr lvl="2"/>
            <a:endParaRPr lang="en-US" dirty="0"/>
          </a:p>
          <a:p>
            <a:pPr lvl="0"/>
            <a:r>
              <a:rPr lang="en-US" dirty="0"/>
              <a:t>Presenter name</a:t>
            </a:r>
          </a:p>
          <a:p>
            <a:pPr lvl="2"/>
            <a:r>
              <a:rPr lang="en-US" dirty="0"/>
              <a:t>Title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7150FBC-21D2-57A0-083B-AF225C0F1AD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04279" y="5913998"/>
            <a:ext cx="58420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788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  <p15:guide id="3" orient="horz" pos="1920">
          <p15:clr>
            <a:srgbClr val="FBAE40"/>
          </p15:clr>
        </p15:guide>
        <p15:guide id="4" pos="53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193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3409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E6D6083-77A6-334A-8C7F-A5F18D4F5F8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213" y="1739901"/>
            <a:ext cx="10415587" cy="432752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2"/>
              </a:buClr>
              <a:buSzTx/>
              <a:buFontTx/>
              <a:buNone/>
              <a:tabLst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134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6594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340345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150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8102700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50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72149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9232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991234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2EFBD4CC-FEFF-654C-B1A3-229DA69D10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3924736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80018A3-14FE-A04B-A3B4-D9AA55483B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54659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Blue Box Bulle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2CB96BB-242F-BC47-80BF-E45DB97245BA}"/>
              </a:ext>
            </a:extLst>
          </p:cNvPr>
          <p:cNvSpPr/>
          <p:nvPr userDrawn="1"/>
        </p:nvSpPr>
        <p:spPr>
          <a:xfrm>
            <a:off x="6843714" y="0"/>
            <a:ext cx="5346699" cy="62377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2FA9CB-507A-AA48-963A-8D5E37B7CF5B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79016F-99B0-6B40-B3F7-87F0068FC0E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IDAHO NATIONAL LABORATORY">
            <a:extLst>
              <a:ext uri="{FF2B5EF4-FFF2-40B4-BE49-F238E27FC236}">
                <a16:creationId xmlns:a16="http://schemas.microsoft.com/office/drawing/2014/main" id="{BD942965-6C07-5D4A-809D-5FC754D5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14" name="Title Placeholder BIG box blue right">
            <a:extLst>
              <a:ext uri="{FF2B5EF4-FFF2-40B4-BE49-F238E27FC236}">
                <a16:creationId xmlns:a16="http://schemas.microsoft.com/office/drawing/2014/main" id="{AB7EA1D9-8A57-3143-9688-4BB8599F986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50063" y="0"/>
            <a:ext cx="5340350" cy="907549"/>
          </a:xfrm>
          <a:prstGeom prst="rect">
            <a:avLst/>
          </a:prstGeom>
          <a:noFill/>
        </p:spPr>
        <p:txBody>
          <a:bodyPr lIns="274320" tIns="365760" rIns="274320">
            <a:norm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box title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538B584E-1ECA-5646-9DA7-61B8110256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16947" y="1064712"/>
            <a:ext cx="4598987" cy="4515349"/>
          </a:xfrm>
          <a:prstGeom prst="rect">
            <a:avLst/>
          </a:prstGeom>
        </p:spPr>
        <p:txBody>
          <a:bodyPr lIns="0">
            <a:normAutofit/>
          </a:bodyPr>
          <a:lstStyle>
            <a:lvl1pPr marL="347663" indent="-342900">
              <a:buClr>
                <a:schemeClr val="bg1"/>
              </a:buClr>
              <a:tabLst/>
              <a:defRPr sz="24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bullet list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16" name="Picture Placeholder">
            <a:extLst>
              <a:ext uri="{FF2B5EF4-FFF2-40B4-BE49-F238E27FC236}">
                <a16:creationId xmlns:a16="http://schemas.microsoft.com/office/drawing/2014/main" id="{6EF42CC7-103E-EA4C-89A2-543032DA331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843714" cy="622826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8900746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25992-890C-EC4B-B676-6CCEF133B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0" y="1709738"/>
            <a:ext cx="10409299" cy="2852737"/>
          </a:xfrm>
        </p:spPr>
        <p:txBody>
          <a:bodyPr anchor="ctr" anchorCtr="0"/>
          <a:lstStyle>
            <a:lvl1pPr>
              <a:defRPr sz="480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5303FD-B916-FD4E-85C2-3EBF655BC1F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938150" y="4589463"/>
            <a:ext cx="104093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8FDE18-9616-B043-9C71-522DAD29B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32FF7A-5905-EB40-919B-9225D0871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C7509E-6005-DB4B-9578-84532E5F8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3822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1739901"/>
            <a:ext cx="5081650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1739901"/>
            <a:ext cx="5081651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3200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2412999"/>
            <a:ext cx="5081650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2412999"/>
            <a:ext cx="5081651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172D795B-85F6-1F49-922A-F4131787307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938213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1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B4E34B4F-F908-104C-90F3-5135E2E8C74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70625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2 </a:t>
            </a:r>
          </a:p>
        </p:txBody>
      </p:sp>
    </p:spTree>
    <p:extLst>
      <p:ext uri="{BB962C8B-B14F-4D97-AF65-F5344CB8AC3E}">
        <p14:creationId xmlns:p14="http://schemas.microsoft.com/office/powerpoint/2010/main" val="17900851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Stat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07">
            <a:extLst>
              <a:ext uri="{FF2B5EF4-FFF2-40B4-BE49-F238E27FC236}">
                <a16:creationId xmlns:a16="http://schemas.microsoft.com/office/drawing/2014/main" id="{4647A912-5093-6043-8161-0D98167F24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-336550"/>
            <a:ext cx="12192000" cy="6858000"/>
          </a:xfrm>
          <a:prstGeom prst="rect">
            <a:avLst/>
          </a:prstGeom>
        </p:spPr>
      </p:pic>
      <p:grpSp>
        <p:nvGrpSpPr>
          <p:cNvPr id="11" name="Bottom Bar">
            <a:extLst>
              <a:ext uri="{FF2B5EF4-FFF2-40B4-BE49-F238E27FC236}">
                <a16:creationId xmlns:a16="http://schemas.microsoft.com/office/drawing/2014/main" id="{DC935C4B-E372-E04B-8493-E90A79CBC7F4}"/>
              </a:ext>
            </a:extLst>
          </p:cNvPr>
          <p:cNvGrpSpPr/>
          <p:nvPr userDrawn="1"/>
        </p:nvGrpSpPr>
        <p:grpSpPr>
          <a:xfrm>
            <a:off x="0" y="6247747"/>
            <a:ext cx="12192000" cy="610252"/>
            <a:chOff x="0" y="6247747"/>
            <a:chExt cx="12192000" cy="6102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A574F32-F3B5-224E-B6D3-DC767B30A5BE}"/>
                </a:ext>
              </a:extLst>
            </p:cNvPr>
            <p:cNvSpPr/>
            <p:nvPr/>
          </p:nvSpPr>
          <p:spPr>
            <a:xfrm>
              <a:off x="0" y="6334125"/>
              <a:ext cx="12192000" cy="52387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8EE050A-3114-2641-96C8-48D281A062A0}"/>
                </a:ext>
              </a:extLst>
            </p:cNvPr>
            <p:cNvSpPr/>
            <p:nvPr/>
          </p:nvSpPr>
          <p:spPr>
            <a:xfrm>
              <a:off x="0" y="6247747"/>
              <a:ext cx="12192000" cy="8637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F59F24B-A93D-B046-B78A-2C31137D1AC5}"/>
              </a:ext>
            </a:extLst>
          </p:cNvPr>
          <p:cNvSpPr txBox="1"/>
          <p:nvPr userDrawn="1"/>
        </p:nvSpPr>
        <p:spPr>
          <a:xfrm>
            <a:off x="2872408" y="5178483"/>
            <a:ext cx="64471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Battelle Energy Alliance manages INL for the U.S. Department of Energy’s Office of Nuclear Energy.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INL is the nation’s center for nuclear energy research and development, and also performs research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 each of DOE’s strategic goal areas: energy, national security, science and the environment.</a:t>
            </a:r>
            <a:endParaRPr lang="en-US" sz="105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Web Address">
            <a:extLst>
              <a:ext uri="{FF2B5EF4-FFF2-40B4-BE49-F238E27FC236}">
                <a16:creationId xmlns:a16="http://schemas.microsoft.com/office/drawing/2014/main" id="{53FCC0DF-9440-B040-A076-DF507B404D83}"/>
              </a:ext>
            </a:extLst>
          </p:cNvPr>
          <p:cNvSpPr txBox="1"/>
          <p:nvPr userDrawn="1"/>
        </p:nvSpPr>
        <p:spPr>
          <a:xfrm>
            <a:off x="4100945" y="6417425"/>
            <a:ext cx="39901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pc="600" dirty="0">
                <a:solidFill>
                  <a:schemeClr val="bg1">
                    <a:alpha val="50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rPr>
              <a:t>WWW.INL.GOV</a:t>
            </a:r>
          </a:p>
        </p:txBody>
      </p:sp>
    </p:spTree>
    <p:extLst>
      <p:ext uri="{BB962C8B-B14F-4D97-AF65-F5344CB8AC3E}">
        <p14:creationId xmlns:p14="http://schemas.microsoft.com/office/powerpoint/2010/main" val="11825276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nl_wordmark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EB3FEC5-4760-DC48-B91E-CFC0C33F63A9}"/>
              </a:ext>
            </a:extLst>
          </p:cNvPr>
          <p:cNvSpPr/>
          <p:nvPr userDrawn="1"/>
        </p:nvSpPr>
        <p:spPr>
          <a:xfrm>
            <a:off x="8465769" y="6335712"/>
            <a:ext cx="3726231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EAE68D-24FC-6749-A309-042231DB68DA}"/>
              </a:ext>
            </a:extLst>
          </p:cNvPr>
          <p:cNvSpPr/>
          <p:nvPr userDrawn="1"/>
        </p:nvSpPr>
        <p:spPr>
          <a:xfrm>
            <a:off x="8465769" y="6237795"/>
            <a:ext cx="3726231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IDAHO NATIONAL LABORATORY">
            <a:extLst>
              <a:ext uri="{FF2B5EF4-FFF2-40B4-BE49-F238E27FC236}">
                <a16:creationId xmlns:a16="http://schemas.microsoft.com/office/drawing/2014/main" id="{C491F914-E346-2146-A51D-D37D67DBC113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82502A-5BF2-8845-923F-AAF24377F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8151" y="558602"/>
            <a:ext cx="10415648" cy="1008797"/>
          </a:xfrm>
          <a:prstGeom prst="rect">
            <a:avLst/>
          </a:prstGeom>
        </p:spPr>
        <p:txBody>
          <a:bodyPr vert="horz" lIns="0" tIns="0" rIns="91440" bIns="45720" rtlCol="0" anchor="t" anchorCtr="0">
            <a:noAutofit/>
          </a:bodyPr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7B4A4D-34FE-994A-AFE8-DCF682312F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8150" y="1739901"/>
            <a:ext cx="10415649" cy="4351338"/>
          </a:xfrm>
          <a:prstGeom prst="rect">
            <a:avLst/>
          </a:prstGeom>
        </p:spPr>
        <p:txBody>
          <a:bodyPr vert="horz" lIns="0" tIns="0" rIns="91440" bIns="45720" rtlCol="0">
            <a:noAutofit/>
          </a:bodyPr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00CF24-C629-E54C-BA9B-20518F01F0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1" y="6492875"/>
            <a:ext cx="1546302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l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27CD4A3B-E186-AB40-96C6-355AF9A6FE76}" type="datetimeFigureOut">
              <a:rPr lang="en-US" smtClean="0"/>
              <a:pPr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334D85-E219-4F49-88C8-4DC17F06DE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38150" y="6492875"/>
            <a:ext cx="5060066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7F2A8-2F01-4745-8AFB-4EEC8D271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020" y="6492875"/>
            <a:ext cx="434428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 b="1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82B577FA-F7D9-2C48-919F-F962E3BF952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5" name="blue/green box top">
            <a:extLst>
              <a:ext uri="{FF2B5EF4-FFF2-40B4-BE49-F238E27FC236}">
                <a16:creationId xmlns:a16="http://schemas.microsoft.com/office/drawing/2014/main" id="{2FE8E780-1DE8-B245-8215-3ECC2513C073}"/>
              </a:ext>
            </a:extLst>
          </p:cNvPr>
          <p:cNvGrpSpPr/>
          <p:nvPr userDrawn="1"/>
        </p:nvGrpSpPr>
        <p:grpSpPr>
          <a:xfrm>
            <a:off x="0" y="522288"/>
            <a:ext cx="744467" cy="547190"/>
            <a:chOff x="0" y="711956"/>
            <a:chExt cx="3721100" cy="620205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0A2A1D5-CB4B-1A40-8711-4F412AA9927B}"/>
                </a:ext>
              </a:extLst>
            </p:cNvPr>
            <p:cNvSpPr/>
            <p:nvPr userDrawn="1"/>
          </p:nvSpPr>
          <p:spPr>
            <a:xfrm rot="10800000">
              <a:off x="0" y="711956"/>
              <a:ext cx="3721100" cy="522288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2B5F476-DD08-5B45-A331-21193BD3472A}"/>
                </a:ext>
              </a:extLst>
            </p:cNvPr>
            <p:cNvSpPr/>
            <p:nvPr userDrawn="1"/>
          </p:nvSpPr>
          <p:spPr>
            <a:xfrm rot="10800000">
              <a:off x="0" y="1234244"/>
              <a:ext cx="3721100" cy="9791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5166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4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10" r:id="rId8"/>
    <p:sldLayoutId id="2147483711" r:id="rId9"/>
    <p:sldLayoutId id="2147483712" r:id="rId10"/>
    <p:sldLayoutId id="2147483713" r:id="rId11"/>
    <p:sldLayoutId id="2147483695" r:id="rId12"/>
    <p:sldLayoutId id="2147483696" r:id="rId13"/>
    <p:sldLayoutId id="2147483709" r:id="rId14"/>
    <p:sldLayoutId id="214748371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i="0" kern="120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420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Accelerated Explicit Dynamics Simulations of Impact Problems Using GPU-Enabled Material Models in MOOSE</a:t>
            </a:r>
          </a:p>
          <a:p>
            <a:r>
              <a:rPr sz="1800" b="0">
                <a:solidFill>
                  <a:srgbClr val="2CA8E1"/>
                </a:solidFill>
              </a:rPr>
              <a:t>A NEML2 nodal-force interface for high-rate solid mechanics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ext cx="3840480" cy="0"/>
          </a:xfrm>
        </p:spPr>
        <p:txBody>
          <a:bodyPr/>
          <a:lstStyle/>
          <a:p>
            <a:r>
              <a:t>WCCM 2026</a:t>
            </a:r>
          </a:p>
          <a:p>
            <a:r>
              <a:t>Author Name &amp; Co-authors</a:t>
            </a:r>
          </a:p>
          <a:p>
            <a:r>
              <a:t>Idaho National Laboratory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Advanced reactors bring dynamic-loading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2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63093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Transportable microreactors, pebble-bed cores, accident scenarios: components must be qualified under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impact and other high-rate loads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These events are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wave-dominated and fast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— stress waves traverse the part in microseconds, with severe, localized plasticity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Predictive fidelity requires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modern constitutive models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— rate- and temperature-dependent plasticity, evolving internal state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Simulating them means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explicit time integration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with a material-model evaluation at every quadrature point, every step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1408176"/>
            <a:ext cx="3779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TIMESCALES OF AN IMPACT EVENT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865376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08976" y="1865376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event duration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41687" y="1865376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~100 µs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660904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08976" y="2660904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wave transit through part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41687" y="2660904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~1–10 µs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3456432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08976" y="3456432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stable explicit step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41687" y="3456432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CF1D4C"/>
                </a:solidFill>
                <a:latin typeface="Arial"/>
                <a:cs typeface="Arial"/>
              </a:rPr>
              <a:t>~10 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4251960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08976" y="4251960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⇒  steps to simulate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41687" y="4251960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Many steps × expensive material updates: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high-rate simulation is compute-hungry in a very particular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Two mature ecosystems — and a gap between them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3 / 20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6509D"/>
                </a:solidFill>
                <a:latin typeface="Arial"/>
                <a:cs typeface="Arial"/>
              </a:rPr>
              <a:t>MULTIPHYSICS FE FRAMEWORKS (MOOSE)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Boundary conditions, contact, parallel domain decomposition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Coupled-physics machinery, in-situ output, meshing, restart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materials evaluated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point-by-point on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inside the element loop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1647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5967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5E8614"/>
                </a:solidFill>
                <a:latin typeface="Arial"/>
                <a:cs typeface="Arial"/>
              </a:rPr>
              <a:t>MODERN MATERIAL LIBRARIES (NEML2)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74255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Composable constitutive models with automatic differentiation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Batched tensor evaluation on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GPU or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(libTorch backend)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no mesh, no boundary conditions, no solver —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not a simulation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10047" y="2029968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CF1D4C"/>
                </a:solidFill>
                <a:latin typeface="Arial"/>
                <a:cs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28335" y="2596896"/>
            <a:ext cx="13350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CF1D4C"/>
                </a:solidFill>
                <a:latin typeface="Arial"/>
                <a:cs typeface="Arial"/>
              </a:rPr>
              <a:t>per-point calls,</a:t>
            </a:r>
          </a:p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CF1D4C"/>
                </a:solidFill>
                <a:latin typeface="Arial"/>
                <a:cs typeface="Arial"/>
              </a:rPr>
              <a:t>per-step copies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453128"/>
            <a:ext cx="11057839" cy="9144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453128"/>
            <a:ext cx="1050919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6509D"/>
                </a:solidFill>
                <a:latin typeface="Arial"/>
                <a:cs typeface="Arial"/>
              </a:rPr>
              <a:t>This talk: </a:t>
            </a:r>
            <a:r>
              <a:rPr sz="1600" b="0" i="0">
                <a:solidFill>
                  <a:srgbClr val="1E2430"/>
                </a:solidFill>
                <a:latin typeface="Arial"/>
                <a:cs typeface="Arial"/>
              </a:rPr>
              <a:t>an interface that lets NEML2 assemble the nodal internal forces itself — batched, device-resident — while MOOSE keeps doing everything else it is good 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Governing equations of explicit solid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4 / 20</a:t>
            </a:r>
          </a:p>
        </p:txBody>
      </p:sp>
      <p:pic>
        <p:nvPicPr>
          <p:cNvPr id="4" name="Picture 3" descr="momentum_strong_form_t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389888"/>
            <a:ext cx="2962198" cy="2779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90688" y="1353312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balance of linear momentum on the reference domain</a:t>
            </a:r>
          </a:p>
        </p:txBody>
      </p:sp>
      <p:pic>
        <p:nvPicPr>
          <p:cNvPr id="6" name="Picture 5" descr="weak_form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377440"/>
            <a:ext cx="7175296" cy="3851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90688" y="2340864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total-Lagrangian weak form — every integral on the reference configuration</a:t>
            </a:r>
          </a:p>
        </p:txBody>
      </p:sp>
      <p:pic>
        <p:nvPicPr>
          <p:cNvPr id="8" name="Picture 7" descr="semi_discrete_momentum_t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364992"/>
            <a:ext cx="2478633" cy="33009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90688" y="3328416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discretize in space: semi-discrete momentum equation</a:t>
            </a:r>
          </a:p>
        </p:txBody>
      </p:sp>
      <p:pic>
        <p:nvPicPr>
          <p:cNvPr id="10" name="Picture 9" descr="internal_force_assembly_t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4352544"/>
            <a:ext cx="6517995" cy="39090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90688" y="4315968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internal force from the first Piola–Kirchhoff stress at each quadrature point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Reference-domain integrals: 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shape functions, weights, and dof maps never change during the run — and the material physics lives in one place, the stress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P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at each quadrature point. That is where NEML2 plugs 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material model I: finite-strain kinematics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5 / 20</a:t>
            </a:r>
          </a:p>
        </p:txBody>
      </p:sp>
      <p:pic>
        <p:nvPicPr>
          <p:cNvPr id="4" name="Picture 3" descr="mult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280160"/>
            <a:ext cx="1128141" cy="2213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70648" y="1261872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multiplicative split: Fᵖ carries the crush, elastic strain stays small</a:t>
            </a:r>
          </a:p>
        </p:txBody>
      </p:sp>
      <p:pic>
        <p:nvPicPr>
          <p:cNvPr id="6" name="Picture 5" descr="trial_state_k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084832"/>
            <a:ext cx="3896487" cy="3333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70648" y="2066544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trial state: plastic flow frozen at the old Fᵖ</a:t>
            </a:r>
          </a:p>
        </p:txBody>
      </p:sp>
      <p:pic>
        <p:nvPicPr>
          <p:cNvPr id="8" name="Picture 7" descr="radial_return_k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889504"/>
            <a:ext cx="4712589" cy="3333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70648" y="2871216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radial return on the trial elastic strain — one scalar unknown</a:t>
            </a:r>
          </a:p>
        </p:txBody>
      </p:sp>
      <p:pic>
        <p:nvPicPr>
          <p:cNvPr id="10" name="Picture 9" descr="fp_upd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694176"/>
            <a:ext cx="2330958" cy="33337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70648" y="3675888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linearized exponential-map plastic update</a:t>
            </a:r>
          </a:p>
        </p:txBody>
      </p:sp>
      <p:pic>
        <p:nvPicPr>
          <p:cNvPr id="12" name="Picture 11" descr="pk1_pullba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4498848"/>
            <a:ext cx="2192274" cy="33337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70648" y="4480560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pull-back to the reference configuration — the PK1 the weak form needs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Each quantity lives on the right domain: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S on the relaxed intermediate configuration, P on the reference — matching the Ω</a:t>
            </a:r>
            <a:r>
              <a:rPr sz="1500" b="0" i="0" baseline="-25000">
                <a:solidFill>
                  <a:srgbClr val="3A3F47"/>
                </a:solidFill>
                <a:latin typeface="Arial"/>
                <a:cs typeface="Arial"/>
              </a:rPr>
              <a:t>0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integrals of the weak form. Elastic strain stays ~10⁻³, so the St. Venant–Kirchhoff law is safe under severe compression.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material model II: Johnson–Cook flow and adiabatic heating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6 / 20</a:t>
            </a:r>
          </a:p>
        </p:txBody>
      </p:sp>
      <p:pic>
        <p:nvPicPr>
          <p:cNvPr id="4" name="Picture 3" descr="jc_flow_st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371600"/>
            <a:ext cx="5760034" cy="3862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" y="1938528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flow stress: strain hardening × thermal softening; prior cold work ε₀ᵖ sets the temper</a:t>
            </a:r>
          </a:p>
        </p:txBody>
      </p:sp>
      <p:pic>
        <p:nvPicPr>
          <p:cNvPr id="6" name="Picture 5" descr="jc_rate_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578608"/>
            <a:ext cx="4144518" cy="4905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" y="314553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rate form (inverted Johnson–Cook): smooth viscoplastic overstress law</a:t>
            </a:r>
          </a:p>
        </p:txBody>
      </p:sp>
      <p:pic>
        <p:nvPicPr>
          <p:cNvPr id="8" name="Picture 7" descr="adiabatic_heat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785616"/>
            <a:ext cx="1914372" cy="3355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4944" y="435254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adiabatic Taylor–Quinney heating, integrated inside the model (β = 0.9)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93608" y="1207008"/>
            <a:ext cx="3331159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13064" y="1353312"/>
            <a:ext cx="28922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OFHC COPPER (CuH04 SHOT)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31352" y="168249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E, 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19488" y="168249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117 GPa, 0.34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31352" y="204825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ρ, cₚ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19488" y="204825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8960 kg/m³, 385 J/kg·K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31352" y="241401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β,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9488" y="241401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0.9, 0.98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1352" y="277977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19488" y="277977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129 MPa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31352" y="314553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19488" y="314553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308 MPa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31352" y="351129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19488" y="351129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0.47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31352" y="387705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19488" y="387705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0.022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31352" y="424281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ε₀ᵖ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19488" y="424281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0.14  (H04 temper)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13064" y="2834640"/>
            <a:ext cx="2892247" cy="0"/>
          </a:xfrm>
          <a:prstGeom prst="line">
            <a:avLst/>
          </a:prstGeom>
          <a:ln w="9525">
            <a:solidFill>
              <a:srgbClr val="DADDE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531352" y="4645152"/>
            <a:ext cx="28739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E8614"/>
                </a:solidFill>
                <a:latin typeface="Arial"/>
                <a:cs typeface="Arial"/>
              </a:rPr>
              <a:t>green = Bayesian-calibrated against the recovered specimen (later in this talk)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Rate-, hardening-, and temperature-coupled with three internal states (εᵖ, Fᵖ, T)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— exactly the model class that makes conventional per-point CPU updates expensive.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Explicit time integration: ExplicitMixedOrder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7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67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Central difference, as implemented in our </a:t>
            </a:r>
            <a:r>
              <a:rPr sz="1350" b="1" i="0">
                <a:solidFill>
                  <a:srgbClr val="3A3F47"/>
                </a:solidFill>
                <a:latin typeface="Consolas"/>
                <a:cs typeface="Consolas"/>
              </a:rPr>
              <a:t>ExplicitMixedOrder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MOOSE integrator</a:t>
            </a:r>
          </a:p>
        </p:txBody>
      </p:sp>
      <p:pic>
        <p:nvPicPr>
          <p:cNvPr id="5" name="Picture 4" descr="accel_lumped_m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82496"/>
            <a:ext cx="2372868" cy="3429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10328" y="1755648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pointwise divide — no solver</a:t>
            </a:r>
          </a:p>
        </p:txBody>
      </p:sp>
      <p:pic>
        <p:nvPicPr>
          <p:cNvPr id="7" name="Picture 6" descr="velocity_midpoint_upd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615184"/>
            <a:ext cx="2984601" cy="4059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10328" y="268833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variable-Δt midpoint velocity update</a:t>
            </a:r>
          </a:p>
        </p:txBody>
      </p:sp>
      <p:pic>
        <p:nvPicPr>
          <p:cNvPr id="9" name="Picture 8" descr="displacement_upd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547872"/>
            <a:ext cx="2438704" cy="35112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10328" y="3621024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displacement update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590288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No Newton iterations, no global linear solve, no Jacobian — </a:t>
            </a:r>
            <a:r>
              <a:rPr sz="1400" b="1" i="0">
                <a:solidFill>
                  <a:srgbClr val="1E2430"/>
                </a:solidFill>
                <a:latin typeface="Arial"/>
                <a:cs typeface="Arial"/>
              </a:rPr>
              <a:t>each step is one residual evaluation plus vector updates.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6096" y="1207008"/>
            <a:ext cx="3998671" cy="3310128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389888"/>
            <a:ext cx="35231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6509D"/>
                </a:solidFill>
                <a:latin typeface="Arial"/>
                <a:cs typeface="Arial"/>
              </a:rPr>
              <a:t>WHY “MIXED ORDER”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8" y="1773936"/>
            <a:ext cx="3486607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Second-order fields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(displacement): central difference, as at left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First-order fields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(e.g. temperature): forward Euler on the rate — same update loop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63840" y="3145536"/>
            <a:ext cx="3523183" cy="0"/>
          </a:xfrm>
          <a:prstGeom prst="line">
            <a:avLst/>
          </a:prstGeom>
          <a:ln w="63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882128" y="3328416"/>
            <a:ext cx="348660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One integrator advances a </a:t>
            </a:r>
            <a:r>
              <a:rPr sz="1300" b="1" i="0">
                <a:solidFill>
                  <a:srgbClr val="1E2430"/>
                </a:solidFill>
                <a:latin typeface="Arial"/>
                <a:cs typeface="Arial"/>
              </a:rPr>
              <a:t>coupled thermo-mechanical system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explicitly — the multiphysics lever used later in this talk.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Developed for this work and upstreamed: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part of MOOSE solid mechanics today, available to every MOOSE application.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Stability sets the step; the material sets the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8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Conditional stability (CFL): the step must resolve the fastest stress wave</a:t>
            </a:r>
          </a:p>
        </p:txBody>
      </p:sp>
      <p:pic>
        <p:nvPicPr>
          <p:cNvPr id="5" name="Picture 4" descr="cfl_critical_time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18488"/>
            <a:ext cx="4116324" cy="5582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" y="2322576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element length over elastic wave speed (dilatational speed in 3-D)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898648"/>
            <a:ext cx="63093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Millimeter elements: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Δt ≈ 10 ns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 ⇒ 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5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steps for a 100 µs event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Each step: no solve — the runtime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residual, and the residual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constitutive update at every quadrature point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Advanced models (rate/temperature-dependent plasticity, internal state) make each of those updates expensive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71232" y="1389888"/>
            <a:ext cx="38157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ANATOMY OF ONE EXPLICIT STEP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7808" y="1773936"/>
            <a:ext cx="457200" cy="1600200"/>
          </a:xfrm>
          <a:prstGeom prst="rect">
            <a:avLst/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47888" y="2427732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constitutive update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   dominant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07808" y="3483864"/>
            <a:ext cx="457200" cy="594360"/>
          </a:xfrm>
          <a:prstGeom prst="rect">
            <a:avLst/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3634740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force assembly + scatter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7607808" y="4187952"/>
            <a:ext cx="457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4247388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time advance, BCs, output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8" y="4818888"/>
            <a:ext cx="37426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schematic; plasticity dominates the step cost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Explicit runtime  ≈  steps × material-update cost.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step count is physics; the material cost is the target.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MOOSE: the multiphysics host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9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Open-source multiphysics FE framework (Idaho National Laboratory) —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we keep all of this for free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Boundary conditions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full BC library, incl. the penalty and pressure BCs used in this work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4794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4794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3394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Contact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3394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mortar and node-face algorithms — architecture-compatible with this interface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2660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2660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1260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Parallel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1260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MPI domain decomposition, scalable assembly and solves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Coupled physics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heat conduction, neutronics, porous flow, ... in one input file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4794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74794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03394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Meshing &amp; output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3394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mesh generators, adaptivity, in-situ Exodus/CSV output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2660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82660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1260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Ecosystem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1260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NQA-1 quality assurance; large application family (BISON, Grizzly, ...)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Everything in a high-rate simulation that is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not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material update already exists here — parallel and production-tested.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NEML2: the material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10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New Engineering Material model Library v2 (ANL, open source) — constitutive models as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composable tensor programs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6126480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901952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9595C"/>
                </a:solidFill>
                <a:latin typeface="Arial"/>
                <a:cs typeface="Arial"/>
              </a:rPr>
              <a:t>A MODEL = SMALL OPERATORS, COMPOSED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elasticity</a:t>
            </a:r>
          </a:p>
        </p:txBody>
      </p:sp>
      <p:sp>
        <p:nvSpPr>
          <p:cNvPr id="8" name="Freeform 7"/>
          <p:cNvSpPr/>
          <p:nvPr/>
        </p:nvSpPr>
        <p:spPr>
          <a:xfrm>
            <a:off x="1783080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993392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flow rule</a:t>
            </a:r>
          </a:p>
        </p:txBody>
      </p:sp>
      <p:sp>
        <p:nvSpPr>
          <p:cNvPr id="10" name="Freeform 9"/>
          <p:cNvSpPr/>
          <p:nvPr/>
        </p:nvSpPr>
        <p:spPr>
          <a:xfrm>
            <a:off x="2953512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63824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hardening</a:t>
            </a:r>
          </a:p>
        </p:txBody>
      </p:sp>
      <p:sp>
        <p:nvSpPr>
          <p:cNvPr id="12" name="Freeform 11"/>
          <p:cNvSpPr/>
          <p:nvPr/>
        </p:nvSpPr>
        <p:spPr>
          <a:xfrm>
            <a:off x="4123944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34256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rate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sensitivity</a:t>
            </a:r>
          </a:p>
        </p:txBody>
      </p:sp>
      <p:sp>
        <p:nvSpPr>
          <p:cNvPr id="14" name="Freeform 13"/>
          <p:cNvSpPr/>
          <p:nvPr/>
        </p:nvSpPr>
        <p:spPr>
          <a:xfrm>
            <a:off x="5294376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504688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update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0040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declared in an input file; exact derivatives by automatic differentiation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22776"/>
            <a:ext cx="61264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Batched: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all quadrature points evaluated in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one batched call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Device-portable: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libTorch (PyTorch C++) backend runs the same model on CPU or GPU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NEML2 library benchmark: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42,500 s (NEML, CPU) → 68 s on one GPU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50608" y="1773936"/>
            <a:ext cx="4474159" cy="310896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88352" y="1929384"/>
            <a:ext cx="39986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ONE CALL, ALL POINTS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706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364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021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6792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368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994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652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0309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706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364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021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6792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3368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994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652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0309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706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364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021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6792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93368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2994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6652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0309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70648" y="3575304"/>
            <a:ext cx="3834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E2430"/>
                </a:solidFill>
                <a:latin typeface="Consolas"/>
                <a:cs typeface="Consolas"/>
              </a:rPr>
              <a:t>σ = model(ε, state)</a:t>
            </a:r>
            <a:r>
              <a:rPr sz="1100" b="0" i="0">
                <a:solidFill>
                  <a:srgbClr val="59595C"/>
                </a:solidFill>
                <a:latin typeface="Arial"/>
                <a:cs typeface="Arial"/>
              </a:rPr>
              <a:t>   over the whole batch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70648" y="4032504"/>
            <a:ext cx="383407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GPUs want exactly this shape of work: wide, uniform, no per-point branching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NEML2 evaluates sophisticated material models the way accelerators want them evaluated.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What it lacks — mesh, BCs, assembly — is exactly what MOOSE has.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What we built: two pillars, one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11 / 20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5875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ExplicitMixedOrder integrator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Explicit central-difference integrator with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mixed-order multiphysics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(2nd-order mechanics + 1st-order fields)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Lumped mass via matrix tag —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zero linear iterations per step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Variable step size (Abaqus-style midpoint velocity averaging)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Upstreamed to MOOSE </a:t>
            </a:r>
            <a:r>
              <a:rPr sz="1250" b="0" i="0">
                <a:solidFill>
                  <a:srgbClr val="3A3F47"/>
                </a:solidFill>
                <a:latin typeface="Consolas"/>
                <a:cs typeface="Consolas"/>
              </a:rPr>
              <a:t>solid_mechanics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0479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93127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NEML2 nodal-force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NEML2 computes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internal nodal forces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itself — not just stress — for the whole mesh in batched tensor ops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Constitutive state lives on the device and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advances in place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between steps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Plugs into the explicit solve as a residual contribution — MOOSE BCs, outputs, MPI unchanged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13308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13308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9595C"/>
                </a:solidFill>
                <a:latin typeface="Arial"/>
                <a:cs typeface="Arial"/>
              </a:rPr>
              <a:t>Foundation, unchanged:  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MOOSE boundary conditions  ·  parallel domain decomposition  ·  meshing &amp; output  ·  contact (architecture-compatible)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All of it is open source in the MOOSE framework and solid-mechanics module;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NEML2 force path is verified against conventional MOOSE on CPU and CUDA.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One explicit step through the NEML2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12 / 20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68296" y="1371600"/>
            <a:ext cx="7455103" cy="2907792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51176" y="1463040"/>
            <a:ext cx="708934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DEVICE (libTorch)  —  same code on CPU / CUDA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MOOSE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vector</a:t>
            </a:r>
          </a:p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(PETSc)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upload / step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07447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residual →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ExplicitMixed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advance u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download /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42616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NEML2FE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Interpolation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gather u, ∇u at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quad points</a:t>
            </a:r>
          </a:p>
        </p:txBody>
      </p:sp>
      <p:sp>
        <p:nvSpPr>
          <p:cNvPr id="9" name="Freeform 8"/>
          <p:cNvSpPr/>
          <p:nvPr/>
        </p:nvSpPr>
        <p:spPr>
          <a:xfrm>
            <a:off x="4099483" y="2453481"/>
            <a:ext cx="347472" cy="122237"/>
          </a:xfrm>
          <a:custGeom>
            <a:avLst/>
            <a:gdLst/>
            <a:ahLst/>
            <a:cxnLst/>
            <a:rect l="l" t="t" r="r" b="b"/>
            <a:pathLst>
              <a:path w="347472" h="122237">
                <a:moveTo>
                  <a:pt x="0" y="72231"/>
                </a:moveTo>
                <a:lnTo>
                  <a:pt x="236347" y="72231"/>
                </a:lnTo>
                <a:lnTo>
                  <a:pt x="236347" y="122237"/>
                </a:lnTo>
                <a:lnTo>
                  <a:pt x="347472" y="61119"/>
                </a:lnTo>
                <a:lnTo>
                  <a:pt x="236347" y="0"/>
                </a:lnTo>
                <a:lnTo>
                  <a:pt x="23634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65243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SmallStrain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ε = sym ∇u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whole batch</a:t>
            </a:r>
          </a:p>
        </p:txBody>
      </p:sp>
      <p:sp>
        <p:nvSpPr>
          <p:cNvPr id="11" name="Freeform 10"/>
          <p:cNvSpPr/>
          <p:nvPr/>
        </p:nvSpPr>
        <p:spPr>
          <a:xfrm>
            <a:off x="5922111" y="2453481"/>
            <a:ext cx="347472" cy="122237"/>
          </a:xfrm>
          <a:custGeom>
            <a:avLst/>
            <a:gdLst/>
            <a:ahLst/>
            <a:cxnLst/>
            <a:rect l="l" t="t" r="r" b="b"/>
            <a:pathLst>
              <a:path w="347472" h="122237">
                <a:moveTo>
                  <a:pt x="0" y="72231"/>
                </a:moveTo>
                <a:lnTo>
                  <a:pt x="236347" y="72231"/>
                </a:lnTo>
                <a:lnTo>
                  <a:pt x="236347" y="122237"/>
                </a:lnTo>
                <a:lnTo>
                  <a:pt x="347472" y="61119"/>
                </a:lnTo>
                <a:lnTo>
                  <a:pt x="236347" y="0"/>
                </a:lnTo>
                <a:lnTo>
                  <a:pt x="23634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87871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NEML2Model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Executor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σ = model(ε, state)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one batched call</a:t>
            </a:r>
          </a:p>
        </p:txBody>
      </p:sp>
      <p:sp>
        <p:nvSpPr>
          <p:cNvPr id="13" name="Freeform 12"/>
          <p:cNvSpPr/>
          <p:nvPr/>
        </p:nvSpPr>
        <p:spPr>
          <a:xfrm>
            <a:off x="7744739" y="2453481"/>
            <a:ext cx="347472" cy="122237"/>
          </a:xfrm>
          <a:custGeom>
            <a:avLst/>
            <a:gdLst/>
            <a:ahLst/>
            <a:cxnLst/>
            <a:rect l="l" t="t" r="r" b="b"/>
            <a:pathLst>
              <a:path w="347472" h="122237">
                <a:moveTo>
                  <a:pt x="0" y="72231"/>
                </a:moveTo>
                <a:lnTo>
                  <a:pt x="236347" y="72231"/>
                </a:lnTo>
                <a:lnTo>
                  <a:pt x="236347" y="122237"/>
                </a:lnTo>
                <a:lnTo>
                  <a:pt x="347472" y="61119"/>
                </a:lnTo>
                <a:lnTo>
                  <a:pt x="236347" y="0"/>
                </a:lnTo>
                <a:lnTo>
                  <a:pt x="23634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10499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NEML2Stress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Divergence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Rᵉ = Σ ∇φ·σ JxW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elements at once</a:t>
            </a:r>
          </a:p>
        </p:txBody>
      </p:sp>
      <p:sp>
        <p:nvSpPr>
          <p:cNvPr id="15" name="Freeform 14"/>
          <p:cNvSpPr/>
          <p:nvPr/>
        </p:nvSpPr>
        <p:spPr>
          <a:xfrm>
            <a:off x="2002536" y="2453481"/>
            <a:ext cx="621792" cy="122237"/>
          </a:xfrm>
          <a:custGeom>
            <a:avLst/>
            <a:gdLst/>
            <a:ahLst/>
            <a:cxnLst/>
            <a:rect l="l" t="t" r="r" b="b"/>
            <a:pathLst>
              <a:path w="621792" h="122237">
                <a:moveTo>
                  <a:pt x="0" y="72231"/>
                </a:moveTo>
                <a:lnTo>
                  <a:pt x="510667" y="72231"/>
                </a:lnTo>
                <a:lnTo>
                  <a:pt x="510667" y="122237"/>
                </a:lnTo>
                <a:lnTo>
                  <a:pt x="621792" y="61119"/>
                </a:lnTo>
                <a:lnTo>
                  <a:pt x="510667" y="0"/>
                </a:lnTo>
                <a:lnTo>
                  <a:pt x="51066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9567367" y="2453481"/>
            <a:ext cx="621792" cy="122237"/>
          </a:xfrm>
          <a:custGeom>
            <a:avLst/>
            <a:gdLst/>
            <a:ahLst/>
            <a:cxnLst/>
            <a:rect l="l" t="t" r="r" b="b"/>
            <a:pathLst>
              <a:path w="621792" h="122237">
                <a:moveTo>
                  <a:pt x="0" y="72231"/>
                </a:moveTo>
                <a:lnTo>
                  <a:pt x="510667" y="72231"/>
                </a:lnTo>
                <a:lnTo>
                  <a:pt x="510667" y="122237"/>
                </a:lnTo>
                <a:lnTo>
                  <a:pt x="621792" y="61119"/>
                </a:lnTo>
                <a:lnTo>
                  <a:pt x="510667" y="0"/>
                </a:lnTo>
                <a:lnTo>
                  <a:pt x="51066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916107.0" y="3255264"/>
            <a:ext cx="0.0" cy="1335024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275588.0" y="4590288"/>
            <a:ext cx="9640519.0" cy="0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/>
          <p:cNvSpPr/>
          <p:nvPr/>
        </p:nvSpPr>
        <p:spPr>
          <a:xfrm>
            <a:off x="1223200" y="3273552"/>
            <a:ext cx="104775" cy="1316736"/>
          </a:xfrm>
          <a:custGeom>
            <a:avLst/>
            <a:gdLst/>
            <a:ahLst/>
            <a:cxnLst/>
            <a:rect l="l" t="t" r="r" b="b"/>
            <a:pathLst>
              <a:path w="104775" h="1316736">
                <a:moveTo>
                  <a:pt x="61913" y="1316736"/>
                </a:moveTo>
                <a:lnTo>
                  <a:pt x="61913" y="95250"/>
                </a:lnTo>
                <a:lnTo>
                  <a:pt x="104775" y="95250"/>
                </a:lnTo>
                <a:lnTo>
                  <a:pt x="52388" y="0"/>
                </a:lnTo>
                <a:lnTo>
                  <a:pt x="0" y="95250"/>
                </a:lnTo>
                <a:lnTo>
                  <a:pt x="42863" y="95250"/>
                </a:lnTo>
                <a:lnTo>
                  <a:pt x="42863" y="1316736"/>
                </a:lnTo>
                <a:close/>
              </a:path>
            </a:pathLst>
          </a:cu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32807" y="466344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06509D"/>
                </a:solidFill>
                <a:latin typeface="Arial"/>
                <a:cs typeface="Arial"/>
              </a:rPr>
              <a:t>next explicit step (Δt ≈ 10 ns)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42616" y="3529584"/>
            <a:ext cx="6906463" cy="5852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25496" y="3529584"/>
            <a:ext cx="6540703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built once, cached on device:  </a:t>
            </a:r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shape functions φ, ∇φ,  DOF maps,  weights JxW — rebuilt only on mesh change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interior force computation never touches an element loop: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 short sequence of batched tensor ops.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Constitutive state never leaves the device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13 / 20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52728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36245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F1D4C"/>
                </a:solidFill>
                <a:latin typeface="Arial"/>
                <a:cs typeface="Arial"/>
              </a:rPr>
              <a:t>CONVENTIONAL COUPLING — state round-trips through MOOSE every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77393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4688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92808" y="2276856"/>
            <a:ext cx="6766560" cy="0"/>
          </a:xfrm>
          <a:prstGeom prst="line">
            <a:avLst/>
          </a:prstGeom>
          <a:ln w="9525">
            <a:solidFill>
              <a:srgbClr val="CF1D4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121408" y="1655064"/>
            <a:ext cx="26517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 in MOOSE material properties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7648" y="1655064"/>
            <a:ext cx="237744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age state:  old ← current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50208" y="2350008"/>
            <a:ext cx="31089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batched stress + state update</a:t>
            </a:r>
          </a:p>
        </p:txBody>
      </p:sp>
      <p:sp>
        <p:nvSpPr>
          <p:cNvPr id="12" name="Freeform 11"/>
          <p:cNvSpPr/>
          <p:nvPr/>
        </p:nvSpPr>
        <p:spPr>
          <a:xfrm>
            <a:off x="3445342" y="2121227"/>
            <a:ext cx="1053506" cy="260604"/>
          </a:xfrm>
          <a:custGeom>
            <a:avLst/>
            <a:gdLst/>
            <a:ahLst/>
            <a:cxnLst/>
            <a:rect l="l" t="t" r="r" b="b"/>
            <a:pathLst>
              <a:path w="1053506" h="260604">
                <a:moveTo>
                  <a:pt x="0" y="18649"/>
                </a:moveTo>
                <a:lnTo>
                  <a:pt x="958318" y="218646"/>
                </a:lnTo>
                <a:lnTo>
                  <a:pt x="949562" y="260604"/>
                </a:lnTo>
                <a:lnTo>
                  <a:pt x="1053506" y="228781"/>
                </a:lnTo>
                <a:lnTo>
                  <a:pt x="970967" y="158039"/>
                </a:lnTo>
                <a:lnTo>
                  <a:pt x="962210" y="199997"/>
                </a:lnTo>
                <a:lnTo>
                  <a:pt x="3891" y="0"/>
                </a:lnTo>
                <a:close/>
              </a:path>
            </a:pathLst>
          </a:cu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6780726" y="2124541"/>
            <a:ext cx="461322" cy="234054"/>
          </a:xfrm>
          <a:custGeom>
            <a:avLst/>
            <a:gdLst/>
            <a:ahLst/>
            <a:cxnLst/>
            <a:rect l="l" t="t" r="r" b="b"/>
            <a:pathLst>
              <a:path w="461322" h="234054">
                <a:moveTo>
                  <a:pt x="8244" y="234054"/>
                </a:moveTo>
                <a:lnTo>
                  <a:pt x="379573" y="55815"/>
                </a:lnTo>
                <a:lnTo>
                  <a:pt x="398121" y="94457"/>
                </a:lnTo>
                <a:lnTo>
                  <a:pt x="461322" y="6011"/>
                </a:lnTo>
                <a:lnTo>
                  <a:pt x="352782" y="0"/>
                </a:lnTo>
                <a:lnTo>
                  <a:pt x="371330" y="38641"/>
                </a:lnTo>
                <a:lnTo>
                  <a:pt x="0" y="216879"/>
                </a:lnTo>
                <a:close/>
              </a:path>
            </a:pathLst>
          </a:cu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42248" y="1819656"/>
            <a:ext cx="2560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state copied down and back up every step — scales with model complexity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319272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4290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5E8614"/>
                </a:solidFill>
                <a:latin typeface="Arial"/>
                <a:cs typeface="Arial"/>
              </a:rPr>
              <a:t>THIS WORK — state advances in place on the device  (manage_state_advance)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8404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4535424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92808" y="4343400"/>
            <a:ext cx="6766560" cy="0"/>
          </a:xfrm>
          <a:prstGeom prst="line">
            <a:avLst/>
          </a:prstGeom>
          <a:ln w="9525">
            <a:solidFill>
              <a:srgbClr val="5E861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12140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nodal forces 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75888" y="4416552"/>
            <a:ext cx="365760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 i="0">
                <a:solidFill>
                  <a:srgbClr val="1E2430"/>
                </a:solidFill>
                <a:latin typeface="Arial"/>
                <a:cs typeface="Arial"/>
              </a:rPr>
              <a:t>state (Eᵖ, εᵖ, T, ...) advances in place</a:t>
            </a:r>
          </a:p>
        </p:txBody>
      </p:sp>
      <p:sp>
        <p:nvSpPr>
          <p:cNvPr id="23" name="Freeform 22"/>
          <p:cNvSpPr/>
          <p:nvPr/>
        </p:nvSpPr>
        <p:spPr>
          <a:xfrm>
            <a:off x="3170846" y="4187810"/>
            <a:ext cx="962242" cy="258588"/>
          </a:xfrm>
          <a:custGeom>
            <a:avLst/>
            <a:gdLst/>
            <a:ahLst/>
            <a:cxnLst/>
            <a:rect l="l" t="t" r="r" b="b"/>
            <a:pathLst>
              <a:path w="962242" h="258588">
                <a:moveTo>
                  <a:pt x="0" y="18572"/>
                </a:moveTo>
                <a:lnTo>
                  <a:pt x="867264" y="216803"/>
                </a:lnTo>
                <a:lnTo>
                  <a:pt x="857713" y="258588"/>
                </a:lnTo>
                <a:lnTo>
                  <a:pt x="962242" y="228742"/>
                </a:lnTo>
                <a:lnTo>
                  <a:pt x="881059" y="156447"/>
                </a:lnTo>
                <a:lnTo>
                  <a:pt x="871509" y="198232"/>
                </a:lnTo>
                <a:lnTo>
                  <a:pt x="4244" y="0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6872478" y="4187175"/>
            <a:ext cx="506730" cy="238107"/>
          </a:xfrm>
          <a:custGeom>
            <a:avLst/>
            <a:gdLst/>
            <a:ahLst/>
            <a:cxnLst/>
            <a:rect l="l" t="t" r="r" b="b"/>
            <a:pathLst>
              <a:path w="506730" h="238107">
                <a:moveTo>
                  <a:pt x="7619" y="238107"/>
                </a:moveTo>
                <a:lnTo>
                  <a:pt x="423239" y="56745"/>
                </a:lnTo>
                <a:lnTo>
                  <a:pt x="440381" y="96030"/>
                </a:lnTo>
                <a:lnTo>
                  <a:pt x="506730" y="9921"/>
                </a:lnTo>
                <a:lnTo>
                  <a:pt x="398477" y="0"/>
                </a:lnTo>
                <a:lnTo>
                  <a:pt x="415620" y="39285"/>
                </a:lnTo>
                <a:lnTo>
                  <a:pt x="0" y="22064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42248" y="3886200"/>
            <a:ext cx="2560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E8614"/>
                </a:solidFill>
                <a:latin typeface="Arial"/>
                <a:cs typeface="Arial"/>
              </a:rPr>
              <a:t>per step: one solution upload, one force download — independent of model complexity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richer the model, the more this matters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— state stays where it is computed; traffic does not grow with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method, in one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14 / 20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8096" y="1490472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08176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 runtime ≈ steps × material-update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1755648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CFL fixes the step count; the constitutive update is the only lever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31136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423160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8" y="2340864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ExplicitMixedOrder advances mechanics + first-order fields, no solver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2688336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lumped mass, zero linear iterations; upstreamed to MOOSE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63824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8096" y="3355848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8" y="3273552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NEML2 assembles the internal nodal forces on the device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8" y="3621024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batched over all elements; state advances in place; one upload + one download per step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96512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" y="4288536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8" y="4206240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MOOSE keeps BCs, parallelism, outputs — unchanged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" y="4553712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and the path is verified to match conventional MOOSE assembly (CPU and CUDA test suite)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3892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513892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Up next:  </a:t>
            </a:r>
            <a:r>
              <a:rPr sz="1500" b="0" i="0">
                <a:solidFill>
                  <a:srgbClr val="1E2430"/>
                </a:solidFill>
                <a:latin typeface="Arial"/>
                <a:cs typeface="Arial"/>
              </a:rPr>
              <a:t>verification across formulations  ·  reduced integration  ·  Taylor impact &amp; thermo-mechanics  ·  calibration against a scanned specimen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Reduced integration: one point per element, stabilized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15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44168"/>
            <a:ext cx="667512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5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Full integration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locks volumetrically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under large plastic flow — the batched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F-bar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correction fixes it (verified to machine precision)</a:t>
            </a:r>
          </a:p>
          <a:p>
            <a:pPr marL="219456" indent="-219456">
              <a:lnSpc>
                <a:spcPct val="106000"/>
              </a:lnSpc>
              <a:spcAft>
                <a:spcPts val="15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The production choice instead: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one-point quadrature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— locking-free by construction and much cheaper per step</a:t>
            </a:r>
          </a:p>
          <a:p>
            <a:pPr marL="219456" indent="-219456">
              <a:lnSpc>
                <a:spcPct val="106000"/>
              </a:lnSpc>
              <a:spcAft>
                <a:spcPts val="15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Underintegration admits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hourglass modes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→ stabilized by a batched Flanagan–Belytschko correction (QUAD4 + HEX8): remove the least-squares affine part of the element displacement, penalize the rest</a:t>
            </a:r>
          </a:p>
          <a:p>
            <a:pPr marL="219456" indent="-219456">
              <a:lnSpc>
                <a:spcPct val="106000"/>
              </a:lnSpc>
              <a:spcAft>
                <a:spcPts val="15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Penalty scale  c = 0.05 · μ · V/h²  uses the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physical shear modulus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— the classic coefficient, not a tunable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99248" y="1207008"/>
            <a:ext cx="3925519" cy="1828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99248" y="1344168"/>
            <a:ext cx="54864" cy="1554480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19288" y="1408176"/>
            <a:ext cx="33768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200" b="1" i="0">
                <a:solidFill>
                  <a:srgbClr val="06509D"/>
                </a:solidFill>
                <a:latin typeface="Arial"/>
                <a:cs typeface="Arial"/>
              </a:rPr>
              <a:t>2.6×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37576" y="2395728"/>
            <a:ext cx="33311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faster per explicit step than full integration, same mesh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99248" y="3310128"/>
            <a:ext cx="3925519" cy="1874519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6992" y="3474720"/>
            <a:ext cx="34500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5E8614"/>
                </a:solidFill>
                <a:latin typeface="Arial"/>
                <a:cs typeface="Arial"/>
              </a:rPr>
              <a:t>NOT A TUNING KNOB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0" y="3813048"/>
            <a:ext cx="341345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Final profiles insensitive to the hourglass penalty over a </a:t>
            </a:r>
            <a:r>
              <a:rPr sz="1300" b="1" i="0">
                <a:solidFill>
                  <a:srgbClr val="1E2430"/>
                </a:solidFill>
                <a:latin typeface="Arial"/>
                <a:cs typeface="Arial"/>
              </a:rPr>
              <a:t>4× range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— the physics does not hide in the stabilization.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Every production run in the rest of this talk uses reduced integration + batched hourglass control.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After the first step, the element loop is empty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16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035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Instrumented the FE element loop of the production RZ impact run: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64208"/>
            <a:ext cx="6035040" cy="1691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810512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VOLUME ELEMENTS VISITED PER RESIDUAL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167128"/>
            <a:ext cx="5486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1E2430"/>
                </a:solidFill>
                <a:latin typeface="Consolas"/>
                <a:cs typeface="Consolas"/>
              </a:rPr>
              <a:t>step 0:   </a:t>
            </a:r>
            <a:r>
              <a:rPr sz="1500" b="1" i="0">
                <a:solidFill>
                  <a:srgbClr val="06509D"/>
                </a:solidFill>
                <a:latin typeface="Consolas"/>
                <a:cs typeface="Consolas"/>
              </a:rPr>
              <a:t>640</a:t>
            </a:r>
            <a:r>
              <a:rPr sz="1150" b="0" i="0">
                <a:solidFill>
                  <a:srgbClr val="59595C"/>
                </a:solidFill>
                <a:latin typeface="Arial"/>
                <a:cs typeface="Arial"/>
              </a:rPr>
              <a:t>   (builds the device caches: φ, ∇φ, DOF maps, weights)</a:t>
            </a:r>
          </a:p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1E2430"/>
                </a:solidFill>
                <a:latin typeface="Consolas"/>
                <a:cs typeface="Consolas"/>
              </a:rPr>
              <a:t>step 1:   </a:t>
            </a:r>
            <a:r>
              <a:rPr sz="1500" b="1" i="0">
                <a:solidFill>
                  <a:srgbClr val="5E8614"/>
                </a:solidFill>
                <a:latin typeface="Consolas"/>
                <a:cs typeface="Consolas"/>
              </a:rPr>
              <a:t>0</a:t>
            </a:r>
          </a:p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1E2430"/>
                </a:solidFill>
                <a:latin typeface="Consolas"/>
                <a:cs typeface="Consolas"/>
              </a:rPr>
              <a:t>step n:   </a:t>
            </a:r>
            <a:r>
              <a:rPr sz="1500" b="1" i="0">
                <a:solidFill>
                  <a:srgbClr val="5E8614"/>
                </a:solidFill>
                <a:latin typeface="Consolas"/>
                <a:cs typeface="Consolas"/>
              </a:rPr>
              <a:t>0</a:t>
            </a:r>
            <a:r>
              <a:rPr sz="1150" b="0" i="0">
                <a:solidFill>
                  <a:srgbClr val="59595C"/>
                </a:solidFill>
                <a:latin typeface="Arial"/>
                <a:cs typeface="Arial"/>
              </a:rPr>
              <a:t>   — for the rest of the run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584448"/>
            <a:ext cx="60350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The integrator installs a </a:t>
            </a:r>
            <a:r>
              <a:rPr sz="1350" b="1" i="0">
                <a:solidFill>
                  <a:srgbClr val="3A3F47"/>
                </a:solidFill>
                <a:latin typeface="Arial"/>
                <a:cs typeface="Arial"/>
              </a:rPr>
              <a:t>shrunken algebraic range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: only elements adjacent to integrated BCs — none, with node-wise contact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Contact runs on the </a:t>
            </a:r>
            <a:r>
              <a:rPr sz="1350" b="1" i="0">
                <a:solidFill>
                  <a:srgbClr val="3A3F47"/>
                </a:solidFill>
                <a:latin typeface="Arial"/>
                <a:cs typeface="Arial"/>
              </a:rPr>
              <a:t>9 impact-face nodes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only (boundary-restricted nodal kernels)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59168" y="1207008"/>
            <a:ext cx="456559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96912" y="1389888"/>
            <a:ext cx="40901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MEASURED: ONE EXPLICIT STEP (53 ms, serial CPU)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33488" y="1773936"/>
            <a:ext cx="457200" cy="1737360"/>
          </a:xfrm>
          <a:prstGeom prst="rect">
            <a:avLst/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73568" y="2478024"/>
            <a:ext cx="3376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batched NEML2 constitutive call</a:t>
            </a:r>
            <a:r>
              <a:rPr sz="1100" b="1" i="0">
                <a:solidFill>
                  <a:srgbClr val="CF1D4C"/>
                </a:solidFill>
                <a:latin typeface="Arial"/>
                <a:cs typeface="Arial"/>
              </a:rPr>
              <a:t>   71%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33488" y="3639312"/>
            <a:ext cx="457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73568" y="3817620"/>
            <a:ext cx="3376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integrator, aux, output</a:t>
            </a:r>
            <a:r>
              <a:rPr sz="1100" b="1" i="0">
                <a:solidFill>
                  <a:srgbClr val="59595C"/>
                </a:solidFill>
                <a:latin typeface="Arial"/>
                <a:cs typeface="Arial"/>
              </a:rPr>
              <a:t>   27%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33488" y="4453128"/>
            <a:ext cx="457200" cy="256032"/>
          </a:xfrm>
          <a:prstGeom prst="rect">
            <a:avLst/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4416552"/>
            <a:ext cx="3376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contact + residual loops</a:t>
            </a:r>
            <a:r>
              <a:rPr sz="1100" b="1" i="0">
                <a:solidFill>
                  <a:srgbClr val="06509D"/>
                </a:solidFill>
                <a:latin typeface="Arial"/>
                <a:cs typeface="Arial"/>
              </a:rPr>
              <a:t>   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33488" y="4928616"/>
            <a:ext cx="4016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2,000-step production benchmark; geometry caches never rebuilt (0.000 s total)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Per-step cost ≈ one batched constitutive call.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That call is exactly the work that moves to the GPU — everything around it is already negligible.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3-D Taylor anvil impact, end to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17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OFHC copper slug at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235.9 m/s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— calibrated multiplicative Johnson–Cook · reduced integration · Δt = 10 ns ·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9,600+ explicit steps</a:t>
            </a:r>
          </a:p>
        </p:txBody>
      </p:sp>
      <p:pic>
        <p:nvPicPr>
          <p:cNvPr id="5" name="Picture 4" descr="fig_p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1627632"/>
            <a:ext cx="8778240" cy="22592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07008" y="3914354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cutaway views (near half removed) — plastic strain localizes at the impact foot; gray plane = rigid anvil</a:t>
            </a:r>
          </a:p>
        </p:txBody>
      </p:sp>
      <p:pic>
        <p:nvPicPr>
          <p:cNvPr id="7" name="Picture 6" descr="fig_pro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79530"/>
            <a:ext cx="3931920" cy="14384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56048" y="4270970"/>
            <a:ext cx="6668719" cy="1529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Same mesh, BCs, integrator — the temper is swapped by </a:t>
            </a:r>
            <a:r>
              <a:rPr sz="1350" b="1" i="0">
                <a:solidFill>
                  <a:srgbClr val="3A3F47"/>
                </a:solidFill>
                <a:latin typeface="Arial"/>
                <a:cs typeface="Arial"/>
              </a:rPr>
              <a:t>one NEML2 parameter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: the prior cold work (initial plastic strain)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Full-hard </a:t>
            </a:r>
            <a:r>
              <a:rPr sz="1350" b="1" i="0">
                <a:solidFill>
                  <a:srgbClr val="CF1D4C"/>
                </a:solidFill>
                <a:latin typeface="Arial"/>
                <a:cs typeface="Arial"/>
              </a:rPr>
              <a:t>39%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vs annealed </a:t>
            </a:r>
            <a:r>
              <a:rPr sz="1350" b="1" i="0">
                <a:solidFill>
                  <a:srgbClr val="06509D"/>
                </a:solidFill>
                <a:latin typeface="Arial"/>
                <a:cs typeface="Arial"/>
              </a:rPr>
              <a:t>43%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axial shortening — temper sensitivity captured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3-D full-hard shortening matches the calibrated axisymmetric model (</a:t>
            </a:r>
            <a:r>
              <a:rPr sz="1350" b="1" i="0">
                <a:solidFill>
                  <a:srgbClr val="1E2430"/>
                </a:solidFill>
                <a:latin typeface="Arial"/>
                <a:cs typeface="Arial"/>
              </a:rPr>
              <a:t>39.5%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) — cross-dimensional consistency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Coupled thermo-mechanics: heating from plastic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18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The run you just saw is coupled — temperature integrated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inside the NEML2 model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(adiabatic Taylor–Quinney heating, β = 0.9)</a:t>
            </a:r>
          </a:p>
        </p:txBody>
      </p:sp>
      <p:pic>
        <p:nvPicPr>
          <p:cNvPr id="5" name="Picture 4" descr="fig_the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648" y="1609344"/>
            <a:ext cx="7498079" cy="19215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47088" y="3558358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temperature rise above 300 K, cutaway views — run to rebound at 96 µs, &gt;99% of the impact kinetic energy dissipated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878398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3960694"/>
            <a:ext cx="50292" cy="795528"/>
          </a:xfrm>
          <a:prstGeom prst="rect">
            <a:avLst/>
          </a:pr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3951550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Feeds back into the flow stress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4271590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the hot foot softens (Johnson–Cook Θ = 1 − T*ᵐ) and flows more easily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4794" y="3878398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4794" y="3960694"/>
            <a:ext cx="50292" cy="795528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4250" y="3951550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Adiabatic by physics, not assumption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4250" y="4271590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diffusion length √(αt) ≈ 0.1 mm ≪ element size over the ~100 µs run — no heat-conduction PDE needed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2660" y="3878398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82660" y="3960694"/>
            <a:ext cx="50292" cy="795528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02116" y="3951550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Three extra NEML2 model blocks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2116" y="4271590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no new MOOSE modules, no new transfers — temperature state lives on the device like everything else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Validation: calibrated against a scanned specimen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19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Laser-scanned recovered specimen (OFHC copper, 235.9 m/s) → axis-corrected profile target →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Bayesian calibration of the Johnson–Cook parameters</a:t>
            </a:r>
          </a:p>
        </p:txBody>
      </p:sp>
      <p:pic>
        <p:nvPicPr>
          <p:cNvPr id="5" name="Picture 4" descr="fig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09928"/>
            <a:ext cx="6949440" cy="29187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8" y="4683556"/>
            <a:ext cx="6949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final deformed profile, RZ production model at the calibrated posterior median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5008" y="1755648"/>
            <a:ext cx="3559759" cy="7863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65008" y="1847088"/>
            <a:ext cx="50292" cy="603504"/>
          </a:xfrm>
          <a:prstGeom prst="rect">
            <a:avLst/>
          </a:prstGeom>
          <a:solidFill>
            <a:srgbClr val="595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1828800"/>
            <a:ext cx="31025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59595C"/>
                </a:solidFill>
                <a:latin typeface="Arial"/>
                <a:cs typeface="Arial"/>
              </a:rPr>
              <a:t>159 µm</a:t>
            </a: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  profile RMS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2231136"/>
            <a:ext cx="3102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hand-tuned</a:t>
            </a:r>
          </a:p>
        </p:txBody>
      </p:sp>
      <p:sp>
        <p:nvSpPr>
          <p:cNvPr id="11" name="Freeform 10"/>
          <p:cNvSpPr/>
          <p:nvPr/>
        </p:nvSpPr>
        <p:spPr>
          <a:xfrm>
            <a:off x="9783768" y="2560320"/>
            <a:ext cx="122237" cy="256032"/>
          </a:xfrm>
          <a:custGeom>
            <a:avLst/>
            <a:gdLst/>
            <a:ahLst/>
            <a:cxnLst/>
            <a:rect l="l" t="t" r="r" b="b"/>
            <a:pathLst>
              <a:path w="122237" h="256032">
                <a:moveTo>
                  <a:pt x="50006" y="0"/>
                </a:moveTo>
                <a:lnTo>
                  <a:pt x="50006" y="144907"/>
                </a:lnTo>
                <a:lnTo>
                  <a:pt x="0" y="144907"/>
                </a:lnTo>
                <a:lnTo>
                  <a:pt x="61119" y="256032"/>
                </a:lnTo>
                <a:lnTo>
                  <a:pt x="122237" y="144907"/>
                </a:lnTo>
                <a:lnTo>
                  <a:pt x="72231" y="144907"/>
                </a:lnTo>
                <a:lnTo>
                  <a:pt x="72231" y="0"/>
                </a:lnTo>
                <a:close/>
              </a:path>
            </a:pathLst>
          </a:cu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65008" y="2871216"/>
            <a:ext cx="3559759" cy="7863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5008" y="2962656"/>
            <a:ext cx="50292" cy="60350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2944368"/>
            <a:ext cx="31025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06509D"/>
                </a:solidFill>
                <a:latin typeface="Arial"/>
                <a:cs typeface="Arial"/>
              </a:rPr>
              <a:t>81 µm</a:t>
            </a: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  profile 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3346704"/>
            <a:ext cx="3102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Bayesian posterior median</a:t>
            </a:r>
          </a:p>
        </p:txBody>
      </p:sp>
      <p:sp>
        <p:nvSpPr>
          <p:cNvPr id="16" name="Freeform 15"/>
          <p:cNvSpPr/>
          <p:nvPr/>
        </p:nvSpPr>
        <p:spPr>
          <a:xfrm>
            <a:off x="9783768" y="3675888"/>
            <a:ext cx="122237" cy="256032"/>
          </a:xfrm>
          <a:custGeom>
            <a:avLst/>
            <a:gdLst/>
            <a:ahLst/>
            <a:cxnLst/>
            <a:rect l="l" t="t" r="r" b="b"/>
            <a:pathLst>
              <a:path w="122237" h="256032">
                <a:moveTo>
                  <a:pt x="50006" y="0"/>
                </a:moveTo>
                <a:lnTo>
                  <a:pt x="50006" y="144907"/>
                </a:lnTo>
                <a:lnTo>
                  <a:pt x="0" y="144907"/>
                </a:lnTo>
                <a:lnTo>
                  <a:pt x="61119" y="256032"/>
                </a:lnTo>
                <a:lnTo>
                  <a:pt x="122237" y="144907"/>
                </a:lnTo>
                <a:lnTo>
                  <a:pt x="72231" y="144907"/>
                </a:lnTo>
                <a:lnTo>
                  <a:pt x="72231" y="0"/>
                </a:lnTo>
                <a:close/>
              </a:path>
            </a:pathLst>
          </a:cu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65008" y="3986784"/>
            <a:ext cx="3559759" cy="7863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5008" y="4078224"/>
            <a:ext cx="50292" cy="603504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4059936"/>
            <a:ext cx="31025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5E8614"/>
                </a:solidFill>
                <a:latin typeface="Arial"/>
                <a:cs typeface="Arial"/>
              </a:rPr>
              <a:t>69 µm</a:t>
            </a: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  profile RMS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4462272"/>
            <a:ext cx="3102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+ frictionless anvil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96-run Sobol design on the production model → GP emulator → posterior.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data rejects anvil friction, and one shot cannot separate A–B–n–C — multi-velocity shots are next.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20 / 20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8096" y="1508760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17320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NEML2 assembles the internal nodal forces inside MOOSE explicit dynamics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1773936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batched, device-resident; state advances in place; one upload + one download per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11057839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478024"/>
            <a:ext cx="420624" cy="420624"/>
          </a:xfrm>
          <a:prstGeom prst="roundRect">
            <a:avLst>
              <a:gd name="adj" fmla="val 5500"/>
            </a:avLst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8" y="2386584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Verified to machine precision across formulations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2743200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small strain → total-Lagrangian → multiplicative plasticity, Cartesian and axisymmetric, incl. F-bar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36976"/>
            <a:ext cx="11057839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8096" y="3447288"/>
            <a:ext cx="420624" cy="420624"/>
          </a:xfrm>
          <a:prstGeom prst="roundRect">
            <a:avLst>
              <a:gd name="adj" fmla="val 5500"/>
            </a:avLst>
          </a:pr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8" y="3355848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Per-step cost is one batched constitutive call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8" y="3712464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the element loop is provably empty after setup; reduced integration + knob-free hourglass control, 2.6× faster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06240"/>
            <a:ext cx="11057839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" y="4416552"/>
            <a:ext cx="420624" cy="420624"/>
          </a:xfrm>
          <a:prstGeom prst="roundRect">
            <a:avLst>
              <a:gd name="adj" fmla="val 5500"/>
            </a:avLst>
          </a:prstGeom>
          <a:solidFill>
            <a:srgbClr val="B46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8" y="4325112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End-to-end on a real experiment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" y="4681728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3-D and RZ Taylor impact with in-model adiabatic heating; Bayesian-calibrated to 69 µm profile RMS against a scanned specimen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266944"/>
            <a:ext cx="11057839" cy="73152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5266944"/>
            <a:ext cx="10509199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06509D"/>
                </a:solidFill>
                <a:latin typeface="Arial"/>
                <a:cs typeface="Arial"/>
              </a:rPr>
              <a:t>Open source, in MOOSE today.   Next:  </a:t>
            </a:r>
            <a:r>
              <a:rPr sz="1450" b="0" i="0">
                <a:solidFill>
                  <a:srgbClr val="1E2430"/>
                </a:solidFill>
                <a:latin typeface="Arial"/>
                <a:cs typeface="Arial"/>
              </a:rPr>
              <a:t>GPU scaling studies  ·  multi-velocity calibration  ·  3-D reduced-integration production runs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L 2020">
  <a:themeElements>
    <a:clrScheme name="INL 2020">
      <a:dk1>
        <a:srgbClr val="000000"/>
      </a:dk1>
      <a:lt1>
        <a:srgbClr val="FFFFFF"/>
      </a:lt1>
      <a:dk2>
        <a:srgbClr val="06509D"/>
      </a:dk2>
      <a:lt2>
        <a:srgbClr val="2CA8E1"/>
      </a:lt2>
      <a:accent1>
        <a:srgbClr val="8EC423"/>
      </a:accent1>
      <a:accent2>
        <a:srgbClr val="2CA8E1"/>
      </a:accent2>
      <a:accent3>
        <a:srgbClr val="832369"/>
      </a:accent3>
      <a:accent4>
        <a:srgbClr val="CF1D4C"/>
      </a:accent4>
      <a:accent5>
        <a:srgbClr val="F78E20"/>
      </a:accent5>
      <a:accent6>
        <a:srgbClr val="59595C"/>
      </a:accent6>
      <a:hlink>
        <a:srgbClr val="7F7F7F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L_2022_hexLight_wide-WEB" id="{02E20BC5-FEDE-CE44-9BE4-1CE6CB29BA3D}" vid="{E4378662-F895-C340-BA33-6EA5E69E43E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03797F432E2A042A124C0139981475A" ma:contentTypeVersion="14" ma:contentTypeDescription="Create a new document." ma:contentTypeScope="" ma:versionID="f98a91b6c1e71bbba55439f0a80a0573">
  <xsd:schema xmlns:xsd="http://www.w3.org/2001/XMLSchema" xmlns:xs="http://www.w3.org/2001/XMLSchema" xmlns:p="http://schemas.microsoft.com/office/2006/metadata/properties" xmlns:ns2="2391d807-f94f-4c4f-bb14-493106c624c2" xmlns:ns3="42ea9b75-b306-4826-8769-4c6ad6718b67" targetNamespace="http://schemas.microsoft.com/office/2006/metadata/properties" ma:root="true" ma:fieldsID="e10204a60157ce1d68d66ae7a68b8f6a" ns2:_="" ns3:_="">
    <xsd:import namespace="2391d807-f94f-4c4f-bb14-493106c624c2"/>
    <xsd:import namespace="42ea9b75-b306-4826-8769-4c6ad6718b6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91d807-f94f-4c4f-bb14-493106c624c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list="UserInfo" ma:SearchPeopleOnly="false" ma:internalName="SharedWithUsers" ma:readOnly="fals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lcf76f155ced4ddcb4097134ff3c332f" ma:index="10" nillable="true" ma:taxonomy="true" ma:internalName="lcf76f155ced4ddcb4097134ff3c332f" ma:taxonomyFieldName="MediaServiceImageTags" ma:displayName="Image Tags" ma:readOnly="false" ma:fieldId="{5cf76f15-5ced-4ddc-b409-7134ff3c332f}" ma:taxonomyMulti="true" ma:sspId="0b78db39-37aa-4e28-bb7e-9642684d42d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2ea9b75-b306-4826-8769-4c6ad6718b67" elementFormDefault="qualified">
    <xsd:import namespace="http://schemas.microsoft.com/office/2006/documentManagement/types"/>
    <xsd:import namespace="http://schemas.microsoft.com/office/infopath/2007/PartnerControls"/>
    <xsd:element name="TaxCatchAll" ma:index="11" nillable="true" ma:displayName="Taxonomy Catch All Column" ma:hidden="true" ma:list="{2721504a-65bf-41e8-8385-5761431a3c1d}" ma:internalName="TaxCatchAll" ma:showField="CatchAllData" ma:web="42ea9b75-b306-4826-8769-4c6ad6718b6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2391d807-f94f-4c4f-bb14-493106c624c2">
      <UserInfo>
        <DisplayName/>
        <AccountId xsi:nil="true"/>
        <AccountType/>
      </UserInfo>
    </SharedWithUsers>
    <TaxCatchAll xmlns="42ea9b75-b306-4826-8769-4c6ad6718b67" xsi:nil="true"/>
    <lcf76f155ced4ddcb4097134ff3c332f xmlns="2391d807-f94f-4c4f-bb14-493106c624c2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E158C39C-6B2B-46C8-8FF5-4FF701DE8E56}"/>
</file>

<file path=customXml/itemProps2.xml><?xml version="1.0" encoding="utf-8"?>
<ds:datastoreItem xmlns:ds="http://schemas.openxmlformats.org/officeDocument/2006/customXml" ds:itemID="{5B987B27-07C2-425E-9FC8-8EB9D2FCBB9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E72521-46AD-4BAF-8AA5-1067FA401909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9542</TotalTime>
  <Words>15</Words>
  <Application>Microsoft Macintosh PowerPoint</Application>
  <PresentationFormat>Widescreen</PresentationFormat>
  <Paragraphs>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Arial Narrow</vt:lpstr>
      <vt:lpstr>Calibri</vt:lpstr>
      <vt:lpstr>Myriad Pro Cond</vt:lpstr>
      <vt:lpstr>Times New Roman</vt:lpstr>
      <vt:lpstr>INL 2020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Daniel L. Campbell</dc:creator>
  <cp:keywords/>
  <dc:description/>
  <cp:lastModifiedBy>David L. Combs</cp:lastModifiedBy>
  <cp:revision>238</cp:revision>
  <dcterms:created xsi:type="dcterms:W3CDTF">2020-04-22T20:22:45Z</dcterms:created>
  <dcterms:modified xsi:type="dcterms:W3CDTF">2022-07-18T20:44:46Z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0x010100803797F432E2A042A124C0139981475A</vt:lpwstr>
  </property>
  <property fmtid="{D5CDD505-2E9C-101B-9397-08002B2CF9AE}" pid="3" name="Order">
    <vt:r8>73000</vt:r8>
  </property>
</Properties>
</file>
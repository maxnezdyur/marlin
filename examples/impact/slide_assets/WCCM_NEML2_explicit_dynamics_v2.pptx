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1874519"/>
            <a:ext cx="11057839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16233B"/>
                </a:solidFill>
                <a:latin typeface="Calibri"/>
                <a:cs typeface="Calibri"/>
              </a:rPr>
              <a:t>GPU-resident material models</a:t>
            </a:r>
          </a:p>
          <a:p>
            <a:pPr algn="l">
              <a:lnSpc>
                <a:spcPct val="104000"/>
              </a:lnSpc>
            </a:pPr>
            <a:r>
              <a:rPr sz="4000" b="1" i="0">
                <a:solidFill>
                  <a:srgbClr val="16233B"/>
                </a:solidFill>
                <a:latin typeface="Calibri"/>
                <a:cs typeface="Calibri"/>
              </a:rPr>
              <a:t>for explicit dynamics in MOOSE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401568"/>
            <a:ext cx="1105783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1B5FA8"/>
                </a:solidFill>
                <a:latin typeface="Calibri"/>
                <a:cs typeface="Calibri"/>
              </a:rPr>
              <a:t>A NEML2 nodal-force interface for high-rate solid mechanics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4114800"/>
            <a:ext cx="3273552" cy="0"/>
          </a:xfrm>
          <a:prstGeom prst="line">
            <a:avLst/>
          </a:prstGeom>
          <a:ln w="9525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4297680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Author Name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  with Co-author, Co-author, Co-author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466344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6B7688"/>
                </a:solidFill>
                <a:latin typeface="Calibri"/>
                <a:cs typeface="Calibri"/>
              </a:rPr>
              <a:t>Idaho National Laboratory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5760720"/>
            <a:ext cx="110578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688"/>
                </a:solidFill>
                <a:latin typeface="Calibri"/>
                <a:cs typeface="Calibri"/>
              </a:rPr>
              <a:t>WCCM 2026   |   Session   |   Date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Advanced reactors bring dynamic-loading questions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865376"/>
            <a:ext cx="6309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1B5FA8"/>
              </a:buClr>
              <a:buFont typeface="Calibri"/>
              <a:buChar char="•"/>
            </a:pP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Transportable microreactors, pebble-bed cores, accident scenarios: components must be qualified under </a:t>
            </a:r>
            <a:r>
              <a:rPr sz="1650" b="1" i="0">
                <a:solidFill>
                  <a:srgbClr val="333E4F"/>
                </a:solidFill>
                <a:latin typeface="Calibri"/>
                <a:cs typeface="Calibri"/>
              </a:rPr>
              <a:t>impact and other high-rate loads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1B5FA8"/>
              </a:buClr>
              <a:buFont typeface="Calibri"/>
              <a:buChar char="•"/>
            </a:pP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These events are </a:t>
            </a:r>
            <a:r>
              <a:rPr sz="1650" b="1" i="0">
                <a:solidFill>
                  <a:srgbClr val="333E4F"/>
                </a:solidFill>
                <a:latin typeface="Calibri"/>
                <a:cs typeface="Calibri"/>
              </a:rPr>
              <a:t>wave-dominated and fast</a:t>
            </a: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 — stress waves traverse the part in microseconds, with severe, localized plasticity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1B5FA8"/>
              </a:buClr>
              <a:buFont typeface="Calibri"/>
              <a:buChar char="•"/>
            </a:pP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Predictive fidelity requires </a:t>
            </a:r>
            <a:r>
              <a:rPr sz="1650" b="1" i="0">
                <a:solidFill>
                  <a:srgbClr val="333E4F"/>
                </a:solidFill>
                <a:latin typeface="Calibri"/>
                <a:cs typeface="Calibri"/>
              </a:rPr>
              <a:t>modern constitutive models</a:t>
            </a: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 — rate- and temperature-dependent plasticity, evolving internal state</a:t>
            </a:r>
          </a:p>
          <a:p>
            <a:pPr marL="219456" indent="-219456">
              <a:lnSpc>
                <a:spcPct val="106000"/>
              </a:lnSpc>
              <a:spcAft>
                <a:spcPts val="1800"/>
              </a:spcAft>
              <a:buClr>
                <a:srgbClr val="1B5FA8"/>
              </a:buClr>
              <a:buFont typeface="Calibri"/>
              <a:buChar char="•"/>
            </a:pP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Simulating them means </a:t>
            </a:r>
            <a:r>
              <a:rPr sz="1650" b="1" i="0">
                <a:solidFill>
                  <a:srgbClr val="333E4F"/>
                </a:solidFill>
                <a:latin typeface="Calibri"/>
                <a:cs typeface="Calibri"/>
              </a:rPr>
              <a:t>explicit time integration</a:t>
            </a:r>
            <a:r>
              <a:rPr sz="1650" b="0" i="0">
                <a:solidFill>
                  <a:srgbClr val="333E4F"/>
                </a:solidFill>
                <a:latin typeface="Calibri"/>
                <a:cs typeface="Calibri"/>
              </a:rPr>
              <a:t> with a material-model evaluation at every quadrature point, every step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33488" y="1517904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0" y="1719072"/>
            <a:ext cx="37792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B7688"/>
                </a:solidFill>
                <a:latin typeface="Calibri"/>
                <a:cs typeface="Calibri"/>
              </a:rPr>
              <a:t>TIMESCALES OF AN IMPACT EVENT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176272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08976" y="2176272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event duration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41687" y="2176272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B5FA8"/>
                </a:solidFill>
                <a:latin typeface="Calibri"/>
                <a:cs typeface="Calibri"/>
              </a:rPr>
              <a:t>~100 µs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0" y="2971800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2971800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wave transit through part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41687" y="2971800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B5FA8"/>
                </a:solidFill>
                <a:latin typeface="Calibri"/>
                <a:cs typeface="Calibri"/>
              </a:rPr>
              <a:t>~1–10 µs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89520" y="3767328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08976" y="3767328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stable explicit step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41687" y="3767328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A83A33"/>
                </a:solidFill>
                <a:latin typeface="Calibri"/>
                <a:cs typeface="Calibri"/>
              </a:rPr>
              <a:t>~10 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589520" y="4562856"/>
            <a:ext cx="3779215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08976" y="4562856"/>
            <a:ext cx="237103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⇒  steps to simulate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41687" y="4562856"/>
            <a:ext cx="141732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10</a:t>
            </a:r>
            <a:r>
              <a:rPr sz="1500" b="1" i="0" baseline="30000">
                <a:solidFill>
                  <a:srgbClr val="16233B"/>
                </a:solidFill>
                <a:latin typeface="Calibri"/>
                <a:cs typeface="Calibri"/>
              </a:rPr>
              <a:t>4</a:t>
            </a:r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–10</a:t>
            </a:r>
            <a:r>
              <a:rPr sz="1500" b="1" i="0" baseline="30000">
                <a:solidFill>
                  <a:srgbClr val="16233B"/>
                </a:solidFill>
                <a:latin typeface="Calibri"/>
                <a:cs typeface="Calibri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Many steps × an expensive material update at every point: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high-rate simulation is compute-hungry in a very particular way.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Two mature ecosystems — and a gap between them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7EFF8"/>
          </a:solidFill>
          <a:ln w="127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719072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B5FA8"/>
                </a:solidFill>
                <a:latin typeface="Calibri"/>
                <a:cs typeface="Calibri"/>
              </a:rPr>
              <a:t>MULTIPHYSICS FE FRAMEWORKS (MOOSE)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" y="2203704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Boundary conditions, contact, parallel domain decomposition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Coupled-physics machinery, meshing, restart, in-situ output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But: materials evaluated </a:t>
            </a: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point-by-point on CPU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inside the element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81647" y="1517904"/>
            <a:ext cx="4843119" cy="274320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55967" y="1719072"/>
            <a:ext cx="429447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E7A4F"/>
                </a:solidFill>
                <a:latin typeface="Calibri"/>
                <a:cs typeface="Calibri"/>
              </a:rPr>
              <a:t>MODERN MATERIAL LIBRARIES (NEML2)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74255" y="2203704"/>
            <a:ext cx="4257903" cy="1874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Composable constitutive models with automatic differentiation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Batched tensor evaluation on </a:t>
            </a: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GPU or CPU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(libTorch backend)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But: no mesh, no boundary conditions, no solver — </a:t>
            </a: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not a simulation code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10047" y="234086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 i="0">
                <a:solidFill>
                  <a:srgbClr val="A83A33"/>
                </a:solidFill>
                <a:latin typeface="Calibri"/>
                <a:cs typeface="Calibri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64911" y="2907792"/>
            <a:ext cx="126187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>per-point calls,</a:t>
            </a:r>
          </a:p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>per-step copies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645152"/>
            <a:ext cx="11057839" cy="914400"/>
          </a:xfrm>
          <a:prstGeom prst="roundRect">
            <a:avLst>
              <a:gd name="adj" fmla="val 5500"/>
            </a:avLst>
          </a:prstGeom>
          <a:solidFill>
            <a:srgbClr val="E7EFF8"/>
          </a:solidFill>
          <a:ln w="127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645152"/>
            <a:ext cx="10509199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5FA8"/>
                </a:solidFill>
                <a:latin typeface="Calibri"/>
                <a:cs typeface="Calibri"/>
              </a:rPr>
              <a:t>This talk: </a:t>
            </a:r>
            <a:r>
              <a:rPr sz="1600" b="0" i="0">
                <a:solidFill>
                  <a:srgbClr val="16233B"/>
                </a:solidFill>
                <a:latin typeface="Calibri"/>
                <a:cs typeface="Calibri"/>
              </a:rPr>
              <a:t>an interface that lets NEML2 assemble the nodal internal forces itself — batched, device-resident — while MOOSE keeps doing everything else it is good 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Governing equations of explicit solid dynamics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4 / 12</a:t>
            </a:r>
          </a:p>
        </p:txBody>
      </p:sp>
      <p:pic>
        <p:nvPicPr>
          <p:cNvPr id="7" name="Picture 6" descr="momentum_strong_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700784"/>
            <a:ext cx="2574188" cy="27797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90688" y="1664208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33E4F"/>
                </a:solidFill>
                <a:latin typeface="Calibri"/>
                <a:cs typeface="Calibri"/>
              </a:rPr>
              <a:t>balance of linear momentum</a:t>
            </a:r>
          </a:p>
        </p:txBody>
      </p:sp>
      <p:pic>
        <p:nvPicPr>
          <p:cNvPr id="9" name="Picture 8" descr="weak_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688336"/>
            <a:ext cx="6445605" cy="3706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90688" y="2651760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33E4F"/>
                </a:solidFill>
                <a:latin typeface="Calibri"/>
                <a:cs typeface="Calibri"/>
              </a:rPr>
              <a:t>weak form: multiply by test function, integrate by parts</a:t>
            </a:r>
          </a:p>
        </p:txBody>
      </p:sp>
      <p:pic>
        <p:nvPicPr>
          <p:cNvPr id="11" name="Picture 10" descr="semi_discrete_moment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675888"/>
            <a:ext cx="2484424" cy="33009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790688" y="3639312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33E4F"/>
                </a:solidFill>
                <a:latin typeface="Calibri"/>
                <a:cs typeface="Calibri"/>
              </a:rPr>
              <a:t>discretize in space: semi-discrete momentum equation</a:t>
            </a:r>
          </a:p>
        </p:txBody>
      </p:sp>
      <p:pic>
        <p:nvPicPr>
          <p:cNvPr id="13" name="Picture 12" descr="internal_force_assembl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663440"/>
            <a:ext cx="6405067" cy="37932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90688" y="4626864"/>
            <a:ext cx="383407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333E4F"/>
                </a:solidFill>
                <a:latin typeface="Calibri"/>
                <a:cs typeface="Calibri"/>
              </a:rPr>
              <a:t>internal force: assembled from quadrature-point stress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Everything above is standard.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The physics of the material lives in one place — the stress </a:t>
            </a:r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σ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at each quadrature point. That is where NEML2 will plug 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Explicit time integration: ExplicitMixedOrder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5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6675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Central difference, as implemented in our </a:t>
            </a:r>
            <a:r>
              <a:rPr sz="1350" b="1" i="0">
                <a:solidFill>
                  <a:srgbClr val="333E4F"/>
                </a:solidFill>
                <a:latin typeface="Consolas"/>
                <a:cs typeface="Consolas"/>
              </a:rPr>
              <a:t>ExplicitMixedOrder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MOOSE integrator</a:t>
            </a:r>
          </a:p>
        </p:txBody>
      </p:sp>
      <p:pic>
        <p:nvPicPr>
          <p:cNvPr id="8" name="Picture 7" descr="accel_lumped_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93392"/>
            <a:ext cx="2372868" cy="3429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910328" y="2066544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7688"/>
                </a:solidFill>
                <a:latin typeface="Calibri"/>
                <a:cs typeface="Calibri"/>
              </a:rPr>
              <a:t>lumped mass: pointwise divide, no solver</a:t>
            </a:r>
          </a:p>
        </p:txBody>
      </p:sp>
      <p:pic>
        <p:nvPicPr>
          <p:cNvPr id="10" name="Picture 9" descr="velocity_midpoint_up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2926080"/>
            <a:ext cx="2984601" cy="40599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910328" y="2999232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7688"/>
                </a:solidFill>
                <a:latin typeface="Calibri"/>
                <a:cs typeface="Calibri"/>
              </a:rPr>
              <a:t>midpoint velocity update (variable Δt)</a:t>
            </a:r>
          </a:p>
        </p:txBody>
      </p:sp>
      <p:pic>
        <p:nvPicPr>
          <p:cNvPr id="12" name="Picture 11" descr="displacement_upda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858768"/>
            <a:ext cx="2438704" cy="35112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910328" y="3931920"/>
            <a:ext cx="2286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7688"/>
                </a:solidFill>
                <a:latin typeface="Calibri"/>
                <a:cs typeface="Calibri"/>
              </a:rPr>
              <a:t>displacement update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4901184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No Newton iterations, no global linear solve, no Jacobian — </a:t>
            </a:r>
            <a:r>
              <a:rPr sz="1400" b="1" i="0">
                <a:solidFill>
                  <a:srgbClr val="16233B"/>
                </a:solidFill>
                <a:latin typeface="Calibri"/>
                <a:cs typeface="Calibri"/>
              </a:rPr>
              <a:t>each step is one residual evaluation plus vector updates.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26096" y="1517904"/>
            <a:ext cx="3998671" cy="3310128"/>
          </a:xfrm>
          <a:prstGeom prst="roundRect">
            <a:avLst>
              <a:gd name="adj" fmla="val 5500"/>
            </a:avLst>
          </a:prstGeom>
          <a:solidFill>
            <a:srgbClr val="E7EFF8"/>
          </a:solidFill>
          <a:ln w="127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1700784"/>
            <a:ext cx="352318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5FA8"/>
                </a:solidFill>
                <a:latin typeface="Calibri"/>
                <a:cs typeface="Calibri"/>
              </a:rPr>
              <a:t>WHY “MIXED ORDER”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82128" y="2084832"/>
            <a:ext cx="3486607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1B5FA8"/>
              </a:buClr>
              <a:buFont typeface="Calibri"/>
              <a:buChar char="•"/>
            </a:pP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Second-order fields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(displacement): central difference, as at left</a:t>
            </a:r>
          </a:p>
          <a:p>
            <a:pPr marL="219456" indent="-219456">
              <a:lnSpc>
                <a:spcPct val="106000"/>
              </a:lnSpc>
              <a:spcAft>
                <a:spcPts val="1000"/>
              </a:spcAft>
              <a:buClr>
                <a:srgbClr val="1B5FA8"/>
              </a:buClr>
              <a:buFont typeface="Calibri"/>
              <a:buChar char="•"/>
            </a:pP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First-order fields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(e.g. temperature): forward Euler on the rate — same update loop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863840" y="3456432"/>
            <a:ext cx="3523183" cy="0"/>
          </a:xfrm>
          <a:prstGeom prst="line">
            <a:avLst/>
          </a:prstGeom>
          <a:ln w="6350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882128" y="3639312"/>
            <a:ext cx="3486607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One integrator advances a </a:t>
            </a:r>
            <a:r>
              <a:rPr sz="1300" b="1" i="0">
                <a:solidFill>
                  <a:srgbClr val="16233B"/>
                </a:solidFill>
                <a:latin typeface="Calibri"/>
                <a:cs typeface="Calibri"/>
              </a:rPr>
              <a:t>coupled thermo-mechanical system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explicitly — the multiphysics lever used later in this talk.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Developed for this work and upstreamed: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part of MOOSE solid mechanics today, available to every MOOSE application.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Stability sets the step; the material sets the cost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6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Conditional stability (CFL): the step must resolve the fastest stress wave</a:t>
            </a:r>
          </a:p>
        </p:txBody>
      </p:sp>
      <p:pic>
        <p:nvPicPr>
          <p:cNvPr id="8" name="Picture 7" descr="cfl_critical_timest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929384"/>
            <a:ext cx="4116324" cy="55824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76656" y="2633472"/>
            <a:ext cx="6309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6B7688"/>
                </a:solidFill>
                <a:latin typeface="Calibri"/>
                <a:cs typeface="Calibri"/>
              </a:rPr>
              <a:t>element length over elastic wave speed (dilatational speed in 3-D)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209544"/>
            <a:ext cx="6309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1B5FA8"/>
              </a:buClr>
              <a:buFont typeface="Calibri"/>
              <a:buChar char="•"/>
            </a:pP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Millimeter elements: </a:t>
            </a:r>
            <a:r>
              <a:rPr sz="1500" b="1" i="0">
                <a:solidFill>
                  <a:srgbClr val="333E4F"/>
                </a:solidFill>
                <a:latin typeface="Calibri"/>
                <a:cs typeface="Calibri"/>
              </a:rPr>
              <a:t>Δt ≈ 10 ns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 ⇒  </a:t>
            </a:r>
            <a:r>
              <a:rPr sz="1500" b="1" i="0">
                <a:solidFill>
                  <a:srgbClr val="333E4F"/>
                </a:solidFill>
                <a:latin typeface="Calibri"/>
                <a:cs typeface="Calibri"/>
              </a:rPr>
              <a:t>10</a:t>
            </a:r>
            <a:r>
              <a:rPr sz="1500" b="1" i="0" baseline="30000">
                <a:solidFill>
                  <a:srgbClr val="333E4F"/>
                </a:solidFill>
                <a:latin typeface="Calibri"/>
                <a:cs typeface="Calibri"/>
              </a:rPr>
              <a:t>4</a:t>
            </a:r>
            <a:r>
              <a:rPr sz="1500" b="1" i="0">
                <a:solidFill>
                  <a:srgbClr val="333E4F"/>
                </a:solidFill>
                <a:latin typeface="Calibri"/>
                <a:cs typeface="Calibri"/>
              </a:rPr>
              <a:t>–10</a:t>
            </a:r>
            <a:r>
              <a:rPr sz="1500" b="1" i="0" baseline="30000">
                <a:solidFill>
                  <a:srgbClr val="333E4F"/>
                </a:solidFill>
                <a:latin typeface="Calibri"/>
                <a:cs typeface="Calibri"/>
              </a:rPr>
              <a:t>5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steps for a 100 µs event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1B5FA8"/>
              </a:buClr>
              <a:buFont typeface="Calibri"/>
              <a:buChar char="•"/>
            </a:pP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Each step: no solve — the runtime </a:t>
            </a:r>
            <a:r>
              <a:rPr sz="1500" b="0" i="1">
                <a:solidFill>
                  <a:srgbClr val="333E4F"/>
                </a:solidFill>
                <a:latin typeface="Calibri"/>
                <a:cs typeface="Calibri"/>
              </a:rPr>
              <a:t>is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the residual, and the residual </a:t>
            </a:r>
            <a:r>
              <a:rPr sz="1500" b="0" i="1">
                <a:solidFill>
                  <a:srgbClr val="333E4F"/>
                </a:solidFill>
                <a:latin typeface="Calibri"/>
                <a:cs typeface="Calibri"/>
              </a:rPr>
              <a:t>is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the constitutive update at every quadrature point</a:t>
            </a:r>
          </a:p>
          <a:p>
            <a:pPr marL="219456" indent="-219456">
              <a:lnSpc>
                <a:spcPct val="106000"/>
              </a:lnSpc>
              <a:spcAft>
                <a:spcPts val="1300"/>
              </a:spcAft>
              <a:buClr>
                <a:srgbClr val="1B5FA8"/>
              </a:buClr>
              <a:buFont typeface="Calibri"/>
              <a:buChar char="•"/>
            </a:pP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Advanced models (rate/temperature-dependent plasticity, internal state) make each of those updates expensive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33488" y="1517904"/>
            <a:ext cx="4291279" cy="3977639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71232" y="1700784"/>
            <a:ext cx="38157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B7688"/>
                </a:solidFill>
                <a:latin typeface="Calibri"/>
                <a:cs typeface="Calibri"/>
              </a:rPr>
              <a:t>ANATOMY OF ONE EXPLICIT STEP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7808" y="2084832"/>
            <a:ext cx="457200" cy="1600200"/>
          </a:xfrm>
          <a:prstGeom prst="rect">
            <a:avLst/>
          </a:prstGeom>
          <a:solidFill>
            <a:srgbClr val="F8E9E7"/>
          </a:solidFill>
          <a:ln w="12700">
            <a:solidFill>
              <a:srgbClr val="A83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8" y="2738628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6233B"/>
                </a:solidFill>
                <a:latin typeface="Calibri"/>
                <a:cs typeface="Calibri"/>
              </a:rPr>
              <a:t>constitutive update</a:t>
            </a: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>   dominant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7808" y="3794760"/>
            <a:ext cx="457200" cy="594360"/>
          </a:xfrm>
          <a:prstGeom prst="rect">
            <a:avLst/>
          </a:prstGeom>
          <a:solidFill>
            <a:srgbClr val="E7EFF8"/>
          </a:solidFill>
          <a:ln w="127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3945636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force assembly + scatter</a:t>
            </a: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7607808" y="4498848"/>
            <a:ext cx="457200" cy="41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6B7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47888" y="4558284"/>
            <a:ext cx="3102559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333E4F"/>
                </a:solidFill>
                <a:latin typeface="Calibri"/>
                <a:cs typeface="Calibri"/>
              </a:rPr>
              <a:t>time advance, BCs, output</a:t>
            </a: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07808" y="5129784"/>
            <a:ext cx="37426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688"/>
                </a:solidFill>
                <a:latin typeface="Calibri"/>
                <a:cs typeface="Calibri"/>
              </a:rPr>
              <a:t>schematic; plasticity dominates the step cost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Explicit runtime  ≈  steps × material-update cost.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The step count is physics. The material cost is engineering — and it is the target.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MOOSE: the multiphysics host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7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33E4F"/>
                </a:solidFill>
                <a:latin typeface="Calibri"/>
                <a:cs typeface="Calibri"/>
              </a:rPr>
              <a:t>Open-source multiphysics FE framework (Idaho National Laboratory) — </a:t>
            </a:r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we keep all of this for free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4832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2194560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31136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Boundary conditions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615184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full BC library, incl. the penalty and pressure BCs used in this work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4794" y="2084832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4794" y="2194560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03394" y="2231136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03394" y="2615184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mortar and node-face algorithms — architecture-compatible with this interface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82660" y="2084832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82660" y="2194560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1260" y="2231136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Parallel execution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1260" y="2615184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MPI domain decomposition, scalable assembly and solves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3749040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66928" y="3858768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895344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Coupled physics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" y="4279392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heat conduction, neutronics, porous flow, ... in one input file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74794" y="3749040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74794" y="3858768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3394" y="3895344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Meshing &amp; output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603394" y="4279392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mesh generators, adaptivity, Exodus/CSV in-situ output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82660" y="3749040"/>
            <a:ext cx="3442106" cy="137160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182660" y="3858768"/>
            <a:ext cx="50292" cy="1152144"/>
          </a:xfrm>
          <a:prstGeom prst="rect">
            <a:avLst/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1260" y="3895344"/>
            <a:ext cx="303062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6233B"/>
                </a:solidFill>
                <a:latin typeface="Calibri"/>
                <a:cs typeface="Calibri"/>
              </a:rPr>
              <a:t>Ecosystem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1260" y="4279392"/>
            <a:ext cx="3030626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333E4F"/>
                </a:solidFill>
                <a:latin typeface="Calibri"/>
                <a:cs typeface="Calibri"/>
              </a:rPr>
              <a:t>NQA-1 quality assurance; large application family (BISON, Grizzly, ...)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Everything in a high-rate simulation that is </a:t>
            </a:r>
            <a:r>
              <a:rPr sz="1500" b="0" i="1">
                <a:solidFill>
                  <a:srgbClr val="333E4F"/>
                </a:solidFill>
                <a:latin typeface="Calibri"/>
                <a:cs typeface="Calibri"/>
              </a:rPr>
              <a:t>not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the material update already exists here — parallel and production-tested.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NEML2: the material engine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8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17904"/>
            <a:ext cx="1105783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0" i="0">
                <a:solidFill>
                  <a:srgbClr val="333E4F"/>
                </a:solidFill>
                <a:latin typeface="Calibri"/>
                <a:cs typeface="Calibri"/>
              </a:rPr>
              <a:t>New Engineering Material model Library v2 (ANL, open source) — constitutive models as </a:t>
            </a:r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composable tensor programs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084832"/>
            <a:ext cx="6126480" cy="1874519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6384" y="2212848"/>
            <a:ext cx="6126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6B7688"/>
                </a:solidFill>
                <a:latin typeface="Calibri"/>
                <a:cs typeface="Calibri"/>
              </a:rPr>
              <a:t>A MODEL = SMALL OPERATORS, COMPOSED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96896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elasticity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783080" y="2985516"/>
            <a:ext cx="182880" cy="0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1993392" y="2596896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flow rule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953512" y="2985516"/>
            <a:ext cx="182880" cy="0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163824" y="2596896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hardening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123944" y="2985516"/>
            <a:ext cx="182880" cy="0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4334256" y="2596896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rate
sensitivity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294376" y="2985516"/>
            <a:ext cx="182880" cy="0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504688" y="2596896"/>
            <a:ext cx="932688" cy="77724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state
update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3511296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688"/>
                </a:solidFill>
                <a:latin typeface="Calibri"/>
                <a:cs typeface="Calibri"/>
              </a:rPr>
              <a:t>declared in an input file; exact derivatives by automatic differentiation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233672"/>
            <a:ext cx="61264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Batched: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all quadrature points evaluated in </a:t>
            </a: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one batched call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Device-portable: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libTorch (PyTorch C++) backend runs the same model on CPU or GPU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400" b="1" i="0">
                <a:solidFill>
                  <a:srgbClr val="333E4F"/>
                </a:solidFill>
                <a:latin typeface="Calibri"/>
                <a:cs typeface="Calibri"/>
              </a:rPr>
              <a:t>NEML2 library benchmark</a:t>
            </a:r>
            <a:r>
              <a:rPr sz="1400" b="0" i="0">
                <a:solidFill>
                  <a:srgbClr val="333E4F"/>
                </a:solidFill>
                <a:latin typeface="Calibri"/>
                <a:cs typeface="Calibri"/>
              </a:rPr>
              <a:t> (crystal plasticity): 42,500 s (NEML, CPU) → 68 s on one GPU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50608" y="2084832"/>
            <a:ext cx="4474159" cy="310896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88352" y="2240280"/>
            <a:ext cx="399867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6B7688"/>
                </a:solidFill>
                <a:latin typeface="Calibri"/>
                <a:cs typeface="Calibri"/>
              </a:rPr>
              <a:t>ONE CALL, ALL POINTS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7064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3640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0216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56792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3368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29944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66520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0030968" y="265176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064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83640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0216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56792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3368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29944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6520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030968" y="301752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7064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83640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20216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56792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93368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29944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6520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10030968" y="3383280"/>
            <a:ext cx="310896" cy="310896"/>
          </a:xfrm>
          <a:prstGeom prst="rect">
            <a:avLst/>
          </a:prstGeom>
          <a:solidFill>
            <a:srgbClr val="E4F2EA"/>
          </a:solidFill>
          <a:ln w="635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470648" y="3886200"/>
            <a:ext cx="38340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16233B"/>
                </a:solidFill>
                <a:latin typeface="Consolas"/>
                <a:cs typeface="Consolas"/>
              </a:rPr>
              <a:t>σ = model(ε, state)</a:t>
            </a:r>
            <a:r>
              <a:rPr sz="1100" b="0" i="0">
                <a:solidFill>
                  <a:srgbClr val="6B7688"/>
                </a:solidFill>
                <a:latin typeface="Calibri"/>
                <a:cs typeface="Calibri"/>
              </a:rPr>
              <a:t>   over the whole batch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470648" y="4343400"/>
            <a:ext cx="383407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1">
                <a:solidFill>
                  <a:srgbClr val="333E4F"/>
                </a:solidFill>
                <a:latin typeface="Calibri"/>
                <a:cs typeface="Calibri"/>
              </a:rPr>
              <a:t>GPUs want exactly this shape of work: wide, uniform, no per-point branching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NEML2 evaluates sophisticated material models the way accelerators want them evaluated.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What it lacks — mesh, BCs, assembly — is exactly what MOOSE has.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What we built: two pillars, one force path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9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17904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7EFF8"/>
          </a:solidFill>
          <a:ln w="15875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75564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1792224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33B"/>
                </a:solidFill>
                <a:latin typeface="Calibri"/>
                <a:cs typeface="Calibri"/>
              </a:rPr>
              <a:t>ExplicitMixedOrder integrator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86584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Explicit central-difference integrator with </a:t>
            </a: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mixed-order multiphysics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(2nd-order mechanics + 1st-order fields)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Lumped mass via matrix tag — </a:t>
            </a: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zero linear iterations per step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Variable step size (Abaqus-style midpoint velocity averaging)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B5FA8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Upstreamed to MOOSE </a:t>
            </a:r>
            <a:r>
              <a:rPr sz="1250" b="0" i="0">
                <a:solidFill>
                  <a:srgbClr val="333E4F"/>
                </a:solidFill>
                <a:latin typeface="Consolas"/>
                <a:cs typeface="Consolas"/>
              </a:rPr>
              <a:t>solid_mechanics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24447" y="1517904"/>
            <a:ext cx="5300319" cy="2651760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587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80479" y="1755648"/>
            <a:ext cx="457200" cy="457200"/>
          </a:xfrm>
          <a:prstGeom prst="roundRect">
            <a:avLst>
              <a:gd name="adj" fmla="val 5500"/>
            </a:avLst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93127" y="1792224"/>
            <a:ext cx="420303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6233B"/>
                </a:solidFill>
                <a:latin typeface="Calibri"/>
                <a:cs typeface="Calibri"/>
              </a:rPr>
              <a:t>NEML2 nodal-force interface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98767" y="2386584"/>
            <a:ext cx="4751679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NEML2 computes </a:t>
            </a: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internal nodal forces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itself — not just stress — for the whole mesh in batched tensor ops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Constitutive state lives on the device and </a:t>
            </a:r>
            <a:r>
              <a:rPr sz="1300" b="1" i="0">
                <a:solidFill>
                  <a:srgbClr val="333E4F"/>
                </a:solidFill>
                <a:latin typeface="Calibri"/>
                <a:cs typeface="Calibri"/>
              </a:rPr>
              <a:t>advances in place</a:t>
            </a: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 between steps</a:t>
            </a:r>
          </a:p>
          <a:p>
            <a:pPr marL="219456" indent="-219456">
              <a:lnSpc>
                <a:spcPct val="106000"/>
              </a:lnSpc>
              <a:spcAft>
                <a:spcPts val="900"/>
              </a:spcAft>
              <a:buClr>
                <a:srgbClr val="1E7A4F"/>
              </a:buClr>
              <a:buFont typeface="Calibri"/>
              <a:buChar char="•"/>
            </a:pPr>
            <a:r>
              <a:rPr sz="1300" b="0" i="0">
                <a:solidFill>
                  <a:srgbClr val="333E4F"/>
                </a:solidFill>
                <a:latin typeface="Calibri"/>
                <a:cs typeface="Calibri"/>
              </a:rPr>
              <a:t>Plugs into the explicit solve as a residual contribution — MOOSE BCs, outputs, MPI unchanged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443984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F4F6FA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443984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6B7688"/>
                </a:solidFill>
                <a:latin typeface="Calibri"/>
                <a:cs typeface="Calibri"/>
              </a:rPr>
              <a:t>Foundation, unchanged:  </a:t>
            </a:r>
            <a:r>
              <a:rPr sz="1350" b="0" i="0">
                <a:solidFill>
                  <a:srgbClr val="333E4F"/>
                </a:solidFill>
                <a:latin typeface="Calibri"/>
                <a:cs typeface="Calibri"/>
              </a:rPr>
              <a:t>MOOSE boundary conditions  ·  parallel domain decomposition  ·  meshing &amp; output  ·  contact-compatible architecture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All of it is open source in the MOOSE framework and solid-mechanics module; </a:t>
            </a:r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the NEML2 force path is verified against conventional MOOSE on CPU and CUDA.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One explicit step through the NEML2 force path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10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68296" y="1682496"/>
            <a:ext cx="7455103" cy="2907792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551176" y="1773936"/>
            <a:ext cx="7089343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A4F"/>
                </a:solidFill>
                <a:latin typeface="Calibri"/>
                <a:cs typeface="Calibri"/>
              </a:rPr>
              <a:t>DEVICE (libTorch)  —  same code on CPU / CUDA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84832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250" b="1" i="0">
                <a:solidFill>
                  <a:srgbClr val="16233B"/>
                </a:solidFill>
                <a:latin typeface="Calibri"/>
                <a:cs typeface="Calibri"/>
              </a:rPr>
              <a:t>MOOSE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solution vector</a:t>
            </a:r>
          </a:p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B7688"/>
                </a:solidFill>
                <a:latin typeface="Calibri"/>
                <a:cs typeface="Calibri"/>
              </a:rPr>
              <a:t>(PETSc)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1B5FA8"/>
                </a:solidFill>
                <a:latin typeface="Calibri"/>
                <a:cs typeface="Calibri"/>
              </a:rPr>
              <a:t>one upload / step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07447" y="2084832"/>
            <a:ext cx="1417320" cy="14813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6B7688"/>
                </a:solidFill>
                <a:latin typeface="Calibri"/>
                <a:cs typeface="Calibri"/>
              </a:rPr>
              <a:t>residual →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6233B"/>
                </a:solidFill>
                <a:latin typeface="Calibri"/>
                <a:cs typeface="Calibri"/>
              </a:rPr>
              <a:t>ExplicitMixed-</a:t>
            </a:r>
          </a:p>
          <a:p>
            <a:pPr algn="ctr">
              <a:lnSpc>
                <a:spcPct val="110000"/>
              </a:lnSpc>
            </a:pPr>
            <a:r>
              <a:rPr sz="1150" b="1" i="0">
                <a:solidFill>
                  <a:srgbClr val="16233B"/>
                </a:solidFill>
                <a:latin typeface="Calibri"/>
                <a:cs typeface="Calibri"/>
              </a:rPr>
              <a:t>Order</a:t>
            </a:r>
          </a:p>
          <a:p>
            <a:pPr algn="ctr">
              <a:lnSpc>
                <a:spcPct val="110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advance u</a:t>
            </a:r>
          </a:p>
          <a:p>
            <a:pPr algn="ctr">
              <a:lnSpc>
                <a:spcPct val="110000"/>
              </a:lnSpc>
            </a:pPr>
            <a:r>
              <a:rPr sz="950" b="0" i="1">
                <a:solidFill>
                  <a:srgbClr val="1B5FA8"/>
                </a:solidFill>
                <a:latin typeface="Calibri"/>
                <a:cs typeface="Calibri"/>
              </a:rPr>
              <a:t>one download / step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42616" y="2103120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NEML2FE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Interpolation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gather u, ∇u at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6B7688"/>
                </a:solidFill>
                <a:latin typeface="Calibri"/>
                <a:cs typeface="Calibri"/>
              </a:rPr>
              <a:t>all quad points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99483.75" y="2825496.0"/>
            <a:ext cx="347472.0" cy="0.0"/>
          </a:xfrm>
          <a:prstGeom prst="line">
            <a:avLst/>
          </a:prstGeom>
          <a:ln w="22225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465243" y="2103120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NEML2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SmallStrain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ε = sym ∇u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6B7688"/>
                </a:solidFill>
                <a:latin typeface="Calibri"/>
                <a:cs typeface="Calibri"/>
              </a:rPr>
              <a:t>whole batch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922111.5" y="2825496.0"/>
            <a:ext cx="347472.0" cy="0.0"/>
          </a:xfrm>
          <a:prstGeom prst="line">
            <a:avLst/>
          </a:prstGeom>
          <a:ln w="22225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287871" y="2103120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NEML2Model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Executor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σ = model(ε, state)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6B7688"/>
                </a:solidFill>
                <a:latin typeface="Calibri"/>
                <a:cs typeface="Calibri"/>
              </a:rPr>
              <a:t>one batched call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744739.25" y="2825496.0"/>
            <a:ext cx="347472.0" cy="0.0"/>
          </a:xfrm>
          <a:prstGeom prst="line">
            <a:avLst/>
          </a:prstGeom>
          <a:ln w="22225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110499" y="2103120"/>
            <a:ext cx="1438579" cy="144475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87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NEML2Stress</a:t>
            </a:r>
          </a:p>
          <a:p>
            <a:pPr algn="ctr">
              <a:lnSpc>
                <a:spcPct val="108000"/>
              </a:lnSpc>
            </a:pPr>
            <a:r>
              <a:rPr sz="1100" b="1" i="0">
                <a:solidFill>
                  <a:srgbClr val="16233B"/>
                </a:solidFill>
                <a:latin typeface="Consolas"/>
                <a:cs typeface="Consolas"/>
              </a:rPr>
              <a:t>Divergence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Rᵉ = Σ ∇φ·σ JxW</a:t>
            </a:r>
          </a:p>
          <a:p>
            <a:pPr algn="ctr">
              <a:lnSpc>
                <a:spcPct val="108000"/>
              </a:lnSpc>
            </a:pPr>
            <a:r>
              <a:rPr sz="1050" b="0" i="0">
                <a:solidFill>
                  <a:srgbClr val="6B7688"/>
                </a:solidFill>
                <a:latin typeface="Calibri"/>
                <a:cs typeface="Calibri"/>
              </a:rPr>
              <a:t>all elements at once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02536" y="2825496.0"/>
            <a:ext cx="621792" cy="0.0"/>
          </a:xfrm>
          <a:prstGeom prst="line">
            <a:avLst/>
          </a:prstGeom>
          <a:ln w="22225">
            <a:solidFill>
              <a:srgbClr val="1623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9567367" y="2825496.0"/>
            <a:ext cx="621792" cy="0.0"/>
          </a:xfrm>
          <a:prstGeom prst="line">
            <a:avLst/>
          </a:prstGeom>
          <a:ln w="22225">
            <a:solidFill>
              <a:srgbClr val="16233B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0916107.0" y="3566160"/>
            <a:ext cx="0.0" cy="1335024"/>
          </a:xfrm>
          <a:prstGeom prst="line">
            <a:avLst/>
          </a:prstGeom>
          <a:ln w="19050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275588.0" y="4901184"/>
            <a:ext cx="9640519.0" cy="0"/>
          </a:xfrm>
          <a:prstGeom prst="line">
            <a:avLst/>
          </a:prstGeom>
          <a:ln w="19050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275588.0" y="3584448"/>
            <a:ext cx="0.0" cy="1316736"/>
          </a:xfrm>
          <a:prstGeom prst="line">
            <a:avLst/>
          </a:prstGeom>
          <a:ln w="19050">
            <a:solidFill>
              <a:srgbClr val="1B5FA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632807" y="4974336"/>
            <a:ext cx="29260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1B5FA8"/>
                </a:solidFill>
                <a:latin typeface="Calibri"/>
                <a:cs typeface="Calibri"/>
              </a:rPr>
              <a:t>next explicit step (Δt ≈ 10 ns)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42616" y="3840480"/>
            <a:ext cx="6906463" cy="585216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25496" y="3840480"/>
            <a:ext cx="6540703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A4F"/>
                </a:solidFill>
                <a:latin typeface="Calibri"/>
                <a:cs typeface="Calibri"/>
              </a:rPr>
              <a:t>built once, cached on device:  </a:t>
            </a:r>
            <a:r>
              <a:rPr sz="1050" b="0" i="0">
                <a:solidFill>
                  <a:srgbClr val="333E4F"/>
                </a:solidFill>
                <a:latin typeface="Calibri"/>
                <a:cs typeface="Calibri"/>
              </a:rPr>
              <a:t>shape functions φ, ∇φ,  DOF maps,  quadrature weights JxW  — rebuilt only on mesh change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The interior force computation never touches an element loop: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a short sequence of batched tensor ops.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Constitutive state never leaves the device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563624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F8E9E7"/>
          </a:solidFill>
          <a:ln w="12700">
            <a:solidFill>
              <a:srgbClr val="A83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6733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A83A33"/>
                </a:solidFill>
                <a:latin typeface="Calibri"/>
                <a:cs typeface="Calibri"/>
              </a:rPr>
              <a:t>CONVENTIONAL COUPLING — state round-trips through MOOSE every step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084832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7688"/>
                </a:solidFill>
                <a:latin typeface="Calibri"/>
                <a:cs typeface="Calibri"/>
              </a:rPr>
              <a:t>HOST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7797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7688"/>
                </a:solidFill>
                <a:latin typeface="Calibri"/>
                <a:cs typeface="Calibri"/>
              </a:rPr>
              <a:t>DEVICE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92808" y="2587752"/>
            <a:ext cx="6766560" cy="0"/>
          </a:xfrm>
          <a:prstGeom prst="line">
            <a:avLst/>
          </a:prstGeom>
          <a:ln w="9525">
            <a:solidFill>
              <a:srgbClr val="A83A33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21408" y="1965960"/>
            <a:ext cx="26517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A83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state in MOOSE material properties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7648" y="1965960"/>
            <a:ext cx="237744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A83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age state:  old ← current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50208" y="2660904"/>
            <a:ext cx="310896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A83A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batched stress + state update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447288" y="2441448"/>
            <a:ext cx="1051560" cy="219456"/>
          </a:xfrm>
          <a:prstGeom prst="line">
            <a:avLst/>
          </a:prstGeom>
          <a:ln w="19050">
            <a:solidFill>
              <a:srgbClr val="A83A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6510528" y="2441448"/>
            <a:ext cx="731520" cy="457200"/>
          </a:xfrm>
          <a:prstGeom prst="line">
            <a:avLst/>
          </a:prstGeom>
          <a:ln w="19050">
            <a:solidFill>
              <a:srgbClr val="A83A33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887968" y="2130552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A83A33"/>
                </a:solidFill>
                <a:latin typeface="Calibri"/>
                <a:cs typeface="Calibri"/>
              </a:rPr>
              <a:t>state copied down and back up every step — scales with model complexity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3630168"/>
            <a:ext cx="11057839" cy="1755648"/>
          </a:xfrm>
          <a:prstGeom prst="roundRect">
            <a:avLst>
              <a:gd name="adj" fmla="val 5500"/>
            </a:avLst>
          </a:prstGeom>
          <a:solidFill>
            <a:srgbClr val="E4F2EA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739896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E7A4F"/>
                </a:solidFill>
                <a:latin typeface="Calibri"/>
                <a:cs typeface="Calibri"/>
              </a:rPr>
              <a:t>THIS WORK — state advances in place on the device  (manage_state_advance)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4151376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7688"/>
                </a:solidFill>
                <a:latin typeface="Calibri"/>
                <a:cs typeface="Calibri"/>
              </a:rPr>
              <a:t>HOST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4846320"/>
            <a:ext cx="1051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6B7688"/>
                </a:solidFill>
                <a:latin typeface="Calibri"/>
                <a:cs typeface="Calibri"/>
              </a:rPr>
              <a:t>DEVICE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892808" y="4654296"/>
            <a:ext cx="6766560" cy="0"/>
          </a:xfrm>
          <a:prstGeom prst="line">
            <a:avLst/>
          </a:prstGeom>
          <a:ln w="9525">
            <a:solidFill>
              <a:srgbClr val="1E7A4F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121408" y="4032504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solution 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27648" y="4032504"/>
            <a:ext cx="210312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0" i="0">
                <a:solidFill>
                  <a:srgbClr val="16233B"/>
                </a:solidFill>
                <a:latin typeface="Calibri"/>
                <a:cs typeface="Calibri"/>
              </a:rPr>
              <a:t>nodal forces F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75888" y="4727448"/>
            <a:ext cx="3657600" cy="47548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1E7A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050" b="1" i="0">
                <a:solidFill>
                  <a:srgbClr val="16233B"/>
                </a:solidFill>
                <a:latin typeface="Calibri"/>
                <a:cs typeface="Calibri"/>
              </a:rPr>
              <a:t>state (Eᵖ, εᵖ, T, ...) advances in place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172968" y="4507992"/>
            <a:ext cx="960120" cy="219456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6876288" y="4507992"/>
            <a:ext cx="502920" cy="219456"/>
          </a:xfrm>
          <a:prstGeom prst="line">
            <a:avLst/>
          </a:prstGeom>
          <a:ln w="19050">
            <a:solidFill>
              <a:srgbClr val="1E7A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8887968" y="4197096"/>
            <a:ext cx="23774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1E7A4F"/>
                </a:solidFill>
                <a:latin typeface="Calibri"/>
                <a:cs typeface="Calibri"/>
              </a:rPr>
              <a:t>per step: one solution upload, one force download — independent of model complexity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8" y="5614416"/>
            <a:ext cx="11057839" cy="658368"/>
          </a:xfrm>
          <a:prstGeom prst="roundRect">
            <a:avLst>
              <a:gd name="adj" fmla="val 5500"/>
            </a:avLst>
          </a:prstGeom>
          <a:solidFill>
            <a:srgbClr val="FAF1DE"/>
          </a:solidFill>
          <a:ln w="12700">
            <a:solidFill>
              <a:srgbClr val="8A5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5614416"/>
            <a:ext cx="10509199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6233B"/>
                </a:solidFill>
                <a:latin typeface="Calibri"/>
                <a:cs typeface="Calibri"/>
              </a:rPr>
              <a:t>The richer the model, the more this matters</a:t>
            </a:r>
            <a:r>
              <a:rPr sz="1500" b="0" i="0">
                <a:solidFill>
                  <a:srgbClr val="333E4F"/>
                </a:solidFill>
                <a:latin typeface="Calibri"/>
                <a:cs typeface="Calibri"/>
              </a:rPr>
              <a:t> — state stays where it is computed; traffic does not grow with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75488"/>
            <a:ext cx="11057839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6233B"/>
                </a:solidFill>
                <a:latin typeface="Calibri"/>
                <a:cs typeface="Calibri"/>
              </a:rPr>
              <a:t>The method, in one slide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1078992"/>
            <a:ext cx="777240" cy="0"/>
          </a:xfrm>
          <a:prstGeom prst="line">
            <a:avLst/>
          </a:prstGeom>
          <a:ln w="28575">
            <a:solidFill>
              <a:srgbClr val="1B5FA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66928" y="6473952"/>
            <a:ext cx="11057839" cy="0"/>
          </a:xfrm>
          <a:prstGeom prst="line">
            <a:avLst/>
          </a:prstGeom>
          <a:ln w="6350">
            <a:solidFill>
              <a:srgbClr val="ABB4C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66928" y="6528816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NEML2 × MOOSE — explicit dynamics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10367" y="6528816"/>
            <a:ext cx="914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0" i="0">
                <a:solidFill>
                  <a:srgbClr val="6B7688"/>
                </a:solidFill>
                <a:latin typeface="Calibri"/>
                <a:cs typeface="Calibri"/>
              </a:rP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609344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68096" y="1801368"/>
            <a:ext cx="420624" cy="420624"/>
          </a:xfrm>
          <a:prstGeom prst="roundRect">
            <a:avLst>
              <a:gd name="adj" fmla="val 5500"/>
            </a:avLst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cs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35608" y="1719072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Explicit runtime ≈ steps × material-update 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8" y="2066544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688"/>
                </a:solidFill>
                <a:latin typeface="Calibri"/>
                <a:cs typeface="Calibri"/>
              </a:rPr>
              <a:t>CFL fixes the step count; the constitutive update is the only lever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542032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68096" y="2734056"/>
            <a:ext cx="420624" cy="420624"/>
          </a:xfrm>
          <a:prstGeom prst="roundRect">
            <a:avLst>
              <a:gd name="adj" fmla="val 5500"/>
            </a:avLst>
          </a:prstGeom>
          <a:solidFill>
            <a:srgbClr val="1B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cs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35608" y="2651760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ExplicitMixedOrder advances mechanics + first-order fields, no solver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8" y="2999232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688"/>
                </a:solidFill>
                <a:latin typeface="Calibri"/>
                <a:cs typeface="Calibri"/>
              </a:rPr>
              <a:t>lumped mass, zero linear iterations; upstreamed to MOOSE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74720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68096" y="3666744"/>
            <a:ext cx="420624" cy="420624"/>
          </a:xfrm>
          <a:prstGeom prst="roundRect">
            <a:avLst>
              <a:gd name="adj" fmla="val 5500"/>
            </a:avLst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cs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35608" y="3584448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NEML2 assembles the internal nodal forces on the device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8" y="3931920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688"/>
                </a:solidFill>
                <a:latin typeface="Calibri"/>
                <a:cs typeface="Calibri"/>
              </a:rPr>
              <a:t>batched over all elements; state advances in place; one upload + one download per step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07408"/>
            <a:ext cx="11057839" cy="80467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9525">
            <a:solidFill>
              <a:srgbClr val="D9DF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68096" y="4599432"/>
            <a:ext cx="420624" cy="420624"/>
          </a:xfrm>
          <a:prstGeom prst="roundRect">
            <a:avLst>
              <a:gd name="adj" fmla="val 5500"/>
            </a:avLst>
          </a:prstGeom>
          <a:solidFill>
            <a:srgbClr val="1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  <a:cs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35608" y="4517136"/>
            <a:ext cx="986911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6233B"/>
                </a:solidFill>
                <a:latin typeface="Calibri"/>
                <a:cs typeface="Calibri"/>
              </a:rPr>
              <a:t>MOOSE keeps BCs, parallelism, outputs — unchanged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35608" y="4864608"/>
            <a:ext cx="98691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7688"/>
                </a:solidFill>
                <a:latin typeface="Calibri"/>
                <a:cs typeface="Calibri"/>
              </a:rPr>
              <a:t>and the path is verified to match conventional MOOSE assembly (CPU and CUDA test suite)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49824"/>
            <a:ext cx="11057839" cy="777240"/>
          </a:xfrm>
          <a:prstGeom prst="roundRect">
            <a:avLst>
              <a:gd name="adj" fmla="val 5500"/>
            </a:avLst>
          </a:prstGeom>
          <a:solidFill>
            <a:srgbClr val="E7EFF8"/>
          </a:solidFill>
          <a:ln w="12700">
            <a:solidFill>
              <a:srgbClr val="1B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" y="5449824"/>
            <a:ext cx="10509199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5FA8"/>
                </a:solidFill>
                <a:latin typeface="Calibri"/>
                <a:cs typeface="Calibri"/>
              </a:rPr>
              <a:t>Up next:  </a:t>
            </a:r>
            <a:r>
              <a:rPr sz="1500" b="0" i="0">
                <a:solidFill>
                  <a:srgbClr val="16233B"/>
                </a:solidFill>
                <a:latin typeface="Calibri"/>
                <a:cs typeface="Calibri"/>
              </a:rPr>
              <a:t>verification against MOOSE’s native J2 update  ·  3-D Taylor anvil impact  ·  coupled thermo-mechanics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
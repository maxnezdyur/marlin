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2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22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22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22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104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329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0.12  (H04 temper)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two recovered specimens (later in this talk)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NEML2Def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Gradient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 = I + ∂u/∂X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P = model(F,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∇φ·P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Speed against an implicit 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6128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same impact problem, about one million degrees of freedom, run for the same number of steps at the same timestep.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5300319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37944"/>
            <a:ext cx="54864" cy="152704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56232"/>
            <a:ext cx="4797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IMPLICIT TWIN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85416"/>
            <a:ext cx="4751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600"/>
              </a:spcAft>
              <a:buClr>
                <a:srgbClr val="CF1D4C"/>
              </a:buClr>
              <a:buFont typeface="Arial"/>
              <a:buChar char="•"/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Newmark-beta with the exact NEML2 tangent</a:t>
            </a:r>
          </a:p>
          <a:p>
            <a:pPr marL="219456" indent="-219456">
              <a:lnSpc>
                <a:spcPct val="106000"/>
              </a:lnSpc>
              <a:spcAft>
                <a:spcPts val="600"/>
              </a:spcAft>
              <a:buClr>
                <a:srgbClr val="CF1D4C"/>
              </a:buClr>
              <a:buFont typeface="Arial"/>
              <a:buChar char="•"/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Full integration with F-bar</a:t>
            </a:r>
          </a:p>
          <a:p>
            <a:pPr marL="219456" indent="-219456">
              <a:lnSpc>
                <a:spcPct val="106000"/>
              </a:lnSpc>
              <a:spcAft>
                <a:spcPts val="600"/>
              </a:spcAft>
              <a:buClr>
                <a:srgbClr val="CF1D4C"/>
              </a:buClr>
              <a:buFont typeface="Arial"/>
              <a:buChar char="•"/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MUMPS direct solve on 32 MPI ranks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709928"/>
            <a:ext cx="5300319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24447" y="1837944"/>
            <a:ext cx="54864" cy="152704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856232"/>
            <a:ext cx="4797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EXPLICIT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7055" y="2185416"/>
            <a:ext cx="475167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600"/>
              </a:spcAft>
              <a:buClr>
                <a:srgbClr val="5E8614"/>
              </a:buClr>
              <a:buFont typeface="Arial"/>
              <a:buChar char="•"/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Central difference, batched NEML2 force assembly</a:t>
            </a:r>
          </a:p>
          <a:p>
            <a:pPr marL="219456" indent="-219456">
              <a:lnSpc>
                <a:spcPct val="106000"/>
              </a:lnSpc>
              <a:spcAft>
                <a:spcPts val="600"/>
              </a:spcAft>
              <a:buClr>
                <a:srgbClr val="5E8614"/>
              </a:buClr>
              <a:buFont typeface="Arial"/>
              <a:buChar char="•"/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Reduced integration with hourglass control</a:t>
            </a:r>
          </a:p>
          <a:p>
            <a:pPr marL="219456" indent="-219456">
              <a:lnSpc>
                <a:spcPct val="106000"/>
              </a:lnSpc>
              <a:spcAft>
                <a:spcPts val="600"/>
              </a:spcAft>
              <a:buClr>
                <a:srgbClr val="5E8614"/>
              </a:buClr>
              <a:buFont typeface="Arial"/>
              <a:buChar char="•"/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One CPU core and one GPU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767328"/>
            <a:ext cx="29260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5E8614"/>
                </a:solidFill>
                <a:latin typeface="Arial"/>
                <a:cs typeface="Arial"/>
              </a:rPr>
              <a:t>45×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67328"/>
            <a:ext cx="7400239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faster with the explicit path on one CPU core and one GPU than the implicit twin on 32 CPU cores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065776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hardware: Intel Xeon Platinum 8592+ CPU cores, NVIDIA L4 GPU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Each implicit step pays Newton iterations, a global Jacobian, and a distributed direct solve.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explicit step is one batched residual.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the experiment  ·  Taylor impact simulation  ·  calibration against the scanned specimen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71600"/>
            <a:ext cx="7223760" cy="4063365"/>
          </a:xfrm>
          <a:prstGeom prst="roundRect">
            <a:avLst>
              <a:gd name="adj" fmla="val 55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00362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Arial"/>
                <a:cs typeface="Arial"/>
              </a:rPr>
              <a:t>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40442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B6BABF"/>
                </a:solidFill>
                <a:latin typeface="Arial"/>
                <a:cs typeface="Arial"/>
              </a:rPr>
              <a:t>high-speed video placeholder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508117"/>
            <a:ext cx="7223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impact and rebound of shot CuH04, high-speed camera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137160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47888" y="146304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7344" y="146304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Specimen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175564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OFHC copper slug, Ø 7.62 mm × 38.1 mm, H04 full-hard temper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41401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47888" y="250545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50545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79806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235.9 m/s impact against a rigid anvil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7888" y="345643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354787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54787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Recovered geometry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384047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laser-scanned to a 46k-triangle surface mesh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449884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459028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459028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Role in this talk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488289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the scan is the calibration and validation target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simulated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22</a:t>
            </a:r>
          </a:p>
        </p:txBody>
      </p:sp>
      <p:pic>
        <p:nvPicPr>
          <p:cNvPr id="4" name="slug_impact_horizont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66928" y="1709928"/>
            <a:ext cx="5300319" cy="29814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perspective view</a:t>
            </a:r>
          </a:p>
        </p:txBody>
      </p:sp>
      <p:pic>
        <p:nvPicPr>
          <p:cNvPr id="6" name="slug_impact_sid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324447" y="1709928"/>
            <a:ext cx="5300319" cy="2981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70167" y="4764509"/>
            <a:ext cx="5300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side profile, the high-speed camera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94277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Calibrated model, run to rebound at 96.7 µs. Color is effective plastic strain.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Two shots, 235.9 and 132.3 m/s, are fit jointly.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lognormal, ×/÷ 2 at 90% around literature values. n ∈ [0.1, 0.5], C ∈ [0.01, 0.05], ε₀ᵖ ∈ [0.1, 0.5] uniform. Discrepancy half-normal (0.15 mm).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 per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and velocity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675888"/>
            <a:ext cx="4212640" cy="274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4944" y="422452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636008"/>
            <a:ext cx="4184142" cy="323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" y="521208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radius, per shot</a:t>
            </a:r>
          </a:p>
        </p:txBody>
      </p:sp>
      <p:pic>
        <p:nvPicPr>
          <p:cNvPr id="28" name="Picture 27" descr="fig_pri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087" y="3447288"/>
            <a:ext cx="4297680" cy="260930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the first 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21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jointly calibrated model at the first shot velocity of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77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32304"/>
            <a:ext cx="31025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final length 22.96 mm vs 22.41 ± 0.44 scanned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second 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same parameter set, run at the second shot velocity of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132.3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5" name="Picture 4" descr="fig_predict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65376"/>
            <a:ext cx="50292" cy="115214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83664"/>
            <a:ext cx="31025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E8614"/>
                </a:solidFill>
                <a:latin typeface="Arial"/>
                <a:cs typeface="Arial"/>
              </a:rPr>
              <a:t>74 µm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414016"/>
            <a:ext cx="3102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at a velocity 44% below the first shot, and a much lower strain range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3328416"/>
            <a:ext cx="3559759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3438144"/>
            <a:ext cx="50292" cy="124358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3438144"/>
            <a:ext cx="31025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Why two velocities matter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785616"/>
            <a:ext cx="31025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One shot cannot separate rate sensitivity from strain hardening. The second velocity resolves the trade-off and pulls every parameter to the interior of its prior.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
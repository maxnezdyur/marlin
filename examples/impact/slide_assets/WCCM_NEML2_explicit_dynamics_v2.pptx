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8"/>
  </p:notesMasterIdLst>
  <p:sldIdLst>
    <p:sldId id="256" r:id="rId7"/>
    <p:sldId id="257" r:id="rId6"/>
    <p:sldId id="258" r:id="rId5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6"/>
    <p:restoredTop sz="94694"/>
  </p:normalViewPr>
  <p:slideViewPr>
    <p:cSldViewPr snapToGrid="0" snapToObjects="1">
      <p:cViewPr varScale="1">
        <p:scale>
          <a:sx n="124" d="100"/>
          <a:sy n="124" d="100"/>
        </p:scale>
        <p:origin x="120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3.xml"/><Relationship Id="rId6" Type="http://schemas.openxmlformats.org/officeDocument/2006/relationships/slide" Target="slides/slide2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nl_wordmark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title</a:t>
            </a:r>
          </a:p>
          <a:p>
            <a:pPr lvl="1"/>
            <a:r>
              <a:rPr lang="en-US" dirty="0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endParaRPr lang="en-US" dirty="0"/>
          </a:p>
          <a:p>
            <a:pPr lvl="2"/>
            <a:r>
              <a:rPr lang="en-US" dirty="0"/>
              <a:t>Date</a:t>
            </a:r>
          </a:p>
          <a:p>
            <a:pPr lvl="2"/>
            <a:endParaRPr lang="en-US" dirty="0"/>
          </a:p>
          <a:p>
            <a:pPr lvl="0"/>
            <a:r>
              <a:rPr lang="en-US" dirty="0"/>
              <a:t>Presenter name</a:t>
            </a:r>
          </a:p>
          <a:p>
            <a:pPr lvl="2"/>
            <a:r>
              <a:rPr lang="en-US" dirty="0"/>
              <a:t>Title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 dirty="0"/>
              <a:t>Click photo icon below to insert picture</a:t>
            </a:r>
            <a:br>
              <a:rPr lang="en-US" dirty="0"/>
            </a:br>
            <a:r>
              <a:rPr lang="en-US" dirty="0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/>
              <a:t>Click to edit title</a:t>
            </a:r>
            <a:br>
              <a:rPr lang="en-US" dirty="0"/>
            </a:br>
            <a:r>
              <a:rPr lang="en-US" dirty="0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7/18/22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 dirty="0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 dirty="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nl_wordmark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 dirty="0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 dirty="0"/>
              <a:t>Click to edit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7/18/22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GPU-resident material models for explicit dynamics in MOOSE</a:t>
            </a:r>
          </a:p>
          <a:p>
            <a:r>
              <a:rPr sz="1800" b="0">
                <a:solidFill>
                  <a:srgbClr val="2CA8E1"/>
                </a:solidFill>
              </a:rPr>
              <a:t>A NEML2 nodal-force interface for high-rate solid mechanics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ext cx="3840480" cy="0"/>
          </a:xfrm>
        </p:spPr>
        <p:txBody>
          <a:bodyPr/>
          <a:lstStyle/>
          <a:p>
            <a:r>
              <a:t>WCCM 2026</a:t>
            </a:r>
          </a:p>
          <a:p>
            <a:r>
              <a:t>Author Name &amp; Co-authors</a:t>
            </a:r>
          </a:p>
          <a:p>
            <a:r>
              <a:t>Idaho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Advanced reactors bring dynamic-loading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2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These events are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wave-dominated and fast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Predictive fidelity requires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modern constitutive models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06509D"/>
              </a:buClr>
              <a:buFont typeface="Arial"/>
              <a:buChar char="•"/>
            </a:pP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Simulating them means </a:t>
            </a:r>
            <a:r>
              <a:rPr sz="1650" b="1" i="0">
                <a:solidFill>
                  <a:srgbClr val="3A3F47"/>
                </a:solidFill>
                <a:latin typeface="Arial"/>
                <a:cs typeface="Arial"/>
              </a:rPr>
              <a:t>explicit time integration</a:t>
            </a:r>
            <a:r>
              <a:rPr sz="1650" b="0" i="0">
                <a:solidFill>
                  <a:srgbClr val="3A3F47"/>
                </a:solidFill>
                <a:latin typeface="Arial"/>
                <a:cs typeface="Arial"/>
              </a:rPr>
              <a:t> with a material-model evaluation at every quadrature point, every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0" y="1408176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TIMESCALES OF AN IMPACT EVENT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0" y="186537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08976" y="186537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event duration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687" y="186537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~100 µs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660904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660904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wave transit through part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660904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~1–10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345643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345643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stable explicit step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345643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CF1D4C"/>
                </a:solidFill>
                <a:latin typeface="Arial"/>
                <a:cs typeface="Arial"/>
              </a:rPr>
              <a:t>~10 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425196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425196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⇒  steps to simulate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425196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1E2430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Many steps × expensive material updates: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Two mature ecosystems — and a gap between them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3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06509D"/>
                </a:solidFill>
                <a:latin typeface="Arial"/>
                <a:cs typeface="Arial"/>
              </a:rPr>
              <a:t>MULTIPHYSICS FE FRAMEWORKS (MOOSE)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Coupled-physics machinery, in-situ output, meshing, restart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materials evaluated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point-by-point on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inside the element loop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81647" y="1207008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55967" y="1408176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5E8614"/>
                </a:solidFill>
                <a:latin typeface="Arial"/>
                <a:cs typeface="Arial"/>
              </a:rPr>
              <a:t>MODERN MATERIAL LIBRARIES (NEML2)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74255" y="1892808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Batched tensor evaluation on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GPU or CPU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But: no mesh, no boundary conditions, no solver —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not a simulation 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10047" y="202996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CF1D4C"/>
                </a:solidFill>
                <a:latin typeface="Arial"/>
                <a:cs typeface="Arial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28335" y="2596896"/>
            <a:ext cx="1335024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CF1D4C"/>
                </a:solidFill>
                <a:latin typeface="Arial"/>
                <a:cs typeface="Arial"/>
              </a:rPr>
              <a:t>per-step copies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53128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53128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06509D"/>
                </a:solidFill>
                <a:latin typeface="Arial"/>
                <a:cs typeface="Arial"/>
              </a:rPr>
              <a:t>This talk: </a:t>
            </a:r>
            <a:r>
              <a:rPr sz="1600" b="0" i="0">
                <a:solidFill>
                  <a:srgbClr val="1E2430"/>
                </a:solidFill>
                <a:latin typeface="Arial"/>
                <a:cs typeface="Arial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Governing equations of explicit solid dynamics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4 / 19</a:t>
            </a:r>
          </a:p>
        </p:txBody>
      </p:sp>
      <p:pic>
        <p:nvPicPr>
          <p:cNvPr id="4" name="Picture 3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389888"/>
            <a:ext cx="2574188" cy="277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790688" y="1353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balance of linear momentum</a:t>
            </a:r>
          </a:p>
        </p:txBody>
      </p:sp>
      <p:pic>
        <p:nvPicPr>
          <p:cNvPr id="6" name="Picture 5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77440"/>
            <a:ext cx="6445605" cy="3706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90688" y="2340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weak form: multiply by test function, integrate by parts</a:t>
            </a:r>
          </a:p>
        </p:txBody>
      </p:sp>
      <p:pic>
        <p:nvPicPr>
          <p:cNvPr id="8" name="Picture 7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364992"/>
            <a:ext cx="2484424" cy="33009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90688" y="3328416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discretize in space: semi-discrete momentum equation</a:t>
            </a:r>
          </a:p>
        </p:txBody>
      </p:sp>
      <p:pic>
        <p:nvPicPr>
          <p:cNvPr id="10" name="Picture 9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352544"/>
            <a:ext cx="6405067" cy="3793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90688" y="431596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A3F47"/>
                </a:solidFill>
                <a:latin typeface="Arial"/>
                <a:cs typeface="Arial"/>
              </a:rPr>
              <a:t>internal force: assembled from quadrature-point stress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Everything above is standard.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physics of the material lives in one place — the stress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σ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Explicit time integration: ExplicitMixedOrder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Central difference, as implemented in our </a:t>
            </a:r>
            <a:r>
              <a:rPr sz="1350" b="1" i="0">
                <a:solidFill>
                  <a:srgbClr val="3A3F47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MOOSE integrator</a:t>
            </a:r>
          </a:p>
        </p:txBody>
      </p:sp>
      <p:pic>
        <p:nvPicPr>
          <p:cNvPr id="5" name="Picture 4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82496"/>
            <a:ext cx="2372868" cy="342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910328" y="1755648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pointwise divide — no solver</a:t>
            </a:r>
          </a:p>
        </p:txBody>
      </p:sp>
      <p:pic>
        <p:nvPicPr>
          <p:cNvPr id="7" name="Picture 6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15184"/>
            <a:ext cx="2984601" cy="4059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10328" y="2688336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variable-Δt midpoint velocity update</a:t>
            </a:r>
          </a:p>
        </p:txBody>
      </p:sp>
      <p:pic>
        <p:nvPicPr>
          <p:cNvPr id="9" name="Picture 8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547872"/>
            <a:ext cx="2438704" cy="35112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910328" y="362102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displacement update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590288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No Newton iterations, no global linear solve, no Jacobian — </a:t>
            </a:r>
            <a:r>
              <a:rPr sz="1400" b="1" i="0">
                <a:solidFill>
                  <a:srgbClr val="1E2430"/>
                </a:solidFill>
                <a:latin typeface="Arial"/>
                <a:cs typeface="Arial"/>
              </a:rPr>
              <a:t>each step is one residual evaluation plus vector updates.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26096" y="1207008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389888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WHY “MIXED ORDER”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82128" y="1773936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Second-order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First-order fields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(e.g. temperature): forward Euler on the rate — same update loop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863840" y="3145536"/>
            <a:ext cx="3523183" cy="0"/>
          </a:xfrm>
          <a:prstGeom prst="line">
            <a:avLst/>
          </a:prstGeom>
          <a:ln w="63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7882128" y="3328416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One integrator advances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coupled thermo-mechanical system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explicitly — the multiphysics lever used later in this talk.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Developed for this work and upstreamed: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Stability sets the step; the material sets the 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Conditional stability (CFL): the step must resolve the fastest stress wave</a:t>
            </a:r>
          </a:p>
        </p:txBody>
      </p:sp>
      <p:pic>
        <p:nvPicPr>
          <p:cNvPr id="5" name="Picture 4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18488"/>
            <a:ext cx="4116324" cy="5582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" y="2322576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9595C"/>
                </a:solidFill>
                <a:latin typeface="Arial"/>
                <a:cs typeface="Arial"/>
              </a:rPr>
              <a:t>element length over elastic wave speed (dilatational speed in 3-D)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898648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Millimeter elements: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Δt ≈ 10 ns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 ⇒ 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4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–10</a:t>
            </a:r>
            <a:r>
              <a:rPr sz="1500" b="1" i="0" baseline="30000">
                <a:solidFill>
                  <a:srgbClr val="3A3F47"/>
                </a:solidFill>
                <a:latin typeface="Arial"/>
                <a:cs typeface="Arial"/>
              </a:rPr>
              <a:t>5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Each step: no solve — the runtime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residual, and the residual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is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207008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71232" y="1389888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ANATOMY OF ONE EXPLICIT STEP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7808" y="1773936"/>
            <a:ext cx="457200" cy="160020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2427732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constitutive update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   dominant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607808" y="3483864"/>
            <a:ext cx="457200" cy="594360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3634740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force assembly + scatter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7607808" y="4187952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424738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time advance, BCs, output</a:t>
            </a: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07808" y="4818888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schematic; plasticity dominates the step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Explicit runtime  ≈  steps × material-update cost.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step count is physics; the material cost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MOOSE: the multiphysics host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Open-source multiphysics FE framework (Idaho National Laboratory) —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we keep all of this for free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Boundary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full BC library, incl. the penalty and pressure BCs used in this 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4794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74794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03394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Contact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03394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mortar and node-face algorithms — architecture-compatible with this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2660" y="1773936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2660" y="1883664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1260" y="1920240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Parallel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1260" y="2304288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MPI domain decomposition, scalable assembly and solves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66928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Coupled physics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8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heat conduction, neutronics, porous flow, ... in one input file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4794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4794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03394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Meshing &amp; output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03394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mesh generators, adaptivity, in-situ Exodus/CSV output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2660" y="3438144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182660" y="3547872"/>
            <a:ext cx="50292" cy="115214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1260" y="3584448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Ecosystem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1260" y="3968496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A3F47"/>
                </a:solidFill>
                <a:latin typeface="Arial"/>
                <a:cs typeface="Arial"/>
              </a:rPr>
              <a:t>NQA-1 quality assurance; large application family (BISON, Grizzly, ...)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Everything in a high-rate simulation that is </a:t>
            </a:r>
            <a:r>
              <a:rPr sz="1500" b="0" i="1">
                <a:solidFill>
                  <a:srgbClr val="3A3F47"/>
                </a:solidFill>
                <a:latin typeface="Arial"/>
                <a:cs typeface="Arial"/>
              </a:rPr>
              <a:t>not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NEML2: the material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A3F47"/>
                </a:solidFill>
                <a:latin typeface="Arial"/>
                <a:cs typeface="Arial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composable tensor programs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773936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901952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9595C"/>
                </a:solidFill>
                <a:latin typeface="Arial"/>
                <a:cs typeface="Arial"/>
              </a:rPr>
              <a:t>A MODEL = SMALL OPERATORS, COMPOSED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elasticity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993392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flow rule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953512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63824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hardening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23944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334256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sensitivity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94376" y="2674620"/>
            <a:ext cx="182880" cy="0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04688" y="2286000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</a:t>
            </a:r>
          </a:p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update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00400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declared in an input file; exact derivatives by automatic differentiation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22776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Batched: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all quadrature points evaluated in </a:t>
            </a: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Device-portable: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400" b="1" i="0">
                <a:solidFill>
                  <a:srgbClr val="3A3F47"/>
                </a:solidFill>
                <a:latin typeface="Arial"/>
                <a:cs typeface="Arial"/>
              </a:rPr>
              <a:t>NEML2 library benchmark:</a:t>
            </a:r>
            <a:r>
              <a:rPr sz="1400" b="0" i="0">
                <a:solidFill>
                  <a:srgbClr val="3A3F47"/>
                </a:solidFill>
                <a:latin typeface="Arial"/>
                <a:cs typeface="Arial"/>
              </a:rPr>
              <a:t> 42,500 s (NEML, CPU) → 68 s on one GPU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50608" y="1773936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8352" y="1929384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ONE CALL, ALL POINTS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706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8364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021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6792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368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29944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6520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030968" y="234086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706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364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021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6792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3368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29944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6520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030968" y="270662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4706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8364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021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6792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3368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29944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966520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030968" y="3072384"/>
            <a:ext cx="310896" cy="310896"/>
          </a:xfrm>
          <a:prstGeom prst="rect">
            <a:avLst/>
          </a:prstGeom>
          <a:solidFill>
            <a:srgbClr val="EFF6DF"/>
          </a:solidFill>
          <a:ln w="635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470648" y="3575304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E2430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59595C"/>
                </a:solidFill>
                <a:latin typeface="Arial"/>
                <a:cs typeface="Arial"/>
              </a:rPr>
              <a:t>   over the whole batch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032504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A3F47"/>
                </a:solidFill>
                <a:latin typeface="Arial"/>
                <a:cs typeface="Arial"/>
              </a:rPr>
              <a:t>GPUs want exactly this shape of work: wide, uniform, no per-point branching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What we built: two pillars, one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5875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ExplicitMixedOrder integrator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Explicit central-difference integrator with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mixed-order multiphysics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Lumped mass via matrix tag —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06509D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Upstreamed to MOOSE </a:t>
            </a:r>
            <a:r>
              <a:rPr sz="1250" b="0" i="0">
                <a:solidFill>
                  <a:srgbClr val="3A3F47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4447" y="1207008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80479" y="1444752"/>
            <a:ext cx="457200" cy="457200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93127" y="1481328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E2430"/>
                </a:solidFill>
                <a:latin typeface="Arial"/>
                <a:cs typeface="Arial"/>
              </a:rPr>
              <a:t>NEML2 nodal-force interface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98767" y="2075688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NEML2 computes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internal nodal forces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Constitutive state lives on the device and </a:t>
            </a:r>
            <a:r>
              <a:rPr sz="1300" b="1" i="0">
                <a:solidFill>
                  <a:srgbClr val="3A3F47"/>
                </a:solidFill>
                <a:latin typeface="Arial"/>
                <a:cs typeface="Arial"/>
              </a:rPr>
              <a:t>advances in place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5E8614"/>
              </a:buClr>
              <a:buFont typeface="Arial"/>
              <a:buChar char="•"/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Plugs into the explicit solve as a residual contribution — MOOSE BCs, outputs, MPI unchanged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3308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13308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9595C"/>
                </a:solidFill>
                <a:latin typeface="Arial"/>
                <a:cs typeface="Arial"/>
              </a:rPr>
              <a:t>Foundation, unchanged:  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MOOSE boundary conditions  ·  parallel domain decomposition  ·  meshing &amp; output  ·  contact (architecture-compatible)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All of it is open source in the MOOSE framework and solid-mechanics module;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One explicit step through the NEML2 force path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10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68296" y="1371600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551176" y="1463040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DEVICE (libTorch)  —  same code on CPU / CUDA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upload / step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207447" y="1773936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ExplicitMixed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E2430"/>
                </a:solidFill>
                <a:latin typeface="Arial"/>
                <a:cs typeface="Arial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06509D"/>
                </a:solidFill>
                <a:latin typeface="Arial"/>
                <a:cs typeface="Arial"/>
              </a:rPr>
              <a:t>one download /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42616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quad points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99483.7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465243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whole batch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22111.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287871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one batched call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744739.25" y="2514600.0"/>
            <a:ext cx="347472.0" cy="0.0"/>
          </a:xfrm>
          <a:prstGeom prst="line">
            <a:avLst/>
          </a:prstGeom>
          <a:ln w="22225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10499" y="1792224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E2430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all elements at once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02536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567367" y="2514600.0"/>
            <a:ext cx="621792" cy="0.0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16107.0" y="3255264"/>
            <a:ext cx="0.0" cy="1335024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275588.0" y="4590288"/>
            <a:ext cx="9640519.0" cy="0"/>
          </a:xfrm>
          <a:prstGeom prst="line">
            <a:avLst/>
          </a:prstGeom>
          <a:ln w="19050">
            <a:solidFill>
              <a:srgbClr val="06509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1275588.0" y="3273552"/>
            <a:ext cx="0.0" cy="1316736"/>
          </a:xfrm>
          <a:prstGeom prst="line">
            <a:avLst/>
          </a:prstGeom>
          <a:ln w="19050">
            <a:solidFill>
              <a:srgbClr val="06509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32807" y="4663440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06509D"/>
                </a:solidFill>
                <a:latin typeface="Arial"/>
                <a:cs typeface="Arial"/>
              </a:rPr>
              <a:t>next explicit step (Δt ≈ 10 ns)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42616" y="3529584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25496" y="3529584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E8614"/>
                </a:solidFill>
                <a:latin typeface="Arial"/>
                <a:cs typeface="Arial"/>
              </a:rPr>
              <a:t>built once, cached on device:  </a:t>
            </a:r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shape functions φ, ∇φ,  DOF maps,  weights JxW — rebuilt only on mesh change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interior force computation never touches an element loop: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Constitutive state never leaves the device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11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5272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1362456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CONVENTIONAL COUPLING — state round-trips through MOOSE every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7393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92808" y="2276856"/>
            <a:ext cx="6766560" cy="0"/>
          </a:xfrm>
          <a:prstGeom prst="line">
            <a:avLst/>
          </a:prstGeom>
          <a:ln w="9525">
            <a:solidFill>
              <a:srgbClr val="CF1D4C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21408" y="1655064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state in MOOSE material properties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7648" y="1655064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age state:  old ← current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950208" y="2350008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batched stress + state update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447288" y="2130552"/>
            <a:ext cx="105156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6784848" y="2130552"/>
            <a:ext cx="457200" cy="219456"/>
          </a:xfrm>
          <a:prstGeom prst="line">
            <a:avLst/>
          </a:prstGeom>
          <a:ln w="19050">
            <a:solidFill>
              <a:srgbClr val="CF1D4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842248" y="1819656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CF1D4C"/>
                </a:solidFill>
                <a:latin typeface="Arial"/>
                <a:cs typeface="Arial"/>
              </a:rPr>
              <a:t>state copied down and back up every step — scales with model complexity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319272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429000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THIS WORK — state advances in place on the device  (manage_state_advance)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84048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HOST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4535424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59595C"/>
                </a:solidFill>
                <a:latin typeface="Arial"/>
                <a:cs typeface="Arial"/>
              </a:rPr>
              <a:t>DEVICE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892808" y="4343400"/>
            <a:ext cx="6766560" cy="0"/>
          </a:xfrm>
          <a:prstGeom prst="line">
            <a:avLst/>
          </a:prstGeom>
          <a:ln w="9525">
            <a:solidFill>
              <a:srgbClr val="5E861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12140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solution 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3721608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E2430"/>
                </a:solidFill>
                <a:latin typeface="Arial"/>
                <a:cs typeface="Arial"/>
              </a:rPr>
              <a:t>nodal forces 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75888" y="4416552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E2430"/>
                </a:solidFill>
                <a:latin typeface="Arial"/>
                <a:cs typeface="Arial"/>
              </a:rPr>
              <a:t>state (Eᵖ, εᵖ, T, ...) advances in place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72968" y="4197096"/>
            <a:ext cx="9601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876288" y="4197096"/>
            <a:ext cx="502920" cy="219456"/>
          </a:xfrm>
          <a:prstGeom prst="line">
            <a:avLst/>
          </a:prstGeom>
          <a:ln w="19050">
            <a:solidFill>
              <a:srgbClr val="5E8614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842248" y="3886200"/>
            <a:ext cx="25603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E8614"/>
                </a:solidFill>
                <a:latin typeface="Arial"/>
                <a:cs typeface="Arial"/>
              </a:rPr>
              <a:t>per step: one solution upload, one force download — independent of model complexity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richer the model, the more this matters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method, in one slide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12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49047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0817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 runtime ≈ steps × material-update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5564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CFL fixes the step count; the constitutive update is the only lever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31136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231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4086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ExplicitMixedOrder advances mechanics + first-order fields, no solver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6883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lumped mass, zero linear iterations; upstreamed to MOOSE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6382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35584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27355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on the device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62102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 over all elements; state advances in place; one upload + one download per step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9651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28853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20624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MOOSE keeps BCs, parallelism, outputs — unchanged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5371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and the path is verified to match conventional MOOSE assembly (CPU and CUDA test suite)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38928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138928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6509D"/>
                </a:solidFill>
                <a:latin typeface="Arial"/>
                <a:cs typeface="Arial"/>
              </a:rPr>
              <a:t>Up next:  </a:t>
            </a:r>
            <a:r>
              <a:rPr sz="1500" b="0" i="0">
                <a:solidFill>
                  <a:srgbClr val="1E2430"/>
                </a:solidFill>
                <a:latin typeface="Arial"/>
                <a:cs typeface="Arial"/>
              </a:rPr>
              <a:t>verification across formulations  ·  reduced integration  ·  Taylor impact &amp; thermo-mechanics  ·  calibration against a scanned specimen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The interface adds no error — in any formulation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13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Matched pairs: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the same model through both force paths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same mesh, same steps; only the assembly differs. Each pair exodiffs against one shared gold.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8249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72821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2-D small strain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98424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NEML2 J2 vs MOOSE native radial return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53328" y="168249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304288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50008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small strain, thermal JC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606040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force path vs conventional NEML2 coupling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53328" y="2304288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2926080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2971800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total-Lagrangian JC (PK1)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3227832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large deformation on the reference mesh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2926080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47872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359359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JC  (F = FᵉFᵖ)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849624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finite-strain plasticity, identity-seeded Fᵖ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53328" y="3547872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169664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" y="4215384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RZ multiplicative + F-bar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6384" y="447141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batched volumetric stabilization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53328" y="4169664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791456"/>
            <a:ext cx="6537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4837176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β = 0 thermal ≡ isothermal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5093208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9595C"/>
                </a:solidFill>
                <a:latin typeface="Arial"/>
                <a:cs typeface="Arial"/>
              </a:rPr>
              <a:t>in-model heating identity to 10⁻¹⁵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53328" y="4791456"/>
            <a:ext cx="8686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5E8614"/>
                </a:solidFill>
                <a:latin typeface="Arial"/>
                <a:cs typeface="Arial"/>
              </a:rPr>
              <a:t>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16368" y="1682496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516368" y="1810512"/>
            <a:ext cx="54864" cy="111556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08976" y="1828800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06509D"/>
                </a:solidFill>
                <a:latin typeface="Arial"/>
                <a:cs typeface="Arial"/>
              </a:rPr>
              <a:t>≤ 3 × 10</a:t>
            </a:r>
            <a:r>
              <a:rPr sz="2600" b="1" i="0" baseline="30000">
                <a:solidFill>
                  <a:srgbClr val="06509D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2578608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nodal-force difference (rel. to peak)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16368" y="3200400"/>
            <a:ext cx="4108399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16368" y="3328416"/>
            <a:ext cx="54864" cy="111556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808976" y="3346704"/>
            <a:ext cx="365119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5E8614"/>
                </a:solidFill>
                <a:latin typeface="Arial"/>
                <a:cs typeface="Arial"/>
              </a:rPr>
              <a:t>≤ 8 × 10</a:t>
            </a:r>
            <a:r>
              <a:rPr sz="2600" b="1" i="0" baseline="30000">
                <a:solidFill>
                  <a:srgbClr val="5E8614"/>
                </a:solidFill>
                <a:latin typeface="Arial"/>
                <a:cs typeface="Arial"/>
              </a:rPr>
              <a:t>−8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27264" y="4096512"/>
            <a:ext cx="36054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A3F47"/>
                </a:solidFill>
                <a:latin typeface="Arial"/>
                <a:cs typeface="Arial"/>
              </a:rPr>
              <a:t>max relative displacement difference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62088" y="4764024"/>
            <a:ext cx="4016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6,000× tighter</a:t>
            </a: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 than the regression tolerance — floating-point noise territory.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Six matched pairs, one rule: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batched force path reproduces conventional assembly to machine precision — small strain through finite-strain plasticity, Cartesian and axisymmetric.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Reduced integration: one point per element, stabilized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14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44168"/>
            <a:ext cx="66751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Full integration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locks volumetrically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under large plastic flow — the batched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F-bar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correction fixes it (verified to machine precision, previous slide)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The production choice instead: </a:t>
            </a:r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one-point quadrature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locking-free by construction and much cheaper per step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Underintegration admits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hourglass modes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→ stabilized by a batched Flanagan–Belytschko correction (QUAD4 + HEX8): remove the least-squares affine part of the element displacement, penalize the rest</a:t>
            </a:r>
          </a:p>
          <a:p>
            <a:pPr marL="219456" indent="-219456">
              <a:lnSpc>
                <a:spcPct val="106000"/>
              </a:lnSpc>
              <a:spcAft>
                <a:spcPts val="1500"/>
              </a:spcAft>
              <a:buClr>
                <a:srgbClr val="06509D"/>
              </a:buClr>
              <a:buFont typeface="Arial"/>
              <a:buChar char="•"/>
            </a:pP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Penalty scale  c = 0.05 · μ · V/h²  uses the </a:t>
            </a:r>
            <a:r>
              <a:rPr sz="1500" b="1" i="0">
                <a:solidFill>
                  <a:srgbClr val="3A3F47"/>
                </a:solidFill>
                <a:latin typeface="Arial"/>
                <a:cs typeface="Arial"/>
              </a:rPr>
              <a:t>physical shear modulus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— the classic coefficient, not a tunable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99248" y="1207008"/>
            <a:ext cx="3925519" cy="1828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99248" y="1344168"/>
            <a:ext cx="54864" cy="1554480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19288" y="1408176"/>
            <a:ext cx="33768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0" b="1" i="0">
                <a:solidFill>
                  <a:srgbClr val="06509D"/>
                </a:solidFill>
                <a:latin typeface="Arial"/>
                <a:cs typeface="Arial"/>
              </a:rPr>
              <a:t>2.6×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37576" y="2395728"/>
            <a:ext cx="33311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faster per explicit step than full integration, same mesh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99248" y="3310128"/>
            <a:ext cx="3925519" cy="1874519"/>
          </a:xfrm>
          <a:prstGeom prst="roundRect">
            <a:avLst>
              <a:gd name="adj" fmla="val 5500"/>
            </a:avLst>
          </a:prstGeom>
          <a:solidFill>
            <a:srgbClr val="EFF6DF"/>
          </a:solidFill>
          <a:ln w="12700">
            <a:solidFill>
              <a:srgbClr val="5E861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36992" y="3474720"/>
            <a:ext cx="345003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5E8614"/>
                </a:solidFill>
                <a:latin typeface="Arial"/>
                <a:cs typeface="Arial"/>
              </a:rPr>
              <a:t>NOT A TUNING KNOB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0" y="3813048"/>
            <a:ext cx="341345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Final profiles insensitive to the hourglass penalty over a </a:t>
            </a:r>
            <a:r>
              <a:rPr sz="1300" b="1" i="0">
                <a:solidFill>
                  <a:srgbClr val="1E2430"/>
                </a:solidFill>
                <a:latin typeface="Arial"/>
                <a:cs typeface="Arial"/>
              </a:rPr>
              <a:t>4× range</a:t>
            </a:r>
            <a:r>
              <a:rPr sz="1300" b="0" i="0">
                <a:solidFill>
                  <a:srgbClr val="3A3F47"/>
                </a:solidFill>
                <a:latin typeface="Arial"/>
                <a:cs typeface="Arial"/>
              </a:rPr>
              <a:t> — the physics does not hide in the stabilization.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Every production run in the rest of this talk uses reduced integration + batched hourglass control.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After the first step, the element loop is empty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15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6035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Instrumented the FE element loop of the production RZ impact run: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664208"/>
            <a:ext cx="6035040" cy="1691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810512"/>
            <a:ext cx="5577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VOLUME ELEMENTS VISITED PER RESIDUAL EVALUATION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67128"/>
            <a:ext cx="5486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0:   </a:t>
            </a:r>
            <a:r>
              <a:rPr sz="1500" b="1" i="0">
                <a:solidFill>
                  <a:srgbClr val="06509D"/>
                </a:solidFill>
                <a:latin typeface="Consolas"/>
                <a:cs typeface="Consolas"/>
              </a:rPr>
              <a:t>640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(builds the device caches: φ, ∇φ, DOF maps, weights)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1: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1E2430"/>
                </a:solidFill>
                <a:latin typeface="Consolas"/>
                <a:cs typeface="Consolas"/>
              </a:rPr>
              <a:t>step n:   </a:t>
            </a:r>
            <a:r>
              <a:rPr sz="1500" b="1" i="0">
                <a:solidFill>
                  <a:srgbClr val="5E8614"/>
                </a:solidFill>
                <a:latin typeface="Consolas"/>
                <a:cs typeface="Consolas"/>
              </a:rPr>
              <a:t>0</a:t>
            </a:r>
            <a:r>
              <a:rPr sz="1150" b="0" i="0">
                <a:solidFill>
                  <a:srgbClr val="59595C"/>
                </a:solidFill>
                <a:latin typeface="Arial"/>
                <a:cs typeface="Arial"/>
              </a:rPr>
              <a:t>   — for the rest of the run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584448"/>
            <a:ext cx="603504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The integrator installs a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shrunken algebraic range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: only elements adjacent to integrated BCs — none, with node-wise contact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Contact runs on the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9 impact-face nodes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only (boundary-restricted nodal kernels)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59168" y="1207008"/>
            <a:ext cx="4565599" cy="3977639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96912" y="1389888"/>
            <a:ext cx="40901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59595C"/>
                </a:solidFill>
                <a:latin typeface="Arial"/>
                <a:cs typeface="Arial"/>
              </a:rPr>
              <a:t>MEASURED: ONE EXPLICIT STEP (53 ms, serial CPU)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33488" y="1773936"/>
            <a:ext cx="457200" cy="1737360"/>
          </a:xfrm>
          <a:prstGeom prst="rect">
            <a:avLst/>
          </a:prstGeom>
          <a:solidFill>
            <a:srgbClr val="FAE8ED"/>
          </a:solidFill>
          <a:ln w="12700">
            <a:solidFill>
              <a:srgbClr val="CF1D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478024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E2430"/>
                </a:solidFill>
                <a:latin typeface="Arial"/>
                <a:cs typeface="Arial"/>
              </a:rPr>
              <a:t>batched NEML2 constitutive call</a:t>
            </a:r>
            <a:r>
              <a:rPr sz="1100" b="1" i="0">
                <a:solidFill>
                  <a:srgbClr val="CF1D4C"/>
                </a:solidFill>
                <a:latin typeface="Arial"/>
                <a:cs typeface="Arial"/>
              </a:rPr>
              <a:t>   71%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33488" y="3639312"/>
            <a:ext cx="457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5959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73568" y="3817620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integrator, aux, output</a:t>
            </a:r>
            <a:r>
              <a:rPr sz="1100" b="1" i="0">
                <a:solidFill>
                  <a:srgbClr val="59595C"/>
                </a:solidFill>
                <a:latin typeface="Arial"/>
                <a:cs typeface="Arial"/>
              </a:rPr>
              <a:t>   27%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33488" y="4453128"/>
            <a:ext cx="457200" cy="256032"/>
          </a:xfrm>
          <a:prstGeom prst="rect">
            <a:avLst/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73568" y="4416552"/>
            <a:ext cx="3376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A3F47"/>
                </a:solidFill>
                <a:latin typeface="Arial"/>
                <a:cs typeface="Arial"/>
              </a:rPr>
              <a:t>contact + residual loops</a:t>
            </a:r>
            <a:r>
              <a:rPr sz="1100" b="1" i="0">
                <a:solidFill>
                  <a:srgbClr val="06509D"/>
                </a:solidFill>
                <a:latin typeface="Arial"/>
                <a:cs typeface="Arial"/>
              </a:rPr>
              <a:t>   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3488" y="4928616"/>
            <a:ext cx="4016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2,000-step production benchmark; geometry caches never rebuilt (0.000 s total)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Per-step cost ≈ one batched constitutive call.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That call is exactly the work that moves to the GPU — everything around it is already negligible.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3-D Taylor anvil impact, end to 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16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OFHC copper slug at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235.9 m/s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— Johnson–Cook plasticity in NEML2 · Δt = 10 ns ·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11,000+ explicit steps</a:t>
            </a:r>
          </a:p>
        </p:txBody>
      </p:sp>
      <p:pic>
        <p:nvPicPr>
          <p:cNvPr id="5" name="Picture 4" descr="fig_p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1627632"/>
            <a:ext cx="8778240" cy="243652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207008" y="4091593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cutaway views (near half removed) — plastic strain localizes at the impact foot; gray plane = rigid anvil</a:t>
            </a:r>
          </a:p>
        </p:txBody>
      </p:sp>
      <p:pic>
        <p:nvPicPr>
          <p:cNvPr id="7" name="Picture 6" descr="fig_prof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4356769"/>
            <a:ext cx="3931920" cy="152229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956048" y="4585369"/>
            <a:ext cx="6668719" cy="13394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Same mesh, BCs, integrator — the copper temper is swapped by </a:t>
            </a:r>
            <a:r>
              <a:rPr sz="1350" b="1" i="0">
                <a:solidFill>
                  <a:srgbClr val="3A3F47"/>
                </a:solidFill>
                <a:latin typeface="Arial"/>
                <a:cs typeface="Arial"/>
              </a:rPr>
              <a:t>changing only NEML2 material parameters</a:t>
            </a:r>
          </a:p>
          <a:p>
            <a:pPr marL="219456" indent="-219456">
              <a:lnSpc>
                <a:spcPct val="106000"/>
              </a:lnSpc>
              <a:spcAft>
                <a:spcPts val="1200"/>
              </a:spcAft>
              <a:buClr>
                <a:srgbClr val="06509D"/>
              </a:buClr>
              <a:buFont typeface="Arial"/>
              <a:buChar char="•"/>
            </a:pP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Full-hard </a:t>
            </a:r>
            <a:r>
              <a:rPr sz="1350" b="1" i="0">
                <a:solidFill>
                  <a:srgbClr val="CF1D4C"/>
                </a:solidFill>
                <a:latin typeface="Arial"/>
                <a:cs typeface="Arial"/>
              </a:rPr>
              <a:t>51%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vs annealed </a:t>
            </a:r>
            <a:r>
              <a:rPr sz="1350" b="1" i="0">
                <a:solidFill>
                  <a:srgbClr val="06509D"/>
                </a:solidFill>
                <a:latin typeface="Arial"/>
                <a:cs typeface="Arial"/>
              </a:rPr>
              <a:t>58%</a:t>
            </a:r>
            <a:r>
              <a:rPr sz="1350" b="0" i="0">
                <a:solidFill>
                  <a:srgbClr val="3A3F47"/>
                </a:solidFill>
                <a:latin typeface="Arial"/>
                <a:cs typeface="Arial"/>
              </a:rPr>
              <a:t> axial shortening — temper sensitivity captured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Coupled thermo-mechanics: heating from plastic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17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The run you just saw is coupled — temperature integrated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inside the NEML2 model</a:t>
            </a:r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 (adiabatic Taylor–Quinney heating, β = 0.9)</a:t>
            </a:r>
          </a:p>
        </p:txBody>
      </p:sp>
      <p:pic>
        <p:nvPicPr>
          <p:cNvPr id="5" name="Picture 4" descr="fig_ther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1609344"/>
            <a:ext cx="7498079" cy="2072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47088" y="3709037"/>
            <a:ext cx="10058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9595C"/>
                </a:solidFill>
                <a:latin typeface="Arial"/>
                <a:cs typeface="Arial"/>
              </a:rPr>
              <a:t>temperature rise above 300 K, cutaway views — run to 114 µs, &gt;99% of the impact kinetic energy dissipated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4111373"/>
            <a:ext cx="50292" cy="795528"/>
          </a:xfrm>
          <a:prstGeom prst="rect">
            <a:avLst/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Feeds back into the flow stress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the hot foot softens (Johnson–Cook Θ = 1 − T*ᵐ) and flows more easily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4794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74794" y="4111373"/>
            <a:ext cx="50292" cy="795528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4250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Adiabatic by physics, not assumption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4250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diffusion length √(αt) ≈ 0.1 mm ≪ element size over the 114 µs run — no heat-conduction PDE needed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2660" y="4029077"/>
            <a:ext cx="3442106" cy="960120"/>
          </a:xfrm>
          <a:prstGeom prst="roundRect">
            <a:avLst>
              <a:gd name="adj" fmla="val 5500"/>
            </a:avLst>
          </a:prstGeom>
          <a:solidFill>
            <a:srgbClr val="F4F5F7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2660" y="4111373"/>
            <a:ext cx="50292" cy="795528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02116" y="4102229"/>
            <a:ext cx="303977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200" b="1" i="0">
                <a:solidFill>
                  <a:srgbClr val="1E2430"/>
                </a:solidFill>
                <a:latin typeface="Arial"/>
                <a:cs typeface="Arial"/>
              </a:rPr>
              <a:t>Three extra NEML2 model blocks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2116" y="4422269"/>
            <a:ext cx="303977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3A3F47"/>
                </a:solidFill>
                <a:latin typeface="Arial"/>
                <a:cs typeface="Arial"/>
              </a:rPr>
              <a:t>no new MOOSE modules, no new transfers — temperature state lives on the device like everything else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The abstract’s thermo-mechanical claim, delivered: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a peak ΔT of 119 K at the mushroom foot, captured through the NEML2 force path.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Validation: calibrated against a scanned specimen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18 / 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3A3F47"/>
                </a:solidFill>
                <a:latin typeface="Arial"/>
                <a:cs typeface="Arial"/>
              </a:rPr>
              <a:t>Laser-scanned recovered specimen (OFHC copper, 235.9 m/s) → axis-corrected profile target → </a:t>
            </a:r>
            <a:r>
              <a:rPr sz="1450" b="1" i="0">
                <a:solidFill>
                  <a:srgbClr val="1E2430"/>
                </a:solidFill>
                <a:latin typeface="Arial"/>
                <a:cs typeface="Arial"/>
              </a:rPr>
              <a:t>Bayesian calibration of the Johnson–Cook parameters</a:t>
            </a:r>
          </a:p>
        </p:txBody>
      </p:sp>
      <p:pic>
        <p:nvPicPr>
          <p:cNvPr id="5" name="Picture 4" descr="fig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9928"/>
            <a:ext cx="6949440" cy="29187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4683556"/>
            <a:ext cx="6949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59595C"/>
                </a:solidFill>
                <a:latin typeface="Arial"/>
                <a:cs typeface="Arial"/>
              </a:rPr>
              <a:t>final deformed profile, RZ production model at the calibrated posterior median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65008" y="1755648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65008" y="1847088"/>
            <a:ext cx="50292" cy="603504"/>
          </a:xfrm>
          <a:prstGeom prst="rect">
            <a:avLst/>
          </a:prstGeom>
          <a:solidFill>
            <a:srgbClr val="595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302752" y="1828800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9595C"/>
                </a:solidFill>
                <a:latin typeface="Arial"/>
                <a:cs typeface="Arial"/>
              </a:rPr>
              <a:t>159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02752" y="2231136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hand-tuned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844887.5" y="2560320"/>
            <a:ext cx="0.0" cy="256032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065008" y="2871216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5008" y="2962656"/>
            <a:ext cx="50292" cy="603504"/>
          </a:xfrm>
          <a:prstGeom prst="rect">
            <a:avLst/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02752" y="2944368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06509D"/>
                </a:solidFill>
                <a:latin typeface="Arial"/>
                <a:cs typeface="Arial"/>
              </a:rPr>
              <a:t>81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346704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Bayesian posterior median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844887.5" y="3675888"/>
            <a:ext cx="0.0" cy="256032"/>
          </a:xfrm>
          <a:prstGeom prst="line">
            <a:avLst/>
          </a:prstGeom>
          <a:ln w="22225">
            <a:solidFill>
              <a:srgbClr val="1E243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65008" y="3986784"/>
            <a:ext cx="3559759" cy="786384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65008" y="4078224"/>
            <a:ext cx="50292" cy="603504"/>
          </a:xfrm>
          <a:prstGeom prst="rect">
            <a:avLst/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2752" y="4059936"/>
            <a:ext cx="31025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5E8614"/>
                </a:solidFill>
                <a:latin typeface="Arial"/>
                <a:cs typeface="Arial"/>
              </a:rPr>
              <a:t>69 µm</a:t>
            </a:r>
            <a:r>
              <a:rPr sz="1050" b="0" i="0">
                <a:solidFill>
                  <a:srgbClr val="59595C"/>
                </a:solidFill>
                <a:latin typeface="Arial"/>
                <a:cs typeface="Arial"/>
              </a:rPr>
              <a:t>  profile RMS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4462272"/>
            <a:ext cx="3102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A3F47"/>
                </a:solidFill>
                <a:latin typeface="Arial"/>
                <a:cs typeface="Arial"/>
              </a:rPr>
              <a:t>+ frictionless anvil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76672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DF0DF"/>
          </a:solidFill>
          <a:ln w="12700">
            <a:solidFill>
              <a:srgbClr val="B4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5376672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430"/>
                </a:solidFill>
                <a:latin typeface="Arial"/>
                <a:cs typeface="Arial"/>
              </a:rPr>
              <a:t>96-run Sobol design on the production model → GP emulator → posterior.</a:t>
            </a:r>
            <a:r>
              <a:rPr sz="1500" b="0" i="0">
                <a:solidFill>
                  <a:srgbClr val="3A3F47"/>
                </a:solidFill>
                <a:latin typeface="Arial"/>
                <a:cs typeface="Arial"/>
              </a:rPr>
              <a:t> The data rejects anvil friction, and one shot cannot separate A–B–n–C — multi-velocity shots are next.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/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274320"/>
            <a:ext cx="6858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9595C"/>
                </a:solidFill>
                <a:latin typeface="Arial"/>
                <a:cs typeface="Arial"/>
              </a:rPr>
              <a:t>19 / 19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298448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68096" y="1508760"/>
            <a:ext cx="420624" cy="420624"/>
          </a:xfrm>
          <a:prstGeom prst="roundRect">
            <a:avLst>
              <a:gd name="adj" fmla="val 5500"/>
            </a:avLst>
          </a:prstGeom>
          <a:solidFill>
            <a:srgbClr val="0650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35608" y="141732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NEML2 assembles the internal nodal forces inside MOOSE explicit dynamics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35608" y="1773936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batched, device-resident; state advances in place; one upload + one download per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267712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47802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5E86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386584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Verified to machine precision across formulations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274320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small strain → total-Lagrangian → multiplicative plasticity, Cartesian and axisymmetric, incl. F-bar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36976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8096" y="344728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CF1D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33558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Per-step cost is one batched constitutive call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35608" y="371246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the element loop is provably empty after setup; reduced integration + knob-free hourglass control, 2.6× faster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06240"/>
            <a:ext cx="11057839" cy="84124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ADD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8096" y="441655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B4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432511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E2430"/>
                </a:solidFill>
                <a:latin typeface="Arial"/>
                <a:cs typeface="Arial"/>
              </a:rPr>
              <a:t>End-to-end on a real experiment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68172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59595C"/>
                </a:solidFill>
                <a:latin typeface="Arial"/>
                <a:cs typeface="Arial"/>
              </a:rPr>
              <a:t>3-D and RZ Taylor impact with in-model adiabatic heating; Bayesian-calibrated to 69 µm profile RMS against a scanned specimen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66944"/>
            <a:ext cx="11057839" cy="731520"/>
          </a:xfrm>
          <a:prstGeom prst="roundRect">
            <a:avLst>
              <a:gd name="adj" fmla="val 5500"/>
            </a:avLst>
          </a:prstGeom>
          <a:solidFill>
            <a:srgbClr val="E6EEF7"/>
          </a:solidFill>
          <a:ln w="12700">
            <a:solidFill>
              <a:srgbClr val="06509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266944"/>
            <a:ext cx="10509199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06509D"/>
                </a:solidFill>
                <a:latin typeface="Arial"/>
                <a:cs typeface="Arial"/>
              </a:rPr>
              <a:t>Open source, in MOOSE today.   Next:  </a:t>
            </a:r>
            <a:r>
              <a:rPr sz="1450" b="0" i="0">
                <a:solidFill>
                  <a:srgbClr val="1E2430"/>
                </a:solidFill>
                <a:latin typeface="Arial"/>
                <a:cs typeface="Arial"/>
              </a:rPr>
              <a:t>GPU scaling studies  ·  multi-velocity calibration  ·  3-D reduced-integration production runs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03797F432E2A042A124C0139981475A" ma:contentTypeVersion="14" ma:contentTypeDescription="Create a new document." ma:contentTypeScope="" ma:versionID="f98a91b6c1e71bbba55439f0a80a0573">
  <xsd:schema xmlns:xsd="http://www.w3.org/2001/XMLSchema" xmlns:xs="http://www.w3.org/2001/XMLSchema" xmlns:p="http://schemas.microsoft.com/office/2006/metadata/properties" xmlns:ns2="2391d807-f94f-4c4f-bb14-493106c624c2" xmlns:ns3="42ea9b75-b306-4826-8769-4c6ad6718b67" targetNamespace="http://schemas.microsoft.com/office/2006/metadata/properties" ma:root="true" ma:fieldsID="e10204a60157ce1d68d66ae7a68b8f6a" ns2:_="" ns3:_="">
    <xsd:import namespace="2391d807-f94f-4c4f-bb14-493106c624c2"/>
    <xsd:import namespace="42ea9b75-b306-4826-8769-4c6ad6718b6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91d807-f94f-4c4f-bb14-493106c624c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list="UserInfo" ma:SearchPeopleOnly="false" ma:internalName="SharedWithUsers" ma:readOnly="fals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lcf76f155ced4ddcb4097134ff3c332f" ma:index="10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2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2ea9b75-b306-4826-8769-4c6ad6718b67" elementFormDefault="qualified">
    <xsd:import namespace="http://schemas.microsoft.com/office/2006/documentManagement/types"/>
    <xsd:import namespace="http://schemas.microsoft.com/office/infopath/2007/PartnerControls"/>
    <xsd:element name="TaxCatchAll" ma:index="11" nillable="true" ma:displayName="Taxonomy Catch All Column" ma:hidden="true" ma:list="{2721504a-65bf-41e8-8385-5761431a3c1d}" ma:internalName="TaxCatchAll" ma:showField="CatchAllData" ma:web="42ea9b75-b306-4826-8769-4c6ad6718b6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2391d807-f94f-4c4f-bb14-493106c624c2">
      <UserInfo>
        <DisplayName/>
        <AccountId xsi:nil="true"/>
        <AccountType/>
      </UserInfo>
    </SharedWithUsers>
    <TaxCatchAll xmlns="42ea9b75-b306-4826-8769-4c6ad6718b67" xsi:nil="true"/>
    <lcf76f155ced4ddcb4097134ff3c332f xmlns="2391d807-f94f-4c4f-bb14-493106c624c2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E158C39C-6B2B-46C8-8FF5-4FF701DE8E56}"/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9542</TotalTime>
  <Words>15</Words>
  <Application>Microsoft Macintosh PowerPoint</Application>
  <PresentationFormat>Widescreen</PresentationFormat>
  <Paragraphs>5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Arial Narrow</vt:lpstr>
      <vt:lpstr>Calibri</vt:lpstr>
      <vt:lpstr>Myriad Pro Cond</vt:lpstr>
      <vt:lpstr>Times New Roman</vt:lpstr>
      <vt:lpstr>INL 2020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Daniel L. Campbell</dc:creator>
  <cp:keywords/>
  <dc:description/>
  <cp:lastModifiedBy>David L. Combs</cp:lastModifiedBy>
  <cp:revision>238</cp:revision>
  <dcterms:created xsi:type="dcterms:W3CDTF">2020-04-22T20:22:45Z</dcterms:created>
  <dcterms:modified xsi:type="dcterms:W3CDTF">2022-07-18T20:44:46Z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0x010100803797F432E2A042A124C0139981475A</vt:lpwstr>
  </property>
  <property fmtid="{D5CDD505-2E9C-101B-9397-08002B2CF9AE}" pid="3" name="Order">
    <vt:r8>73000</vt:r8>
  </property>
</Properties>
</file>
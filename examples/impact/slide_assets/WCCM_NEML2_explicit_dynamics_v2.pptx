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92" r:id="rId4"/>
  </p:sldMasterIdLst>
  <p:notesMasterIdLst>
    <p:notesMasterId r:id="rId8"/>
  </p:notesMasterIdLst>
  <p:sldIdLst>
    <p:sldId id="256" r:id="rId7"/>
    <p:sldId id="257" r:id="rId6"/>
    <p:sldId id="258" r:id="rId5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519E"/>
    <a:srgbClr val="2DA9E1"/>
    <a:srgbClr val="1C3665"/>
    <a:srgbClr val="8EC4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4694"/>
  </p:normalViewPr>
  <p:slideViewPr>
    <p:cSldViewPr snapToGrid="0" snapToObjects="1">
      <p:cViewPr varScale="1">
        <p:scale>
          <a:sx n="124" d="100"/>
          <a:sy n="124" d="100"/>
        </p:scale>
        <p:origin x="12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09992B-A26C-6A4B-AC27-2602734F286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0CCFD4-A7F8-054B-8822-BC244B9535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01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Hex_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7A4BE5-FE46-EA43-B6B0-450DE02CC3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3" name="blue/green box bottom">
            <a:extLst>
              <a:ext uri="{FF2B5EF4-FFF2-40B4-BE49-F238E27FC236}">
                <a16:creationId xmlns:a16="http://schemas.microsoft.com/office/drawing/2014/main" id="{01F9400E-D49A-AA40-B4BD-53F03EC31D76}"/>
              </a:ext>
            </a:extLst>
          </p:cNvPr>
          <p:cNvGrpSpPr/>
          <p:nvPr userDrawn="1"/>
        </p:nvGrpSpPr>
        <p:grpSpPr>
          <a:xfrm>
            <a:off x="0" y="5340350"/>
            <a:ext cx="12192000" cy="1517650"/>
            <a:chOff x="0" y="5340350"/>
            <a:chExt cx="12192000" cy="15176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04B8F3-C379-C04D-8634-1CDEC81586E2}"/>
                </a:ext>
              </a:extLst>
            </p:cNvPr>
            <p:cNvSpPr/>
            <p:nvPr userDrawn="1"/>
          </p:nvSpPr>
          <p:spPr bwMode="auto">
            <a:xfrm>
              <a:off x="0" y="5444519"/>
              <a:ext cx="12192000" cy="1413481"/>
            </a:xfrm>
            <a:prstGeom prst="rect">
              <a:avLst/>
            </a:prstGeom>
            <a:solidFill>
              <a:srgbClr val="07519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3207E4-91BC-AB48-939F-AAC2AA29BF23}"/>
                </a:ext>
              </a:extLst>
            </p:cNvPr>
            <p:cNvSpPr/>
            <p:nvPr userDrawn="1"/>
          </p:nvSpPr>
          <p:spPr bwMode="auto">
            <a:xfrm>
              <a:off x="0" y="5340350"/>
              <a:ext cx="12192000" cy="104169"/>
            </a:xfrm>
            <a:prstGeom prst="rect">
              <a:avLst/>
            </a:prstGeom>
            <a:solidFill>
              <a:srgbClr val="8EC423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1DFF24A-6025-2847-8C93-29954BFB7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37144" y="1938829"/>
            <a:ext cx="9354855" cy="2292350"/>
          </a:xfrm>
          <a:prstGeom prst="rect">
            <a:avLst/>
          </a:prstGeom>
          <a:noFill/>
        </p:spPr>
        <p:txBody>
          <a:bodyPr wrap="square" lIns="365760" tIns="822960" rIns="1097280" bIns="822960" anchor="ctr" anchorCtr="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3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525" indent="0">
              <a:buFontTx/>
              <a:buNone/>
              <a:tabLst/>
              <a:defRPr sz="2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title</a:t>
            </a:r>
          </a:p>
          <a:p>
            <a:pPr lvl="1"/>
            <a:r>
              <a:rPr lang="en-US" dirty="0"/>
              <a:t>Click to edit subtitle</a:t>
            </a:r>
          </a:p>
        </p:txBody>
      </p:sp>
      <p:sp>
        <p:nvSpPr>
          <p:cNvPr id="14" name="Text Placeholder 46">
            <a:extLst>
              <a:ext uri="{FF2B5EF4-FFF2-40B4-BE49-F238E27FC236}">
                <a16:creationId xmlns:a16="http://schemas.microsoft.com/office/drawing/2014/main" id="{45BFF713-8DD6-6843-86C3-2D1862E3CA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0142" y="273297"/>
            <a:ext cx="2541981" cy="1392237"/>
          </a:xfrm>
          <a:effectLst/>
        </p:spPr>
        <p:txBody>
          <a:bodyPr lIns="0" rIns="0" bIns="0" anchor="b" anchorCtr="0">
            <a:noAutofit/>
          </a:bodyPr>
          <a:lstStyle>
            <a:lvl1pPr marL="7938" indent="0">
              <a:buFontTx/>
              <a:buNone/>
              <a:tabLst/>
              <a:defRPr sz="1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2pPr>
            <a:lvl3pPr marL="7938" indent="0">
              <a:buFontTx/>
              <a:buNone/>
              <a:tabLst/>
              <a:defRPr sz="16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5pPr>
          </a:lstStyle>
          <a:p>
            <a:pPr lvl="0"/>
            <a:endParaRPr lang="en-US" dirty="0"/>
          </a:p>
          <a:p>
            <a:pPr lvl="2"/>
            <a:r>
              <a:rPr lang="en-US" dirty="0"/>
              <a:t>Date</a:t>
            </a:r>
          </a:p>
          <a:p>
            <a:pPr lvl="2"/>
            <a:endParaRPr lang="en-US" dirty="0"/>
          </a:p>
          <a:p>
            <a:pPr lvl="0"/>
            <a:r>
              <a:rPr lang="en-US" dirty="0"/>
              <a:t>Presenter name</a:t>
            </a:r>
          </a:p>
          <a:p>
            <a:pPr lvl="2"/>
            <a:r>
              <a:rPr lang="en-US" dirty="0"/>
              <a:t>Title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150FBC-21D2-57A0-083B-AF225C0F1AD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4279" y="5913998"/>
            <a:ext cx="58420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orient="horz" pos="1920">
          <p15:clr>
            <a:srgbClr val="FBAE40"/>
          </p15:clr>
        </p15:guide>
        <p15:guide id="4" pos="53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19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043104"/>
            <a:ext cx="12192000" cy="2926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340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6D6083-77A6-334A-8C7F-A5F18D4F5F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213" y="1739901"/>
            <a:ext cx="10415587" cy="432752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2"/>
              </a:buClr>
              <a:buSzTx/>
              <a:buFontTx/>
              <a:buNone/>
              <a:tabLst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134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043104"/>
            <a:ext cx="12192000" cy="2926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659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40345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150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810270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50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2149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9232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991234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EFBD4CC-FEFF-654C-B1A3-229DA69D10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3924736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80018A3-14FE-A04B-A3B4-D9AA55483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5465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Blue Box Bulle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2CB96BB-242F-BC47-80BF-E45DB97245BA}"/>
              </a:ext>
            </a:extLst>
          </p:cNvPr>
          <p:cNvSpPr/>
          <p:nvPr userDrawn="1"/>
        </p:nvSpPr>
        <p:spPr>
          <a:xfrm>
            <a:off x="6843714" y="0"/>
            <a:ext cx="5346699" cy="62377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2FA9CB-507A-AA48-963A-8D5E37B7CF5B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79016F-99B0-6B40-B3F7-87F0068FC0E5}"/>
              </a:ext>
            </a:extLst>
          </p:cNvPr>
          <p:cNvSpPr/>
          <p:nvPr userDrawn="1"/>
        </p:nvSpPr>
        <p:spPr>
          <a:xfrm>
            <a:off x="0" y="6043104"/>
            <a:ext cx="12192000" cy="2926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IDAHO NATIONAL LABORATORY">
            <a:extLst>
              <a:ext uri="{FF2B5EF4-FFF2-40B4-BE49-F238E27FC236}">
                <a16:creationId xmlns:a16="http://schemas.microsoft.com/office/drawing/2014/main" id="{BD942965-6C07-5D4A-809D-5FC754D5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14" name="Title Placeholder BIG box blue right">
            <a:extLst>
              <a:ext uri="{FF2B5EF4-FFF2-40B4-BE49-F238E27FC236}">
                <a16:creationId xmlns:a16="http://schemas.microsoft.com/office/drawing/2014/main" id="{AB7EA1D9-8A57-3143-9688-4BB8599F98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0063" y="0"/>
            <a:ext cx="5340350" cy="907549"/>
          </a:xfrm>
          <a:prstGeom prst="rect">
            <a:avLst/>
          </a:prstGeom>
          <a:noFill/>
        </p:spPr>
        <p:txBody>
          <a:bodyPr lIns="274320" tIns="365760" rIns="274320">
            <a:norm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box title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38B584E-1ECA-5646-9DA7-61B8110256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16947" y="1064712"/>
            <a:ext cx="4598987" cy="4515349"/>
          </a:xfrm>
          <a:prstGeom prst="rect">
            <a:avLst/>
          </a:prstGeom>
        </p:spPr>
        <p:txBody>
          <a:bodyPr lIns="0">
            <a:normAutofit/>
          </a:bodyPr>
          <a:lstStyle>
            <a:lvl1pPr marL="347663" indent="-342900">
              <a:buClr>
                <a:schemeClr val="bg1"/>
              </a:buClr>
              <a:tabLst/>
              <a:defRPr sz="24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bullet list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6EF42CC7-103E-EA4C-89A2-543032DA33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843714" cy="622826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8900746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5992-890C-EC4B-B676-6CCEF133B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0" y="1709738"/>
            <a:ext cx="10409299" cy="2852737"/>
          </a:xfrm>
        </p:spPr>
        <p:txBody>
          <a:bodyPr anchor="ctr" anchorCtr="0"/>
          <a:lstStyle>
            <a:lvl1pPr>
              <a:defRPr sz="480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303FD-B916-FD4E-85C2-3EBF655BC1F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38150" y="4589463"/>
            <a:ext cx="104093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FDE18-9616-B043-9C71-522DAD29B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32FF7A-5905-EB40-919B-9225D0871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7509E-6005-DB4B-9578-84532E5F8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822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1739901"/>
            <a:ext cx="5081650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1739901"/>
            <a:ext cx="5081651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3200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2412999"/>
            <a:ext cx="5081650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2412999"/>
            <a:ext cx="5081651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72D795B-85F6-1F49-922A-F4131787307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8213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4E34B4F-F908-104C-90F3-5135E2E8C74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70625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2 </a:t>
            </a:r>
          </a:p>
        </p:txBody>
      </p:sp>
    </p:spTree>
    <p:extLst>
      <p:ext uri="{BB962C8B-B14F-4D97-AF65-F5344CB8AC3E}">
        <p14:creationId xmlns:p14="http://schemas.microsoft.com/office/powerpoint/2010/main" val="1790085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tat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07">
            <a:extLst>
              <a:ext uri="{FF2B5EF4-FFF2-40B4-BE49-F238E27FC236}">
                <a16:creationId xmlns:a16="http://schemas.microsoft.com/office/drawing/2014/main" id="{4647A912-5093-6043-8161-0D98167F24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-336550"/>
            <a:ext cx="12192000" cy="6858000"/>
          </a:xfrm>
          <a:prstGeom prst="rect">
            <a:avLst/>
          </a:prstGeom>
        </p:spPr>
      </p:pic>
      <p:grpSp>
        <p:nvGrpSpPr>
          <p:cNvPr id="11" name="Bottom Bar">
            <a:extLst>
              <a:ext uri="{FF2B5EF4-FFF2-40B4-BE49-F238E27FC236}">
                <a16:creationId xmlns:a16="http://schemas.microsoft.com/office/drawing/2014/main" id="{DC935C4B-E372-E04B-8493-E90A79CBC7F4}"/>
              </a:ext>
            </a:extLst>
          </p:cNvPr>
          <p:cNvGrpSpPr/>
          <p:nvPr userDrawn="1"/>
        </p:nvGrpSpPr>
        <p:grpSpPr>
          <a:xfrm>
            <a:off x="0" y="6247747"/>
            <a:ext cx="12192000" cy="610252"/>
            <a:chOff x="0" y="6247747"/>
            <a:chExt cx="12192000" cy="6102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A574F32-F3B5-224E-B6D3-DC767B30A5BE}"/>
                </a:ext>
              </a:extLst>
            </p:cNvPr>
            <p:cNvSpPr/>
            <p:nvPr/>
          </p:nvSpPr>
          <p:spPr>
            <a:xfrm>
              <a:off x="0" y="6334125"/>
              <a:ext cx="12192000" cy="5238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8EE050A-3114-2641-96C8-48D281A062A0}"/>
                </a:ext>
              </a:extLst>
            </p:cNvPr>
            <p:cNvSpPr/>
            <p:nvPr/>
          </p:nvSpPr>
          <p:spPr>
            <a:xfrm>
              <a:off x="0" y="6247747"/>
              <a:ext cx="12192000" cy="8637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F59F24B-A93D-B046-B78A-2C31137D1AC5}"/>
              </a:ext>
            </a:extLst>
          </p:cNvPr>
          <p:cNvSpPr txBox="1"/>
          <p:nvPr userDrawn="1"/>
        </p:nvSpPr>
        <p:spPr>
          <a:xfrm>
            <a:off x="2872408" y="5178483"/>
            <a:ext cx="64471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Battelle Energy Alliance manages INL for the U.S. Department of Energy’s Office of Nuclear Energy.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INL is the nation’s center for nuclear energy research and development, and also performs research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 each of DOE’s strategic goal areas: energy, national security, science and the environment.</a:t>
            </a:r>
            <a:endParaRPr lang="en-US" sz="10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Web Address">
            <a:extLst>
              <a:ext uri="{FF2B5EF4-FFF2-40B4-BE49-F238E27FC236}">
                <a16:creationId xmlns:a16="http://schemas.microsoft.com/office/drawing/2014/main" id="{53FCC0DF-9440-B040-A076-DF507B404D83}"/>
              </a:ext>
            </a:extLst>
          </p:cNvPr>
          <p:cNvSpPr txBox="1"/>
          <p:nvPr userDrawn="1"/>
        </p:nvSpPr>
        <p:spPr>
          <a:xfrm>
            <a:off x="4100945" y="6417425"/>
            <a:ext cx="3990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600" dirty="0">
                <a:solidFill>
                  <a:schemeClr val="bg1">
                    <a:alpha val="50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rPr>
              <a:t>WWW.INL.GOV</a:t>
            </a:r>
          </a:p>
        </p:txBody>
      </p:sp>
    </p:spTree>
    <p:extLst>
      <p:ext uri="{BB962C8B-B14F-4D97-AF65-F5344CB8AC3E}">
        <p14:creationId xmlns:p14="http://schemas.microsoft.com/office/powerpoint/2010/main" val="11825276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EB3FEC5-4760-DC48-B91E-CFC0C33F63A9}"/>
              </a:ext>
            </a:extLst>
          </p:cNvPr>
          <p:cNvSpPr/>
          <p:nvPr userDrawn="1"/>
        </p:nvSpPr>
        <p:spPr>
          <a:xfrm>
            <a:off x="8465769" y="6335712"/>
            <a:ext cx="3726231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EAE68D-24FC-6749-A309-042231DB68DA}"/>
              </a:ext>
            </a:extLst>
          </p:cNvPr>
          <p:cNvSpPr/>
          <p:nvPr userDrawn="1"/>
        </p:nvSpPr>
        <p:spPr>
          <a:xfrm>
            <a:off x="8465769" y="6043104"/>
            <a:ext cx="3726231" cy="2926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DAHO NATIONAL LABORATORY">
            <a:extLst>
              <a:ext uri="{FF2B5EF4-FFF2-40B4-BE49-F238E27FC236}">
                <a16:creationId xmlns:a16="http://schemas.microsoft.com/office/drawing/2014/main" id="{C491F914-E346-2146-A51D-D37D67DBC113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2502A-5BF2-8845-923F-AAF24377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151" y="558602"/>
            <a:ext cx="10415648" cy="1008797"/>
          </a:xfrm>
          <a:prstGeom prst="rect">
            <a:avLst/>
          </a:prstGeom>
        </p:spPr>
        <p:txBody>
          <a:bodyPr vert="horz" lIns="0" tIns="0" rIns="91440" bIns="45720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7B4A4D-34FE-994A-AFE8-DCF682312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8150" y="1739901"/>
            <a:ext cx="10415649" cy="4351338"/>
          </a:xfrm>
          <a:prstGeom prst="rect">
            <a:avLst/>
          </a:prstGeom>
        </p:spPr>
        <p:txBody>
          <a:bodyPr vert="horz" lIns="0" tIns="0" rIns="91440" bIns="45720" rtlCol="0">
            <a:no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CF24-C629-E54C-BA9B-20518F01F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1" y="6492875"/>
            <a:ext cx="1546302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l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7CD4A3B-E186-AB40-96C6-355AF9A6FE76}" type="datetimeFigureOut">
              <a:rPr lang="en-US" smtClean="0"/>
              <a:pPr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34D85-E219-4F49-88C8-4DC17F06DE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38150" y="6492875"/>
            <a:ext cx="5060066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7F2A8-2F01-4745-8AFB-4EEC8D271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020" y="6492875"/>
            <a:ext cx="434428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 b="1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2B577FA-F7D9-2C48-919F-F962E3BF952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blue/green box top">
            <a:extLst>
              <a:ext uri="{FF2B5EF4-FFF2-40B4-BE49-F238E27FC236}">
                <a16:creationId xmlns:a16="http://schemas.microsoft.com/office/drawing/2014/main" id="{2FE8E780-1DE8-B245-8215-3ECC2513C073}"/>
              </a:ext>
            </a:extLst>
          </p:cNvPr>
          <p:cNvGrpSpPr/>
          <p:nvPr userDrawn="1"/>
        </p:nvGrpSpPr>
        <p:grpSpPr>
          <a:xfrm>
            <a:off x="0" y="522288"/>
            <a:ext cx="744467" cy="547190"/>
            <a:chOff x="0" y="711956"/>
            <a:chExt cx="3721100" cy="62020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2A1D5-CB4B-1A40-8711-4F412AA9927B}"/>
                </a:ext>
              </a:extLst>
            </p:cNvPr>
            <p:cNvSpPr/>
            <p:nvPr userDrawn="1"/>
          </p:nvSpPr>
          <p:spPr>
            <a:xfrm rot="10800000">
              <a:off x="0" y="711956"/>
              <a:ext cx="3721100" cy="52228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B5F476-DD08-5B45-A331-21193BD3472A}"/>
                </a:ext>
              </a:extLst>
            </p:cNvPr>
            <p:cNvSpPr/>
            <p:nvPr userDrawn="1"/>
          </p:nvSpPr>
          <p:spPr>
            <a:xfrm rot="10800000">
              <a:off x="0" y="1234244"/>
              <a:ext cx="3721100" cy="9791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5166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4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10" r:id="rId8"/>
    <p:sldLayoutId id="2147483711" r:id="rId9"/>
    <p:sldLayoutId id="2147483712" r:id="rId10"/>
    <p:sldLayoutId id="2147483713" r:id="rId11"/>
    <p:sldLayoutId id="2147483695" r:id="rId12"/>
    <p:sldLayoutId id="2147483696" r:id="rId13"/>
    <p:sldLayoutId id="2147483709" r:id="rId14"/>
    <p:sldLayoutId id="214748371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420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GPU-resident material models for explicit dynamics in MOOSE</a:t>
            </a:r>
          </a:p>
          <a:p>
            <a:r>
              <a:rPr sz="1800" b="0">
                <a:solidFill>
                  <a:srgbClr val="2CA8E1"/>
                </a:solidFill>
              </a:rPr>
              <a:t>A NEML2 nodal-force interface for high-rate solid mechanics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WCCM 2026</a:t>
            </a:r>
          </a:p>
          <a:p>
            <a:r>
              <a:t>Author Name &amp; Co-authors</a:t>
            </a:r>
          </a:p>
          <a:p>
            <a:r>
              <a:t>Idaho National Laboratory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Advanced reactors bring dynamic-loading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6309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Transportable microreactors, pebble-bed cores, accident scenarios: components must be qualified under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impact and other high-rate loads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These events are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wave-dominated and fast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— stress waves traverse the part in microseconds, with severe, localized plasticity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Predictive fidelity requires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modern constitutive models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— rate- and temperature-dependent plasticity, evolving internal state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Simulating them means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explicit time integration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with a material-model evaluation at every quadrature point, every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408176"/>
            <a:ext cx="3779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TIMESCALES OF AN IMPACT EVENT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865376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08976" y="1865376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event 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41687" y="1865376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~100 µs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660904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660904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wave transit through 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41687" y="2660904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~1–10 µs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3456432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8976" y="3456432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stable explicit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41687" y="3456432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CF1D4C"/>
                </a:solidFill>
                <a:latin typeface="Arial"/>
                <a:cs typeface="Arial"/>
              </a:rPr>
              <a:t>~10 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251960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08976" y="4251960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⇒  steps to simulate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41687" y="4251960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Many steps × expensive material updates: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high-rate simulation is compute-hungry in a very particular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Two mature ecosystems — and a gap between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3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6509D"/>
                </a:solidFill>
                <a:latin typeface="Arial"/>
                <a:cs typeface="Arial"/>
              </a:rPr>
              <a:t>MULTIPHYSICS FE FRAMEWORKS (MOOSE)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Boundary conditions, contact, parallel domain decomposition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Coupled-physics machinery, meshing, restart, in-situ output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materials evaluated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point-by-point on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inside the element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1647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5967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E8614"/>
                </a:solidFill>
                <a:latin typeface="Arial"/>
                <a:cs typeface="Arial"/>
              </a:rPr>
              <a:t>MODERN MATERIAL LIBRARIES (NEML2)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74255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Composable constitutive models with automatic differentiation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Batched tensor evaluation on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GPU or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(libTorch backend)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no mesh, no boundary conditions, no solver —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not a simulation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0047" y="202996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CF1D4C"/>
                </a:solidFill>
                <a:latin typeface="Arial"/>
                <a:cs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64911" y="2596896"/>
            <a:ext cx="12618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per-point calls,</a:t>
            </a:r>
          </a:p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per-step copies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334256"/>
            <a:ext cx="11057839" cy="9144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334256"/>
            <a:ext cx="1050919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6509D"/>
                </a:solidFill>
                <a:latin typeface="Arial"/>
                <a:cs typeface="Arial"/>
              </a:rPr>
              <a:t>This talk: </a:t>
            </a:r>
            <a:r>
              <a:rPr sz="1600" b="0" i="0">
                <a:solidFill>
                  <a:srgbClr val="1E2430"/>
                </a:solidFill>
                <a:latin typeface="Arial"/>
                <a:cs typeface="Arial"/>
              </a:rPr>
              <a:t>an interface that lets NEML2 assemble the nodal internal forces itself — batched, device-resident — while MOOSE keeps doing everything else it is good 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Governing equations of explicit solid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4 / 15</a:t>
            </a:r>
          </a:p>
        </p:txBody>
      </p:sp>
      <p:pic>
        <p:nvPicPr>
          <p:cNvPr id="4" name="Picture 3" descr="momentum_strong_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89888"/>
            <a:ext cx="2574188" cy="277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90688" y="1353312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balance of linear momentum</a:t>
            </a:r>
          </a:p>
        </p:txBody>
      </p:sp>
      <p:pic>
        <p:nvPicPr>
          <p:cNvPr id="6" name="Picture 5" descr="weak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377440"/>
            <a:ext cx="6445605" cy="3706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90688" y="2340864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weak form: multiply by test function, integrate by parts</a:t>
            </a:r>
          </a:p>
        </p:txBody>
      </p:sp>
      <p:pic>
        <p:nvPicPr>
          <p:cNvPr id="8" name="Picture 7" descr="semi_discrete_moment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364992"/>
            <a:ext cx="2484424" cy="33009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90688" y="3328416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discretize in space: semi-discrete momentum equation</a:t>
            </a:r>
          </a:p>
        </p:txBody>
      </p:sp>
      <p:pic>
        <p:nvPicPr>
          <p:cNvPr id="10" name="Picture 9" descr="internal_force_assemb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352544"/>
            <a:ext cx="6405067" cy="37932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90688" y="4315968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internal force: assembled from quadrature-point stress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Everything above is standard.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physics of the material lives in one place — the stress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σ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at each quadrature point. That is where NEML2 will plug 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Explicit time integration: ExplicitMixedOrder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5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Central difference, as implemented in our </a:t>
            </a:r>
            <a:r>
              <a:rPr sz="1350" b="1" i="0">
                <a:solidFill>
                  <a:srgbClr val="3A3F47"/>
                </a:solidFill>
                <a:latin typeface="Consolas"/>
                <a:cs typeface="Consolas"/>
              </a:rPr>
              <a:t>ExplicitMixedOrder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MOOSE integrator</a:t>
            </a:r>
          </a:p>
        </p:txBody>
      </p:sp>
      <p:pic>
        <p:nvPicPr>
          <p:cNvPr id="5" name="Picture 4" descr="accel_lumped_m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2496"/>
            <a:ext cx="2372868" cy="342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10328" y="175564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lumped mass: pointwise divide, no solver</a:t>
            </a:r>
          </a:p>
        </p:txBody>
      </p:sp>
      <p:pic>
        <p:nvPicPr>
          <p:cNvPr id="7" name="Picture 6" descr="velocity_midpoint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15184"/>
            <a:ext cx="2984601" cy="4059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10328" y="268833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midpoint velocity update (variable Δt)</a:t>
            </a:r>
          </a:p>
        </p:txBody>
      </p:sp>
      <p:pic>
        <p:nvPicPr>
          <p:cNvPr id="9" name="Picture 8" descr="displacement_up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547872"/>
            <a:ext cx="2438704" cy="3511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0328" y="362102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displacement update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590288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No Newton iterations, no global linear solve, no Jacobian — </a:t>
            </a:r>
            <a:r>
              <a:rPr sz="1400" b="1" i="0">
                <a:solidFill>
                  <a:srgbClr val="1E2430"/>
                </a:solidFill>
                <a:latin typeface="Arial"/>
                <a:cs typeface="Arial"/>
              </a:rPr>
              <a:t>each step is one residual evaluation plus vector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6096" y="1207008"/>
            <a:ext cx="3998671" cy="3310128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389888"/>
            <a:ext cx="35231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6509D"/>
                </a:solidFill>
                <a:latin typeface="Arial"/>
                <a:cs typeface="Arial"/>
              </a:rPr>
              <a:t>WHY “MIXED ORDER”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8" y="1773936"/>
            <a:ext cx="348660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Second-order fields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(displacement): central difference, as at left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First-order fields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(e.g. temperature): forward Euler on the rate — same update loop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40" y="3145536"/>
            <a:ext cx="3523183" cy="0"/>
          </a:xfrm>
          <a:prstGeom prst="line">
            <a:avLst/>
          </a:prstGeom>
          <a:ln w="63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882128" y="3328416"/>
            <a:ext cx="34866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One integrator advances a </a:t>
            </a:r>
            <a:r>
              <a:rPr sz="1300" b="1" i="0">
                <a:solidFill>
                  <a:srgbClr val="1E2430"/>
                </a:solidFill>
                <a:latin typeface="Arial"/>
                <a:cs typeface="Arial"/>
              </a:rPr>
              <a:t>coupled thermo-mechanical system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explicitly — the multiphysics lever used later in this talk.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Developed for this work and upstreamed: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part of MOOSE solid mechanics today, available to every MOOSE application.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Stability sets the step; the material sets the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6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Conditional stability (CFL): the step must resolve the fastest stress wave</a:t>
            </a:r>
          </a:p>
        </p:txBody>
      </p:sp>
      <p:pic>
        <p:nvPicPr>
          <p:cNvPr id="5" name="Picture 4" descr="cfl_critical_time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18488"/>
            <a:ext cx="4116324" cy="5582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" y="2322576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element length over elastic wave speed (dilatational speed in 3-D)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98648"/>
            <a:ext cx="6309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Millimeter elements: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Δt ≈ 10 ns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 ⇒ 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5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steps for a 100 µs event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Each step: no solve — the runtime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residual, and the residual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constitutive update at every quadrature point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Advanced models (rate/temperature-dependent plasticity, internal state) make each of those updates expensive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2" y="1389888"/>
            <a:ext cx="38157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ANATOMY OF ONE EXPLICIT STEP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7808" y="1773936"/>
            <a:ext cx="457200" cy="1600200"/>
          </a:xfrm>
          <a:prstGeom prst="rect">
            <a:avLst/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2427732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constitutive update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   dominant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07808" y="3483864"/>
            <a:ext cx="457200" cy="594360"/>
          </a:xfrm>
          <a:prstGeom prst="rect">
            <a:avLst/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3634740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force assembly + scatter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4187952"/>
            <a:ext cx="457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4247388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time advance, BCs, output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4818888"/>
            <a:ext cx="37426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schematic; plasticity dominates the step cost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Explicit runtime  ≈  steps × material-update cost.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step count is physics. The material cost is engineering — and it is the target.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MOOSE: the multiphysics host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7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Open-source multiphysics FE framework (Idaho National Laboratory) —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we keep all of this for free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Boundary conditions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full BC library, incl. the penalty and pressure BCs used in this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4794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4794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3394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3394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mortar and node-face algorithms — architecture-compatible with this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2660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2660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1260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Parallel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1260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MPI domain decomposition, scalable assembly and solves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Coupled physics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heat conduction, neutronics, porous flow, ... in one input file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4794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4794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3394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Meshing &amp;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3394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mesh generators, adaptivity, Exodus/CSV in-situ output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2660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2660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1260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Ecosystem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1260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NQA-1 quality assurance; large application family (BISON, Grizzly, ...)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Everything in a high-rate simulation that is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not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material update already exists here — parallel and production-tested.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NEML2: the material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8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New Engineering Material model Library v2 (ANL, open source) — constitutive models as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composable tensor programs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612648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01952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C"/>
                </a:solidFill>
                <a:latin typeface="Arial"/>
                <a:cs typeface="Arial"/>
              </a:rPr>
              <a:t>A MODEL = SMALL OPERATORS, COMPOSED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elasticity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993392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flow rule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53512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163824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hardening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23944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34256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rate
sensitivity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294376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504688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
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declared in an input file; exact derivatives by automatic differentiation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22776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Batched: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all quadrature points evaluated in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one batched call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Device-portable: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libTorch (PyTorch C++) backend runs the same model on CPU or GPU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NEML2 library benchmark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(crystal plasticity): 42,500 s (NEML, CPU) → 68 s on one GPU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50608" y="1773936"/>
            <a:ext cx="4474159" cy="310896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8352" y="1929384"/>
            <a:ext cx="39986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ONE CALL, ALL POINTS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706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364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021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6792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368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94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652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309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706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364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021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6792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3368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94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652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309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706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364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021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6792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3368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994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652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309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70648" y="3575304"/>
            <a:ext cx="3834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E2430"/>
                </a:solidFill>
                <a:latin typeface="Consolas"/>
                <a:cs typeface="Consolas"/>
              </a:rPr>
              <a:t>σ = model(ε, state)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 over the whole batch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0648" y="4032504"/>
            <a:ext cx="38340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GPUs want exactly this shape of work: wide, uniform, no per-point branching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NEML2 evaluates sophisticated material models the way accelerators want them evaluated.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What it lacks — mesh, BCs, assembly — is exactly what MOOSE has.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What we built: two pillars, one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9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5875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ExplicitMixedOrder integrator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Explicit central-difference integrator with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mixed-order multiphysics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(2nd-order mechanics + 1st-order fields)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Lumped mass via matrix tag —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zero linear iterations per step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Variable step size (Abaqus-style midpoint velocity averaging)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Upstreamed to MOOSE </a:t>
            </a:r>
            <a:r>
              <a:rPr sz="1250" b="0" i="0">
                <a:solidFill>
                  <a:srgbClr val="3A3F47"/>
                </a:solidFill>
                <a:latin typeface="Consolas"/>
                <a:cs typeface="Consolas"/>
              </a:rPr>
              <a:t>solid_mechanics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0479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3127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NEML2 nodal-force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NEML2 computes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internal nodal forces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itself — not just stress — for the whole mesh in batched tensor ops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Constitutive state lives on the device and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advances in place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between steps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Plugs into the explicit solve as a residual contribution — MOOSE BCs, outputs, MPI unchanged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3308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13308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9595C"/>
                </a:solidFill>
                <a:latin typeface="Arial"/>
                <a:cs typeface="Arial"/>
              </a:rPr>
              <a:t>Foundation, unchanged:  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MOOSE boundary conditions  ·  parallel domain decomposition  ·  meshing &amp; output  ·  contact-compatible architecture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All of it is open source in the MOOSE framework and solid-mechanics module;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NEML2 force path is verified against conventional MOOSE on CPU and CUDA.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One explicit step through the NEML2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10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68296" y="1371600"/>
            <a:ext cx="7455103" cy="2907792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51176" y="1463040"/>
            <a:ext cx="708934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DEVICE (libTorch)  —  same code on CPU / CUDA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MOOSE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vector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(PETSc)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upload /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07447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residual →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ExplicitMixed-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advance u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download /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42616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NEML2FE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Interpolation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gather u, ∇u at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quad points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99483.7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465243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SmallStrain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ε = sym ∇u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whole batch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22111.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287871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NEML2Model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Executor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σ = model(ε, state)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one batched call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44739.2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10499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NEML2Stress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Divergence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Rᵉ = Σ ∇φ·σ JxW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elements at once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02536" y="2514600.0"/>
            <a:ext cx="621792" cy="0.0"/>
          </a:xfrm>
          <a:prstGeom prst="line">
            <a:avLst/>
          </a:prstGeom>
          <a:ln w="22225">
            <a:solidFill>
              <a:srgbClr val="1E243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567367" y="2514600.0"/>
            <a:ext cx="621792" cy="0.0"/>
          </a:xfrm>
          <a:prstGeom prst="line">
            <a:avLst/>
          </a:prstGeom>
          <a:ln w="22225">
            <a:solidFill>
              <a:srgbClr val="1E243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916107.0" y="3255264"/>
            <a:ext cx="0.0" cy="1335024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75588.0" y="4590288"/>
            <a:ext cx="9640519.0" cy="0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275588.0" y="3273552"/>
            <a:ext cx="0.0" cy="1316736"/>
          </a:xfrm>
          <a:prstGeom prst="line">
            <a:avLst/>
          </a:prstGeom>
          <a:ln w="19050">
            <a:solidFill>
              <a:srgbClr val="06509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632807" y="466344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06509D"/>
                </a:solidFill>
                <a:latin typeface="Arial"/>
                <a:cs typeface="Arial"/>
              </a:rPr>
              <a:t>next explicit step (Δt ≈ 10 ns)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42616" y="3529584"/>
            <a:ext cx="6906463" cy="5852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25496" y="3529584"/>
            <a:ext cx="654070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built once, cached on device:  </a:t>
            </a:r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shape functions φ, ∇φ,  DOF maps,  quadrature weights JxW  — rebuilt only on mesh change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interior force computation never touches an element loop: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 short sequence of batched tensor ops.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Constitutive state never leaves the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11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52728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36245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CONVENTIONAL COUPLING — state round-trips through MOOSE every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739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688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276856"/>
            <a:ext cx="6766560" cy="0"/>
          </a:xfrm>
          <a:prstGeom prst="line">
            <a:avLst/>
          </a:prstGeom>
          <a:ln w="9525">
            <a:solidFill>
              <a:srgbClr val="CF1D4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21408" y="1655064"/>
            <a:ext cx="26517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 in MOOSE material properties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7648" y="1655064"/>
            <a:ext cx="237744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age state:  old ← current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50208" y="2350008"/>
            <a:ext cx="31089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batched stress + state update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47288" y="2130552"/>
            <a:ext cx="1051560" cy="219456"/>
          </a:xfrm>
          <a:prstGeom prst="line">
            <a:avLst/>
          </a:prstGeom>
          <a:ln w="19050">
            <a:solidFill>
              <a:srgbClr val="CF1D4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510528" y="2130552"/>
            <a:ext cx="731520" cy="457200"/>
          </a:xfrm>
          <a:prstGeom prst="line">
            <a:avLst/>
          </a:prstGeom>
          <a:ln w="19050">
            <a:solidFill>
              <a:srgbClr val="CF1D4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887968" y="1819656"/>
            <a:ext cx="2377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state copied down and back up every step — scales with model complexity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319272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4290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THIS WORK — state advances in place on the device  (manage_state_advance)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8404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53542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92808" y="4343400"/>
            <a:ext cx="6766560" cy="0"/>
          </a:xfrm>
          <a:prstGeom prst="line">
            <a:avLst/>
          </a:prstGeom>
          <a:ln w="9525">
            <a:solidFill>
              <a:srgbClr val="5E861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12140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nodal forces 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5888" y="4416552"/>
            <a:ext cx="365760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 i="0">
                <a:solidFill>
                  <a:srgbClr val="1E2430"/>
                </a:solidFill>
                <a:latin typeface="Arial"/>
                <a:cs typeface="Arial"/>
              </a:rPr>
              <a:t>state (Eᵖ, εᵖ, T, ...) advances in place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72968" y="4197096"/>
            <a:ext cx="960120" cy="219456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876288" y="4197096"/>
            <a:ext cx="502920" cy="219456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887968" y="3886200"/>
            <a:ext cx="2377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per step: one solution upload, one force download — independent of model complexity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richer the model, the more this matters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— state stays where it is computed; traffic does not grow with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method, in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12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49047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08176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 runtime ≈ steps × material-update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5564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CFL fixes the step count; the constitutive update is the only lever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31136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231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4086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ExplicitMixedOrder advances mechanics + first-order fields, no solver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6883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lumped mass, zero linear iterations; upstreamed to MOOSE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63824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35584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27355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on the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62102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 over all elements; state advances in place; one upload + one download per step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96512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288536"/>
            <a:ext cx="420624" cy="420624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20624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MOOSE keeps BCs, parallelism, outputs — unchanged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53712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and the path is verified to match conventional MOOSE assembly (CPU and CUDA test suite)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3892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13892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Up next:  </a:t>
            </a:r>
            <a:r>
              <a:rPr sz="1500" b="0" i="0">
                <a:solidFill>
                  <a:srgbClr val="1E2430"/>
                </a:solidFill>
                <a:latin typeface="Arial"/>
                <a:cs typeface="Arial"/>
              </a:rPr>
              <a:t>verification against MOOSE’s native J2 update  ·  3-D Taylor anvil impact  ·  coupled thermo-mechanics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interface adds no 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13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Matched-constitutive comparison: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the same J2 model through both force paths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— same mesh, same steps; only the assembly implementation differs</a:t>
            </a:r>
          </a:p>
        </p:txBody>
      </p:sp>
      <p:pic>
        <p:nvPicPr>
          <p:cNvPr id="5" name="Picture 4" descr="fig_ver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64208"/>
            <a:ext cx="6583680" cy="26095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346921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2-D slug impact test problem — internal force field at the final step; impact face at left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62088" y="1801368"/>
            <a:ext cx="4062679" cy="12070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62088" y="1911096"/>
            <a:ext cx="50292" cy="987552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1929384"/>
            <a:ext cx="360547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6509D"/>
                </a:solidFill>
                <a:latin typeface="Arial"/>
                <a:cs typeface="Arial"/>
              </a:rPr>
              <a:t>≤ 3 × 10</a:t>
            </a:r>
            <a:r>
              <a:rPr sz="3000" b="1" i="0" baseline="30000">
                <a:solidFill>
                  <a:srgbClr val="06509D"/>
                </a:solidFill>
                <a:latin typeface="Arial"/>
                <a:cs typeface="Arial"/>
              </a:rPr>
              <a:t>−8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2478024"/>
            <a:ext cx="360547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difference in nodal forces,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relative to the peak 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62088" y="3227832"/>
            <a:ext cx="4062679" cy="12070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62088" y="3337560"/>
            <a:ext cx="50292" cy="987552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3355848"/>
            <a:ext cx="360547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5E8614"/>
                </a:solidFill>
                <a:latin typeface="Arial"/>
                <a:cs typeface="Arial"/>
              </a:rPr>
              <a:t>≤ 8 × 10</a:t>
            </a:r>
            <a:r>
              <a:rPr sz="3000" b="1" i="0" baseline="30000">
                <a:solidFill>
                  <a:srgbClr val="5E8614"/>
                </a:solidFill>
                <a:latin typeface="Arial"/>
                <a:cs typeface="Arial"/>
              </a:rPr>
              <a:t>−8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3904488"/>
            <a:ext cx="360547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max relative difference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in displacements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2088" y="4700016"/>
            <a:ext cx="406267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the difference panel needs a 10⁸ magnification to show anything at 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Any error in the interface would appear here — it doesn't.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NEML2 force path reproduces MOOSE's native assembly to one part in 10</a:t>
            </a:r>
            <a:r>
              <a:rPr sz="1500" b="0" i="0" baseline="30000">
                <a:solidFill>
                  <a:srgbClr val="3A3F47"/>
                </a:solidFill>
                <a:latin typeface="Arial"/>
                <a:cs typeface="Arial"/>
              </a:rPr>
              <a:t>8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3-D Taylor anvil impact,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14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OFHC copper slug at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235.9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— Johnson–Cook plasticity in NEML2,  Δt = 10 ns, 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~12,000 explicit steps</a:t>
            </a:r>
          </a:p>
        </p:txBody>
      </p:sp>
      <p:pic>
        <p:nvPicPr>
          <p:cNvPr id="5" name="Picture 4" descr="fig_p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1627632"/>
            <a:ext cx="8778240" cy="24247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07008" y="4079852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cutaway views (near half removed) — plastic strain localizes at the impact foot; gray plane = rigid anvil</a:t>
            </a:r>
          </a:p>
        </p:txBody>
      </p:sp>
      <p:pic>
        <p:nvPicPr>
          <p:cNvPr id="7" name="Picture 6" descr="fig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372460"/>
            <a:ext cx="4114800" cy="157322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38928" y="4601060"/>
            <a:ext cx="6485839" cy="13903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2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Same mesh, BCs, integrator — the copper temper is swapped by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changing only NEML2 material parameters</a:t>
            </a:r>
          </a:p>
          <a:p>
            <a:pPr marL="219456" indent="-219456">
              <a:lnSpc>
                <a:spcPct val="106000"/>
              </a:lnSpc>
              <a:spcAft>
                <a:spcPts val="12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Full-hard </a:t>
            </a:r>
            <a:r>
              <a:rPr sz="1350" b="1" i="0">
                <a:solidFill>
                  <a:srgbClr val="CF1D4C"/>
                </a:solidFill>
                <a:latin typeface="Arial"/>
                <a:cs typeface="Arial"/>
              </a:rPr>
              <a:t>51%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vs annealed </a:t>
            </a:r>
            <a:r>
              <a:rPr sz="1350" b="1" i="0">
                <a:solidFill>
                  <a:srgbClr val="06509D"/>
                </a:solidFill>
                <a:latin typeface="Arial"/>
                <a:cs typeface="Arial"/>
              </a:rPr>
              <a:t>58%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axial shortening — temper sensitivity captured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Coupled thermo-mechanics: heating from plastic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15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Same coupled run — temperature integrated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inside the NEML2 model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(adiabatic Taylor–Quinney heating, β = 0.9), in the same batched update</a:t>
            </a:r>
          </a:p>
        </p:txBody>
      </p:sp>
      <p:pic>
        <p:nvPicPr>
          <p:cNvPr id="5" name="Picture 4" descr="fig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888" y="1627632"/>
            <a:ext cx="8229600" cy="24500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81328" y="4105162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temperature rise above 300 K, cutaway views — run to 114 µs, &gt;99% of the impact kinetic energy dissipated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443490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4525786"/>
            <a:ext cx="50292" cy="795528"/>
          </a:xfrm>
          <a:prstGeom prst="rect">
            <a:avLst/>
          </a:pr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4516642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Feeds back into the flow stress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4836682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the hot foot softens (Johnson–Cook Θ = 1 − T*ᵐ) and flows more easily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4794" y="4443490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4525786"/>
            <a:ext cx="50292" cy="795528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4250" y="4516642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Adiabatic by physics, not assumption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4250" y="4836682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diffusion length √(αt) ≈ 0.1 mm ≪ element size over 120 µs — no heat-conduction PDE needed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2660" y="4443490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2660" y="4525786"/>
            <a:ext cx="50292" cy="795528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2116" y="4516642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Three extra NEML2 model blocks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2116" y="4836682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no new MOOSE modules, no new transfers — temperature state lives on the device like everything else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46811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46811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abstract's thermo-mechanical claim, delivered: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ΔT ≈ 120 K at the mushroom foot, captured end-to-end through the NEML2 force path.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L 2020">
  <a:themeElements>
    <a:clrScheme name="INL 2020">
      <a:dk1>
        <a:srgbClr val="000000"/>
      </a:dk1>
      <a:lt1>
        <a:srgbClr val="FFFFFF"/>
      </a:lt1>
      <a:dk2>
        <a:srgbClr val="06509D"/>
      </a:dk2>
      <a:lt2>
        <a:srgbClr val="2CA8E1"/>
      </a:lt2>
      <a:accent1>
        <a:srgbClr val="8EC423"/>
      </a:accent1>
      <a:accent2>
        <a:srgbClr val="2CA8E1"/>
      </a:accent2>
      <a:accent3>
        <a:srgbClr val="832369"/>
      </a:accent3>
      <a:accent4>
        <a:srgbClr val="CF1D4C"/>
      </a:accent4>
      <a:accent5>
        <a:srgbClr val="F78E20"/>
      </a:accent5>
      <a:accent6>
        <a:srgbClr val="59595C"/>
      </a:accent6>
      <a:hlink>
        <a:srgbClr val="7F7F7F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L_2022_hexLight_wide-WEB" id="{02E20BC5-FEDE-CE44-9BE4-1CE6CB29BA3D}" vid="{E4378662-F895-C340-BA33-6EA5E69E43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3797F432E2A042A124C0139981475A" ma:contentTypeVersion="14" ma:contentTypeDescription="Create a new document." ma:contentTypeScope="" ma:versionID="f98a91b6c1e71bbba55439f0a80a0573">
  <xsd:schema xmlns:xsd="http://www.w3.org/2001/XMLSchema" xmlns:xs="http://www.w3.org/2001/XMLSchema" xmlns:p="http://schemas.microsoft.com/office/2006/metadata/properties" xmlns:ns2="2391d807-f94f-4c4f-bb14-493106c624c2" xmlns:ns3="42ea9b75-b306-4826-8769-4c6ad6718b67" targetNamespace="http://schemas.microsoft.com/office/2006/metadata/properties" ma:root="true" ma:fieldsID="e10204a60157ce1d68d66ae7a68b8f6a" ns2:_="" ns3:_="">
    <xsd:import namespace="2391d807-f94f-4c4f-bb14-493106c624c2"/>
    <xsd:import namespace="42ea9b75-b306-4826-8769-4c6ad6718b6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91d807-f94f-4c4f-bb14-493106c624c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list="UserInfo" ma:SearchPeopleOnly="false" ma:internalName="SharedWithUse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lcf76f155ced4ddcb4097134ff3c332f" ma:index="10" nillable="true" ma:taxonomy="true" ma:internalName="lcf76f155ced4ddcb4097134ff3c332f" ma:taxonomyFieldName="MediaServiceImageTags" ma:displayName="Image Tags" ma:readOnly="false" ma:fieldId="{5cf76f15-5ced-4ddc-b409-7134ff3c332f}" ma:taxonomyMulti="true" ma:sspId="0b78db39-37aa-4e28-bb7e-9642684d42d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ea9b75-b306-4826-8769-4c6ad6718b67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hidden="true" ma:list="{2721504a-65bf-41e8-8385-5761431a3c1d}" ma:internalName="TaxCatchAll" ma:showField="CatchAllData" ma:web="42ea9b75-b306-4826-8769-4c6ad6718b6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391d807-f94f-4c4f-bb14-493106c624c2">
      <UserInfo>
        <DisplayName/>
        <AccountId xsi:nil="true"/>
        <AccountType/>
      </UserInfo>
    </SharedWithUsers>
    <TaxCatchAll xmlns="42ea9b75-b306-4826-8769-4c6ad6718b67" xsi:nil="true"/>
    <lcf76f155ced4ddcb4097134ff3c332f xmlns="2391d807-f94f-4c4f-bb14-493106c624c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158C39C-6B2B-46C8-8FF5-4FF701DE8E56}"/>
</file>

<file path=customXml/itemProps2.xml><?xml version="1.0" encoding="utf-8"?>
<ds:datastoreItem xmlns:ds="http://schemas.openxmlformats.org/officeDocument/2006/customXml" ds:itemID="{5B987B27-07C2-425E-9FC8-8EB9D2FCBB9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E72521-46AD-4BAF-8AA5-1067FA401909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9542</TotalTime>
  <Words>15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Arial Narrow</vt:lpstr>
      <vt:lpstr>Calibri</vt:lpstr>
      <vt:lpstr>Myriad Pro Cond</vt:lpstr>
      <vt:lpstr>Times New Roman</vt:lpstr>
      <vt:lpstr>INL 2020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Daniel L. Campbell</dc:creator>
  <cp:keywords/>
  <dc:description/>
  <cp:lastModifiedBy>David L. Combs</cp:lastModifiedBy>
  <cp:revision>238</cp:revision>
  <dcterms:created xsi:type="dcterms:W3CDTF">2020-04-22T20:22:45Z</dcterms:created>
  <dcterms:modified xsi:type="dcterms:W3CDTF">2022-07-18T20:44:46Z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0x010100803797F432E2A042A124C0139981475A</vt:lpwstr>
  </property>
  <property fmtid="{D5CDD505-2E9C-101B-9397-08002B2CF9AE}" pid="3" name="Order">
    <vt:r8>73000</vt:r8>
  </property>
</Properties>
</file>

<file path=[Content_Types].xml><?xml version="1.0" encoding="utf-8"?>
<Types xmlns="http://schemas.openxmlformats.org/package/2006/content-types">
  <Default Extension="emf" ContentType="image/x-emf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customXml/itemProps1.xml" ContentType="application/vnd.openxmlformats-officedocument.customXmlProperties+xml"/>
  <Override PartName="/customXml/itemProps2.xml" ContentType="application/vnd.openxmlformats-officedocument.customXmlProperties+xml"/>
  <Override PartName="/customXml/itemProps3.xml" ContentType="application/vnd.openxmlformats-officedocument.customXmlProperties+xml"/>
  <Override PartName="/docProps/app.xml" ContentType="application/vnd.openxmlformats-officedocument.extended-properti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slideLayouts/slideLayout14.xml" ContentType="application/vnd.openxmlformats-officedocument.presentationml.slideLayout+xml"/>
  <Override PartName="/ppt/slideLayouts/slideLayout15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Relationship Id="rId5" Type="http://schemas.openxmlformats.org/officeDocument/2006/relationships/custom-properties" Target="docProps/custom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howSpecialPlsOnTitleSld="0" autoCompressPictures="0">
  <p:sldMasterIdLst>
    <p:sldMasterId id="2147483692" r:id="rId4"/>
  </p:sldMasterIdLst>
  <p:notesMasterIdLst>
    <p:notesMasterId r:id="rId8"/>
  </p:notesMasterIdLst>
  <p:sldIdLst>
    <p:sldId id="256" r:id="rId7"/>
    <p:sldId id="257" r:id="rId6"/>
    <p:sldId id="258" r:id="rId5"/>
    <p:sldId id="259" r:id="rId13"/>
    <p:sldId id="260" r:id="rId14"/>
    <p:sldId id="261" r:id="rId15"/>
    <p:sldId id="262" r:id="rId16"/>
    <p:sldId id="263" r:id="rId17"/>
    <p:sldId id="264" r:id="rId18"/>
    <p:sldId id="265" r:id="rId19"/>
    <p:sldId id="266" r:id="rId20"/>
    <p:sldId id="267" r:id="rId21"/>
    <p:sldId id="268" r:id="rId22"/>
    <p:sldId id="269" r:id="rId23"/>
    <p:sldId id="270" r:id="rId24"/>
    <p:sldId id="271" r:id="rId25"/>
    <p:sldId id="272" r:id="rId26"/>
    <p:sldId id="273" r:id="rId27"/>
    <p:sldId id="274" r:id="rId28"/>
  </p:sldIdLst>
  <p:sldSz cx="12192000" cy="6858000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07519E"/>
    <a:srgbClr val="2DA9E1"/>
    <a:srgbClr val="1C3665"/>
    <a:srgbClr val="8EC423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5266"/>
    <p:restoredTop sz="94694"/>
  </p:normalViewPr>
  <p:slideViewPr>
    <p:cSldViewPr snapToGrid="0" snapToObjects="1">
      <p:cViewPr varScale="1">
        <p:scale>
          <a:sx n="124" d="100"/>
          <a:sy n="124" d="100"/>
        </p:scale>
        <p:origin x="1200" y="168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customXml" Target="../customXml/item1.xml"/><Relationship Id="rId2" Type="http://schemas.openxmlformats.org/officeDocument/2006/relationships/customXml" Target="../customXml/item2.xml"/><Relationship Id="rId3" Type="http://schemas.openxmlformats.org/officeDocument/2006/relationships/customXml" Target="../customXml/item3.xml"/><Relationship Id="rId4" Type="http://schemas.openxmlformats.org/officeDocument/2006/relationships/slideMaster" Target="slideMasters/slideMaster1.xml"/><Relationship Id="rId5" Type="http://schemas.openxmlformats.org/officeDocument/2006/relationships/slide" Target="slides/slide3.xml"/><Relationship Id="rId6" Type="http://schemas.openxmlformats.org/officeDocument/2006/relationships/slide" Target="slides/slide2.xml"/><Relationship Id="rId7" Type="http://schemas.openxmlformats.org/officeDocument/2006/relationships/slide" Target="slides/slide1.xml"/><Relationship Id="rId8" Type="http://schemas.openxmlformats.org/officeDocument/2006/relationships/notesMaster" Target="notesMasters/notesMaster1.xml"/><Relationship Id="rId9" Type="http://schemas.openxmlformats.org/officeDocument/2006/relationships/presProps" Target="presProps.xml"/><Relationship Id="rId10" Type="http://schemas.openxmlformats.org/officeDocument/2006/relationships/viewProps" Target="viewProps.xml"/><Relationship Id="rId11" Type="http://schemas.openxmlformats.org/officeDocument/2006/relationships/theme" Target="theme/theme1.xml"/><Relationship Id="rId12" Type="http://schemas.openxmlformats.org/officeDocument/2006/relationships/tableStyles" Target="tableStyles.xml"/><Relationship Id="rId13" Type="http://schemas.openxmlformats.org/officeDocument/2006/relationships/slide" Target="slides/slide4.xml"/><Relationship Id="rId14" Type="http://schemas.openxmlformats.org/officeDocument/2006/relationships/slide" Target="slides/slide5.xml"/><Relationship Id="rId15" Type="http://schemas.openxmlformats.org/officeDocument/2006/relationships/slide" Target="slides/slide6.xml"/><Relationship Id="rId16" Type="http://schemas.openxmlformats.org/officeDocument/2006/relationships/slide" Target="slides/slide7.xml"/><Relationship Id="rId17" Type="http://schemas.openxmlformats.org/officeDocument/2006/relationships/slide" Target="slides/slide8.xml"/><Relationship Id="rId18" Type="http://schemas.openxmlformats.org/officeDocument/2006/relationships/slide" Target="slides/slide9.xml"/><Relationship Id="rId19" Type="http://schemas.openxmlformats.org/officeDocument/2006/relationships/slide" Target="slides/slide10.xml"/><Relationship Id="rId20" Type="http://schemas.openxmlformats.org/officeDocument/2006/relationships/slide" Target="slides/slide11.xml"/><Relationship Id="rId21" Type="http://schemas.openxmlformats.org/officeDocument/2006/relationships/slide" Target="slides/slide12.xml"/><Relationship Id="rId22" Type="http://schemas.openxmlformats.org/officeDocument/2006/relationships/slide" Target="slides/slide13.xml"/><Relationship Id="rId23" Type="http://schemas.openxmlformats.org/officeDocument/2006/relationships/slide" Target="slides/slide14.xml"/><Relationship Id="rId24" Type="http://schemas.openxmlformats.org/officeDocument/2006/relationships/slide" Target="slides/slide15.xml"/><Relationship Id="rId25" Type="http://schemas.openxmlformats.org/officeDocument/2006/relationships/slide" Target="slides/slide16.xml"/><Relationship Id="rId26" Type="http://schemas.openxmlformats.org/officeDocument/2006/relationships/slide" Target="slides/slide17.xml"/><Relationship Id="rId27" Type="http://schemas.openxmlformats.org/officeDocument/2006/relationships/slide" Target="slides/slide18.xml"/><Relationship Id="rId28" Type="http://schemas.openxmlformats.org/officeDocument/2006/relationships/slide" Target="slides/slide19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9909992B-A26C-6A4B-AC27-2602734F2866}" type="datetimeFigureOut">
              <a:rPr lang="en-US" smtClean="0"/>
              <a:t>7/18/22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9A0CCFD4-A7F8-054B-8822-BC244B953582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437012004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Relationship Id="rId3" Type="http://schemas.openxmlformats.org/officeDocument/2006/relationships/image" Target="../media/image3.emf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nl_wordmark.png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nl_wordmark.png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nl_wordmark.png"/></Relationships>
</file>

<file path=ppt/slideLayouts/_rels/slideLayout1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4.jpeg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Title Slide Hex_01"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6" name="Picture 5">
            <a:extLst>
              <a:ext uri="{FF2B5EF4-FFF2-40B4-BE49-F238E27FC236}">
                <a16:creationId xmlns:a16="http://schemas.microsoft.com/office/drawing/2014/main" id="{C77A4BE5-FE46-EA43-B6B0-450DE02CC372}"/>
              </a:ext>
            </a:extLst>
          </p:cNvPr>
          <p:cNvPicPr>
            <a:picLocks noChangeAspect="1"/>
          </p:cNvPicPr>
          <p:nvPr userDrawn="1"/>
        </p:nvPicPr>
        <p:blipFill>
          <a:blip r:embed="rId2" cstate="screen"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grpSp>
        <p:nvGrpSpPr>
          <p:cNvPr id="13" name="blue/green box bottom">
            <a:extLst>
              <a:ext uri="{FF2B5EF4-FFF2-40B4-BE49-F238E27FC236}">
                <a16:creationId xmlns:a16="http://schemas.microsoft.com/office/drawing/2014/main" id="{01F9400E-D49A-AA40-B4BD-53F03EC31D76}"/>
              </a:ext>
            </a:extLst>
          </p:cNvPr>
          <p:cNvGrpSpPr/>
          <p:nvPr userDrawn="1"/>
        </p:nvGrpSpPr>
        <p:grpSpPr>
          <a:xfrm>
            <a:off x="0" y="5340350"/>
            <a:ext cx="12192000" cy="1517650"/>
            <a:chOff x="0" y="5340350"/>
            <a:chExt cx="12192000" cy="1517650"/>
          </a:xfrm>
        </p:grpSpPr>
        <p:sp>
          <p:nvSpPr>
            <p:cNvPr id="11" name="Rectangle 10">
              <a:extLst>
                <a:ext uri="{FF2B5EF4-FFF2-40B4-BE49-F238E27FC236}">
                  <a16:creationId xmlns:a16="http://schemas.microsoft.com/office/drawing/2014/main" id="{7C04B8F3-C379-C04D-8634-1CDEC81586E2}"/>
                </a:ext>
              </a:extLst>
            </p:cNvPr>
            <p:cNvSpPr/>
            <p:nvPr userDrawn="1"/>
          </p:nvSpPr>
          <p:spPr bwMode="auto">
            <a:xfrm>
              <a:off x="0" y="5444519"/>
              <a:ext cx="12192000" cy="1413481"/>
            </a:xfrm>
            <a:prstGeom prst="rect">
              <a:avLst/>
            </a:prstGeom>
            <a:solidFill>
              <a:srgbClr val="07519E"/>
            </a:solidFill>
            <a:ln w="9525" cap="flat" cmpd="sng" algn="ctr">
              <a:noFill/>
              <a:prstDash val="solid"/>
              <a:round/>
              <a:headEnd type="none" w="med" len="med"/>
              <a:tailEnd type="none" w="med" len="med"/>
            </a:ln>
            <a:effectLst/>
          </p:spPr>
          <p:txBody>
            <a:bodyPr vert="horz" wrap="square" lIns="91440" tIns="45720" rIns="91440" bIns="45720" numCol="1" rtlCol="0" anchor="t" anchorCtr="0" compatLnSpc="1">
              <a:prstTxWarp prst="textNoShape">
                <a:avLst/>
              </a:prstTxWarp>
            </a:bodyPr>
            <a:lstStyle/>
            <a:p>
              <a:pPr marL="0" marR="0" indent="0" algn="l" defTabSz="914400" rtl="0" eaLnBrk="0" fontAlgn="base" latinLnBrk="0" hangingPunct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</a:pPr>
              <a:endParaRPr kumimoji="0" lang="en-US" sz="2400" b="0" i="0" u="none" strike="noStrike" cap="none" normalizeH="0" baseline="0">
                <a:ln>
                  <a:noFill/>
                </a:ln>
                <a:solidFill>
                  <a:schemeClr val="tx1"/>
                </a:solidFill>
                <a:effectLst/>
                <a:latin typeface="Times New Roman" pitchFamily="18" charset="0"/>
              </a:endParaRPr>
            </a:p>
          </p:txBody>
        </p:sp>
        <p:sp>
          <p:nvSpPr>
            <p:cNvPr id="12" name="Rectangle 11">
              <a:extLst>
                <a:ext uri="{FF2B5EF4-FFF2-40B4-BE49-F238E27FC236}">
                  <a16:creationId xmlns:a16="http://schemas.microsoft.com/office/drawing/2014/main" id="{003207E4-91BC-AB48-939F-AAC2AA29BF23}"/>
                </a:ext>
              </a:extLst>
            </p:cNvPr>
            <p:cNvSpPr/>
            <p:nvPr userDrawn="1"/>
          </p:nvSpPr>
          <p:spPr bwMode="auto">
            <a:xfrm>
              <a:off x="0" y="5340350"/>
              <a:ext cx="12192000" cy="104169"/>
            </a:xfrm>
            <a:prstGeom prst="rect">
              <a:avLst/>
            </a:prstGeom>
            <a:solidFill>
              <a:srgbClr val="8EC423"/>
            </a:solidFill>
            <a:ln w="9525" cap="flat" cmpd="sng" algn="ctr">
              <a:noFill/>
              <a:prstDash val="solid"/>
              <a:round/>
              <a:headEnd type="none" w="med" len="med"/>
              <a:tailEnd type="none" w="med" len="med"/>
            </a:ln>
            <a:effectLst/>
          </p:spPr>
          <p:txBody>
            <a:bodyPr vert="horz" wrap="square" lIns="91440" tIns="45720" rIns="91440" bIns="45720" numCol="1" rtlCol="0" anchor="t" anchorCtr="0" compatLnSpc="1">
              <a:prstTxWarp prst="textNoShape">
                <a:avLst/>
              </a:prstTxWarp>
            </a:bodyPr>
            <a:lstStyle/>
            <a:p>
              <a:pPr marL="0" marR="0" indent="0" algn="l" defTabSz="914400" rtl="0" eaLnBrk="0" fontAlgn="base" latinLnBrk="0" hangingPunct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</a:pPr>
              <a:endParaRPr kumimoji="0" lang="en-US" sz="2400" b="0" i="0" u="none" strike="noStrike" cap="none" normalizeH="0" baseline="0">
                <a:ln>
                  <a:noFill/>
                </a:ln>
                <a:solidFill>
                  <a:schemeClr val="tx1"/>
                </a:solidFill>
                <a:effectLst/>
                <a:latin typeface="Times New Roman" pitchFamily="18" charset="0"/>
              </a:endParaRPr>
            </a:p>
          </p:txBody>
        </p:sp>
      </p:grpSp>
      <p:sp>
        <p:nvSpPr>
          <p:cNvPr id="21" name="Text Placeholder 20">
            <a:extLst>
              <a:ext uri="{FF2B5EF4-FFF2-40B4-BE49-F238E27FC236}">
                <a16:creationId xmlns:a16="http://schemas.microsoft.com/office/drawing/2014/main" id="{E1DFF24A-6025-2847-8C93-29954BFB7B89}"/>
              </a:ext>
            </a:extLst>
          </p:cNvPr>
          <p:cNvSpPr>
            <a:spLocks noGrp="1"/>
          </p:cNvSpPr>
          <p:nvPr>
            <p:ph type="body" sz="quarter" idx="13" hasCustomPrompt="1"/>
          </p:nvPr>
        </p:nvSpPr>
        <p:spPr>
          <a:xfrm>
            <a:off x="2837144" y="1938829"/>
            <a:ext cx="9354855" cy="2292350"/>
          </a:xfrm>
          <a:prstGeom prst="rect">
            <a:avLst/>
          </a:prstGeom>
          <a:noFill/>
        </p:spPr>
        <p:txBody>
          <a:bodyPr wrap="square" lIns="365760" tIns="822960" rIns="1097280" bIns="822960" anchor="ctr" anchorCtr="0">
            <a:noAutofit/>
          </a:bodyPr>
          <a:lstStyle>
            <a:lvl1pPr marL="0" indent="0">
              <a:buFont typeface="Arial" panose="020B0604020202020204" pitchFamily="34" charset="0"/>
              <a:buNone/>
              <a:tabLst/>
              <a:defRPr sz="3600" b="1" i="0">
                <a:solidFill>
                  <a:schemeClr val="tx2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1pPr>
            <a:lvl2pPr marL="9525" indent="0">
              <a:buFontTx/>
              <a:buNone/>
              <a:tabLst/>
              <a:defRPr sz="2400">
                <a:solidFill>
                  <a:schemeClr val="tx2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2pPr>
            <a:lvl3pPr marL="914400" indent="0">
              <a:buFontTx/>
              <a:buNone/>
              <a:defRPr/>
            </a:lvl3pPr>
            <a:lvl4pPr marL="1371600" indent="0">
              <a:buFontTx/>
              <a:buNone/>
              <a:defRPr/>
            </a:lvl4pPr>
            <a:lvl5pPr marL="1828800" indent="0">
              <a:buFontTx/>
              <a:buNone/>
              <a:defRPr/>
            </a:lvl5pPr>
          </a:lstStyle>
          <a:p>
            <a:pPr lvl="0"/>
            <a:r>
              <a:rPr lang="en-US" dirty="0"/>
              <a:t>Click to edit title</a:t>
            </a:r>
          </a:p>
          <a:p>
            <a:pPr lvl="1"/>
            <a:r>
              <a:rPr lang="en-US" dirty="0"/>
              <a:t>Click to edit subtitle</a:t>
            </a:r>
          </a:p>
        </p:txBody>
      </p:sp>
      <p:sp>
        <p:nvSpPr>
          <p:cNvPr id="14" name="Text Placeholder 46">
            <a:extLst>
              <a:ext uri="{FF2B5EF4-FFF2-40B4-BE49-F238E27FC236}">
                <a16:creationId xmlns:a16="http://schemas.microsoft.com/office/drawing/2014/main" id="{45BFF713-8DD6-6843-86C3-2D1862E3CA9C}"/>
              </a:ext>
            </a:extLst>
          </p:cNvPr>
          <p:cNvSpPr>
            <a:spLocks noGrp="1"/>
          </p:cNvSpPr>
          <p:nvPr>
            <p:ph type="body" sz="quarter" idx="16"/>
          </p:nvPr>
        </p:nvSpPr>
        <p:spPr>
          <a:xfrm>
            <a:off x="670142" y="273297"/>
            <a:ext cx="2541981" cy="1392237"/>
          </a:xfrm>
          <a:effectLst/>
        </p:spPr>
        <p:txBody>
          <a:bodyPr lIns="0" rIns="0" bIns="0" anchor="b" anchorCtr="0">
            <a:noAutofit/>
          </a:bodyPr>
          <a:lstStyle>
            <a:lvl1pPr marL="7938" indent="0">
              <a:buFontTx/>
              <a:buNone/>
              <a:tabLst/>
              <a:defRPr sz="1600" b="1" i="0">
                <a:solidFill>
                  <a:schemeClr val="tx2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1pPr>
            <a:lvl2pPr marL="457200" indent="0">
              <a:buFontTx/>
              <a:buNone/>
              <a:defRPr b="0" i="0">
                <a:solidFill>
                  <a:schemeClr val="bg1"/>
                </a:solidFill>
                <a:latin typeface="Myriad Pro Cond" panose="020B0506030403020204" pitchFamily="34" charset="0"/>
              </a:defRPr>
            </a:lvl2pPr>
            <a:lvl3pPr marL="7938" indent="0">
              <a:buFontTx/>
              <a:buNone/>
              <a:tabLst/>
              <a:defRPr sz="1600" b="0" i="0">
                <a:solidFill>
                  <a:schemeClr val="tx2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3pPr>
            <a:lvl4pPr marL="1371600" indent="0">
              <a:buFontTx/>
              <a:buNone/>
              <a:defRPr b="0" i="0">
                <a:solidFill>
                  <a:schemeClr val="bg1"/>
                </a:solidFill>
                <a:latin typeface="Myriad Pro Cond" panose="020B0506030403020204" pitchFamily="34" charset="0"/>
              </a:defRPr>
            </a:lvl4pPr>
            <a:lvl5pPr marL="1828800" indent="0">
              <a:buFontTx/>
              <a:buNone/>
              <a:defRPr b="0" i="0">
                <a:solidFill>
                  <a:schemeClr val="bg1"/>
                </a:solidFill>
                <a:latin typeface="Myriad Pro Cond" panose="020B0506030403020204" pitchFamily="34" charset="0"/>
              </a:defRPr>
            </a:lvl5pPr>
          </a:lstStyle>
          <a:p>
            <a:pPr lvl="0"/>
            <a:endParaRPr lang="en-US" dirty="0"/>
          </a:p>
          <a:p>
            <a:pPr lvl="2"/>
            <a:r>
              <a:rPr lang="en-US" dirty="0"/>
              <a:t>Date</a:t>
            </a:r>
          </a:p>
          <a:p>
            <a:pPr lvl="2"/>
            <a:endParaRPr lang="en-US" dirty="0"/>
          </a:p>
          <a:p>
            <a:pPr lvl="0"/>
            <a:r>
              <a:rPr lang="en-US" dirty="0"/>
              <a:t>Presenter name</a:t>
            </a:r>
          </a:p>
          <a:p>
            <a:pPr lvl="2"/>
            <a:r>
              <a:rPr lang="en-US" dirty="0"/>
              <a:t>Title</a:t>
            </a:r>
          </a:p>
        </p:txBody>
      </p:sp>
      <p:pic>
        <p:nvPicPr>
          <p:cNvPr id="9" name="Picture 8">
            <a:extLst>
              <a:ext uri="{FF2B5EF4-FFF2-40B4-BE49-F238E27FC236}">
                <a16:creationId xmlns:a16="http://schemas.microsoft.com/office/drawing/2014/main" id="{27150FBC-21D2-57A0-083B-AF225C0F1AD6}"/>
              </a:ext>
            </a:extLst>
          </p:cNvPr>
          <p:cNvPicPr>
            <a:picLocks noChangeAspect="1"/>
          </p:cNvPicPr>
          <p:nvPr userDrawn="1"/>
        </p:nvPicPr>
        <p:blipFill>
          <a:blip r:embed="rId3"/>
          <a:stretch>
            <a:fillRect/>
          </a:stretch>
        </p:blipFill>
        <p:spPr>
          <a:xfrm>
            <a:off x="5804279" y="5913998"/>
            <a:ext cx="5842000" cy="4699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24978885"/>
      </p:ext>
    </p:extLst>
  </p:cSld>
  <p:clrMapOvr>
    <a:overrideClrMapping bg1="lt1" tx1="dk1" bg2="lt2" tx2="dk2" accent1="accent1" accent2="accent2" accent3="accent3" accent4="accent4" accent5="accent5" accent6="accent6" hlink="hlink" folHlink="folHlink"/>
  </p:clrMapOvr>
  <p:extLst>
    <p:ext uri="{DCECCB84-F9BA-43D5-87BE-67443E8EF086}">
      <p15:sldGuideLst xmlns:p15="http://schemas.microsoft.com/office/powerpoint/2012/main">
        <p15:guide id="2" pos="3840">
          <p15:clr>
            <a:srgbClr val="FBAE40"/>
          </p15:clr>
        </p15:guide>
        <p15:guide id="3" orient="horz" pos="1920">
          <p15:clr>
            <a:srgbClr val="FBAE40"/>
          </p15:clr>
        </p15:guide>
        <p15:guide id="4" pos="5328">
          <p15:clr>
            <a:srgbClr val="FBAE40"/>
          </p15:clr>
        </p15:guide>
      </p15:sldGuideLst>
    </p:ext>
  </p:extLst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03EC5EE-7A70-7D44-877F-2A9D26623273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/>
        <p:txBody>
          <a:bodyPr/>
          <a:lstStyle/>
          <a:p>
            <a:r>
              <a:rPr lang="en-US" dirty="0"/>
              <a:t>Click to edit title</a:t>
            </a:r>
            <a:br>
              <a:rPr lang="en-US" dirty="0"/>
            </a:br>
            <a:r>
              <a:rPr lang="en-US" dirty="0"/>
              <a:t>(Reduce font for title longer than 2 lines)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E6FD6444-081A-D54B-830B-A94153C0EF14}"/>
              </a:ext>
            </a:extLst>
          </p:cNvPr>
          <p:cNvSpPr>
            <a:spLocks noGrp="1"/>
          </p:cNvSpPr>
          <p:nvPr>
            <p:ph idx="1" hasCustomPrompt="1"/>
          </p:nvPr>
        </p:nvSpPr>
        <p:spPr/>
        <p:txBody>
          <a:bodyPr/>
          <a:lstStyle/>
          <a:p>
            <a:pPr lvl="0"/>
            <a:r>
              <a:rPr lang="en-US" dirty="0"/>
              <a:t>Click to edit text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6A1E2218-371C-0D41-97AF-B220A81F8AD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7CD4A3B-E186-AB40-96C6-355AF9A6FE76}" type="datetimeFigureOut">
              <a:rPr lang="en-US" smtClean="0"/>
              <a:t>7/18/22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66B462E5-D969-3443-B549-CE7B6CCBE85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A7ABC785-2799-4146-A523-CFA98FEB93B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2B577FA-F7D9-2C48-919F-F962E3BF952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061193737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 Full Foot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Rectangle 6">
            <a:extLst>
              <a:ext uri="{FF2B5EF4-FFF2-40B4-BE49-F238E27FC236}">
                <a16:creationId xmlns:a16="http://schemas.microsoft.com/office/drawing/2014/main" id="{12365512-1A58-B241-838D-EFAB0E25F8AF}"/>
              </a:ext>
            </a:extLst>
          </p:cNvPr>
          <p:cNvSpPr/>
          <p:nvPr userDrawn="1"/>
        </p:nvSpPr>
        <p:spPr>
          <a:xfrm>
            <a:off x="0" y="6335712"/>
            <a:ext cx="12192000" cy="522288"/>
          </a:xfrm>
          <a:prstGeom prst="rect">
            <a:avLst/>
          </a:prstGeom>
          <a:solidFill>
            <a:schemeClr val="tx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8" name="Rectangle 7">
            <a:extLst>
              <a:ext uri="{FF2B5EF4-FFF2-40B4-BE49-F238E27FC236}">
                <a16:creationId xmlns:a16="http://schemas.microsoft.com/office/drawing/2014/main" id="{CEE89965-9C98-C446-B0C8-8151A52702B5}"/>
              </a:ext>
            </a:extLst>
          </p:cNvPr>
          <p:cNvSpPr/>
          <p:nvPr userDrawn="1"/>
        </p:nvSpPr>
        <p:spPr>
          <a:xfrm>
            <a:off x="0" y="6237795"/>
            <a:ext cx="12192000" cy="97917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pic>
        <p:nvPicPr>
          <p:cNvPr id="9" name="IDAHO NATIONAL LABORATORY">
            <a:extLst>
              <a:ext uri="{FF2B5EF4-FFF2-40B4-BE49-F238E27FC236}">
                <a16:creationId xmlns:a16="http://schemas.microsoft.com/office/drawing/2014/main" id="{C9B294FD-1F7F-4240-B2BD-1DD570DF2ECD}"/>
              </a:ext>
            </a:extLst>
          </p:cNvPr>
          <p:cNvPicPr>
            <a:picLocks noChangeAspect="1"/>
          </p:cNvPicPr>
          <p:nvPr userDrawn="1"/>
        </p:nvPicPr>
        <p:blipFill>
          <a:blip r:embed="rId2"/>
          <a:stretch>
            <a:fillRect/>
          </a:stretch>
        </p:blipFill>
        <p:spPr>
          <a:xfrm>
            <a:off x="8944584" y="6543675"/>
            <a:ext cx="2768600" cy="127000"/>
          </a:xfrm>
          <a:prstGeom prst="rect">
            <a:avLst/>
          </a:prstGeom>
        </p:spPr>
      </p:pic>
      <p:sp>
        <p:nvSpPr>
          <p:cNvPr id="2" name="Title 1">
            <a:extLst>
              <a:ext uri="{FF2B5EF4-FFF2-40B4-BE49-F238E27FC236}">
                <a16:creationId xmlns:a16="http://schemas.microsoft.com/office/drawing/2014/main" id="{503EC5EE-7A70-7D44-877F-2A9D26623273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/>
        <p:txBody>
          <a:bodyPr/>
          <a:lstStyle/>
          <a:p>
            <a:r>
              <a:rPr lang="en-US" dirty="0"/>
              <a:t>Click to edit title</a:t>
            </a:r>
            <a:br>
              <a:rPr lang="en-US" dirty="0"/>
            </a:br>
            <a:r>
              <a:rPr lang="en-US" dirty="0"/>
              <a:t>(Reduce font for title longer than 2 lines)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E6FD6444-081A-D54B-830B-A94153C0EF14}"/>
              </a:ext>
            </a:extLst>
          </p:cNvPr>
          <p:cNvSpPr>
            <a:spLocks noGrp="1"/>
          </p:cNvSpPr>
          <p:nvPr>
            <p:ph idx="1" hasCustomPrompt="1"/>
          </p:nvPr>
        </p:nvSpPr>
        <p:spPr/>
        <p:txBody>
          <a:bodyPr/>
          <a:lstStyle/>
          <a:p>
            <a:pPr lvl="0"/>
            <a:r>
              <a:rPr lang="en-US" dirty="0"/>
              <a:t>Click to edit text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6A1E2218-371C-0D41-97AF-B220A81F8AD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7CD4A3B-E186-AB40-96C6-355AF9A6FE76}" type="datetimeFigureOut">
              <a:rPr lang="en-US" smtClean="0"/>
              <a:t>7/18/22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66B462E5-D969-3443-B549-CE7B6CCBE85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A7ABC785-2799-4146-A523-CFA98FEB93B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2B577FA-F7D9-2C48-919F-F962E3BF952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931340950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Large Imag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03EC5EE-7A70-7D44-877F-2A9D26623273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/>
        <p:txBody>
          <a:bodyPr/>
          <a:lstStyle/>
          <a:p>
            <a:r>
              <a:rPr lang="en-US" dirty="0"/>
              <a:t>Click to edit title</a:t>
            </a:r>
            <a:br>
              <a:rPr lang="en-US" dirty="0"/>
            </a:br>
            <a:r>
              <a:rPr lang="en-US" dirty="0"/>
              <a:t>(Reduce font for title longer than 2 lines)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6A1E2218-371C-0D41-97AF-B220A81F8AD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7CD4A3B-E186-AB40-96C6-355AF9A6FE76}" type="datetimeFigureOut">
              <a:rPr lang="en-US" smtClean="0"/>
              <a:t>7/18/22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66B462E5-D969-3443-B549-CE7B6CCBE85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A7ABC785-2799-4146-A523-CFA98FEB93B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2B577FA-F7D9-2C48-919F-F962E3BF952F}" type="slidenum">
              <a:rPr lang="en-US" smtClean="0"/>
              <a:t>‹#›</a:t>
            </a:fld>
            <a:endParaRPr lang="en-US"/>
          </a:p>
        </p:txBody>
      </p:sp>
      <p:sp>
        <p:nvSpPr>
          <p:cNvPr id="7" name="Picture Placeholder 6">
            <a:extLst>
              <a:ext uri="{FF2B5EF4-FFF2-40B4-BE49-F238E27FC236}">
                <a16:creationId xmlns:a16="http://schemas.microsoft.com/office/drawing/2014/main" id="{EE6D6083-77A6-334A-8C7F-A5F18D4F5F87}"/>
              </a:ext>
            </a:extLst>
          </p:cNvPr>
          <p:cNvSpPr>
            <a:spLocks noGrp="1"/>
          </p:cNvSpPr>
          <p:nvPr>
            <p:ph type="pic" sz="quarter" idx="13" hasCustomPrompt="1"/>
          </p:nvPr>
        </p:nvSpPr>
        <p:spPr>
          <a:xfrm>
            <a:off x="938213" y="1739901"/>
            <a:ext cx="10415587" cy="4327523"/>
          </a:xfrm>
          <a:prstGeom prst="rect">
            <a:avLst/>
          </a:prstGeom>
        </p:spPr>
        <p:txBody>
          <a:bodyPr/>
          <a:lstStyle>
            <a:lvl1pPr marL="0" marR="0" indent="0" algn="l" defTabSz="914400" rtl="0" eaLnBrk="1" fontAlgn="auto" latinLnBrk="0" hangingPunct="1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bg2"/>
              </a:buClr>
              <a:buSzTx/>
              <a:buFontTx/>
              <a:buNone/>
              <a:tabLst/>
              <a:defRPr sz="2200">
                <a:solidFill>
                  <a:schemeClr val="bg1">
                    <a:lumMod val="65000"/>
                  </a:schemeClr>
                </a:solidFill>
              </a:defRPr>
            </a:lvl1pPr>
          </a:lstStyle>
          <a:p>
            <a:r>
              <a:rPr lang="en-US" dirty="0"/>
              <a:t>Click photo icon below to insert picture</a:t>
            </a:r>
            <a:br>
              <a:rPr lang="en-US" dirty="0"/>
            </a:br>
            <a:r>
              <a:rPr lang="en-US" dirty="0"/>
              <a:t>(if replacing picture, you will have to reset your crop area)</a:t>
            </a:r>
          </a:p>
          <a:p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254134659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Blank Full Foot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Rectangle 6">
            <a:extLst>
              <a:ext uri="{FF2B5EF4-FFF2-40B4-BE49-F238E27FC236}">
                <a16:creationId xmlns:a16="http://schemas.microsoft.com/office/drawing/2014/main" id="{12365512-1A58-B241-838D-EFAB0E25F8AF}"/>
              </a:ext>
            </a:extLst>
          </p:cNvPr>
          <p:cNvSpPr/>
          <p:nvPr userDrawn="1"/>
        </p:nvSpPr>
        <p:spPr>
          <a:xfrm>
            <a:off x="0" y="6335712"/>
            <a:ext cx="12192000" cy="522288"/>
          </a:xfrm>
          <a:prstGeom prst="rect">
            <a:avLst/>
          </a:prstGeom>
          <a:solidFill>
            <a:schemeClr val="tx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8" name="Rectangle 7">
            <a:extLst>
              <a:ext uri="{FF2B5EF4-FFF2-40B4-BE49-F238E27FC236}">
                <a16:creationId xmlns:a16="http://schemas.microsoft.com/office/drawing/2014/main" id="{CEE89965-9C98-C446-B0C8-8151A52702B5}"/>
              </a:ext>
            </a:extLst>
          </p:cNvPr>
          <p:cNvSpPr/>
          <p:nvPr userDrawn="1"/>
        </p:nvSpPr>
        <p:spPr>
          <a:xfrm>
            <a:off x="0" y="6237795"/>
            <a:ext cx="12192000" cy="97917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pic>
        <p:nvPicPr>
          <p:cNvPr id="9" name="IDAHO NATIONAL LABORATORY">
            <a:extLst>
              <a:ext uri="{FF2B5EF4-FFF2-40B4-BE49-F238E27FC236}">
                <a16:creationId xmlns:a16="http://schemas.microsoft.com/office/drawing/2014/main" id="{C9B294FD-1F7F-4240-B2BD-1DD570DF2ECD}"/>
              </a:ext>
            </a:extLst>
          </p:cNvPr>
          <p:cNvPicPr>
            <a:picLocks noChangeAspect="1"/>
          </p:cNvPicPr>
          <p:nvPr userDrawn="1"/>
        </p:nvPicPr>
        <p:blipFill>
          <a:blip r:embed="rId2"/>
          <a:stretch>
            <a:fillRect/>
          </a:stretch>
        </p:blipFill>
        <p:spPr>
          <a:xfrm>
            <a:off x="8944584" y="6543675"/>
            <a:ext cx="2768600" cy="127000"/>
          </a:xfrm>
          <a:prstGeom prst="rect">
            <a:avLst/>
          </a:prstGeom>
        </p:spPr>
      </p:pic>
      <p:sp>
        <p:nvSpPr>
          <p:cNvPr id="2" name="Title 1">
            <a:extLst>
              <a:ext uri="{FF2B5EF4-FFF2-40B4-BE49-F238E27FC236}">
                <a16:creationId xmlns:a16="http://schemas.microsoft.com/office/drawing/2014/main" id="{503EC5EE-7A70-7D44-877F-2A9D26623273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/>
        <p:txBody>
          <a:bodyPr/>
          <a:lstStyle/>
          <a:p>
            <a:r>
              <a:rPr lang="en-US" dirty="0"/>
              <a:t>Click to edit title</a:t>
            </a:r>
            <a:br>
              <a:rPr lang="en-US" dirty="0"/>
            </a:br>
            <a:r>
              <a:rPr lang="en-US" dirty="0"/>
              <a:t>(Reduce font for title longer than 2 lines)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6A1E2218-371C-0D41-97AF-B220A81F8AD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7CD4A3B-E186-AB40-96C6-355AF9A6FE76}" type="datetimeFigureOut">
              <a:rPr lang="en-US" smtClean="0"/>
              <a:t>7/18/22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66B462E5-D969-3443-B549-CE7B6CCBE85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A7ABC785-2799-4146-A523-CFA98FEB93B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2B577FA-F7D9-2C48-919F-F962E3BF952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978659439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Photo Lef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03EC5EE-7A70-7D44-877F-2A9D26623273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/>
        <p:txBody>
          <a:bodyPr/>
          <a:lstStyle/>
          <a:p>
            <a:r>
              <a:rPr lang="en-US" dirty="0"/>
              <a:t>Click to edit title</a:t>
            </a:r>
            <a:br>
              <a:rPr lang="en-US" dirty="0"/>
            </a:br>
            <a:r>
              <a:rPr lang="en-US" dirty="0"/>
              <a:t>(Reduce font for title longer than 2 lines)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E6FD6444-081A-D54B-830B-A94153C0EF14}"/>
              </a:ext>
            </a:extLst>
          </p:cNvPr>
          <p:cNvSpPr>
            <a:spLocks noGrp="1"/>
          </p:cNvSpPr>
          <p:nvPr>
            <p:ph idx="1" hasCustomPrompt="1"/>
          </p:nvPr>
        </p:nvSpPr>
        <p:spPr>
          <a:xfrm>
            <a:off x="6340345" y="1739901"/>
            <a:ext cx="5013454" cy="4207040"/>
          </a:xfrm>
        </p:spPr>
        <p:txBody>
          <a:bodyPr/>
          <a:lstStyle/>
          <a:p>
            <a:pPr lvl="0"/>
            <a:r>
              <a:rPr lang="en-US" dirty="0"/>
              <a:t>Click to edit text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6A1E2218-371C-0D41-97AF-B220A81F8AD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7CD4A3B-E186-AB40-96C6-355AF9A6FE76}" type="datetimeFigureOut">
              <a:rPr lang="en-US" smtClean="0"/>
              <a:t>7/18/22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66B462E5-D969-3443-B549-CE7B6CCBE85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A7ABC785-2799-4146-A523-CFA98FEB93B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2B577FA-F7D9-2C48-919F-F962E3BF952F}" type="slidenum">
              <a:rPr lang="en-US" smtClean="0"/>
              <a:t>‹#›</a:t>
            </a:fld>
            <a:endParaRPr lang="en-US"/>
          </a:p>
        </p:txBody>
      </p:sp>
      <p:sp>
        <p:nvSpPr>
          <p:cNvPr id="7" name="Picture Placeholder 5">
            <a:extLst>
              <a:ext uri="{FF2B5EF4-FFF2-40B4-BE49-F238E27FC236}">
                <a16:creationId xmlns:a16="http://schemas.microsoft.com/office/drawing/2014/main" id="{705329EE-4FB4-5A4D-AB92-8FB39F637855}"/>
              </a:ext>
            </a:extLst>
          </p:cNvPr>
          <p:cNvSpPr>
            <a:spLocks noGrp="1"/>
          </p:cNvSpPr>
          <p:nvPr>
            <p:ph type="pic" sz="quarter" idx="13" hasCustomPrompt="1"/>
          </p:nvPr>
        </p:nvSpPr>
        <p:spPr>
          <a:xfrm>
            <a:off x="938150" y="1739901"/>
            <a:ext cx="5081650" cy="4207040"/>
          </a:xfrm>
          <a:prstGeom prst="rect">
            <a:avLst/>
          </a:prstGeom>
        </p:spPr>
        <p:txBody>
          <a:bodyPr>
            <a:normAutofit/>
          </a:bodyPr>
          <a:lstStyle>
            <a:lvl1pPr marL="0" indent="0">
              <a:buFontTx/>
              <a:buNone/>
              <a:defRPr sz="2200">
                <a:solidFill>
                  <a:schemeClr val="bg1">
                    <a:lumMod val="65000"/>
                  </a:schemeClr>
                </a:solidFill>
              </a:defRPr>
            </a:lvl1pPr>
          </a:lstStyle>
          <a:p>
            <a:r>
              <a:rPr lang="en-US" dirty="0"/>
              <a:t>Click photo icon below to insert picture</a:t>
            </a:r>
            <a:br>
              <a:rPr lang="en-US" dirty="0"/>
            </a:br>
            <a:r>
              <a:rPr lang="en-US" dirty="0"/>
              <a:t>(if replacing picture, you will have to reset your crop area)</a:t>
            </a:r>
          </a:p>
        </p:txBody>
      </p:sp>
    </p:spTree>
    <p:extLst>
      <p:ext uri="{BB962C8B-B14F-4D97-AF65-F5344CB8AC3E}">
        <p14:creationId xmlns:p14="http://schemas.microsoft.com/office/powerpoint/2010/main" val="181027000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Photo Righ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03EC5EE-7A70-7D44-877F-2A9D26623273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/>
        <p:txBody>
          <a:bodyPr/>
          <a:lstStyle/>
          <a:p>
            <a:r>
              <a:rPr lang="en-US" dirty="0"/>
              <a:t>Click to edit title</a:t>
            </a:r>
            <a:br>
              <a:rPr lang="en-US" dirty="0"/>
            </a:br>
            <a:r>
              <a:rPr lang="en-US" dirty="0"/>
              <a:t>(Reduce font for title longer than 2 lines)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E6FD6444-081A-D54B-830B-A94153C0EF14}"/>
              </a:ext>
            </a:extLst>
          </p:cNvPr>
          <p:cNvSpPr>
            <a:spLocks noGrp="1"/>
          </p:cNvSpPr>
          <p:nvPr>
            <p:ph idx="1" hasCustomPrompt="1"/>
          </p:nvPr>
        </p:nvSpPr>
        <p:spPr>
          <a:xfrm>
            <a:off x="938150" y="1739901"/>
            <a:ext cx="5013454" cy="4207040"/>
          </a:xfrm>
        </p:spPr>
        <p:txBody>
          <a:bodyPr/>
          <a:lstStyle/>
          <a:p>
            <a:pPr lvl="0"/>
            <a:r>
              <a:rPr lang="en-US" dirty="0"/>
              <a:t>Click to edit text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6A1E2218-371C-0D41-97AF-B220A81F8AD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7CD4A3B-E186-AB40-96C6-355AF9A6FE76}" type="datetimeFigureOut">
              <a:rPr lang="en-US" smtClean="0"/>
              <a:t>7/18/22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66B462E5-D969-3443-B549-CE7B6CCBE85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A7ABC785-2799-4146-A523-CFA98FEB93B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2B577FA-F7D9-2C48-919F-F962E3BF952F}" type="slidenum">
              <a:rPr lang="en-US" smtClean="0"/>
              <a:t>‹#›</a:t>
            </a:fld>
            <a:endParaRPr lang="en-US"/>
          </a:p>
        </p:txBody>
      </p:sp>
      <p:sp>
        <p:nvSpPr>
          <p:cNvPr id="7" name="Picture Placeholder 5">
            <a:extLst>
              <a:ext uri="{FF2B5EF4-FFF2-40B4-BE49-F238E27FC236}">
                <a16:creationId xmlns:a16="http://schemas.microsoft.com/office/drawing/2014/main" id="{705329EE-4FB4-5A4D-AB92-8FB39F637855}"/>
              </a:ext>
            </a:extLst>
          </p:cNvPr>
          <p:cNvSpPr>
            <a:spLocks noGrp="1"/>
          </p:cNvSpPr>
          <p:nvPr>
            <p:ph type="pic" sz="quarter" idx="13" hasCustomPrompt="1"/>
          </p:nvPr>
        </p:nvSpPr>
        <p:spPr>
          <a:xfrm>
            <a:off x="6272149" y="1739901"/>
            <a:ext cx="5081650" cy="4207040"/>
          </a:xfrm>
          <a:prstGeom prst="rect">
            <a:avLst/>
          </a:prstGeom>
        </p:spPr>
        <p:txBody>
          <a:bodyPr>
            <a:normAutofit/>
          </a:bodyPr>
          <a:lstStyle>
            <a:lvl1pPr marL="0" indent="0">
              <a:buFontTx/>
              <a:buNone/>
              <a:defRPr sz="2200">
                <a:solidFill>
                  <a:schemeClr val="bg1">
                    <a:lumMod val="65000"/>
                  </a:schemeClr>
                </a:solidFill>
              </a:defRPr>
            </a:lvl1pPr>
          </a:lstStyle>
          <a:p>
            <a:r>
              <a:rPr lang="en-US" dirty="0"/>
              <a:t>Click photo icon below to insert picture</a:t>
            </a:r>
            <a:br>
              <a:rPr lang="en-US" dirty="0"/>
            </a:br>
            <a:r>
              <a:rPr lang="en-US" dirty="0"/>
              <a:t>(if replacing picture, you will have to reset your crop area)</a:t>
            </a:r>
          </a:p>
        </p:txBody>
      </p:sp>
    </p:spTree>
    <p:extLst>
      <p:ext uri="{BB962C8B-B14F-4D97-AF65-F5344CB8AC3E}">
        <p14:creationId xmlns:p14="http://schemas.microsoft.com/office/powerpoint/2010/main" val="3923201450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Grey Box Photo Righ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03EC5EE-7A70-7D44-877F-2A9D26623273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938151" y="558602"/>
            <a:ext cx="6704151" cy="1005229"/>
          </a:xfrm>
        </p:spPr>
        <p:txBody>
          <a:bodyPr/>
          <a:lstStyle/>
          <a:p>
            <a:r>
              <a:rPr lang="en-US" dirty="0"/>
              <a:t>Click to edit title</a:t>
            </a:r>
            <a:br>
              <a:rPr lang="en-US" dirty="0"/>
            </a:br>
            <a:r>
              <a:rPr lang="en-US" dirty="0"/>
              <a:t>(2 lines max)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E6FD6444-081A-D54B-830B-A94153C0EF14}"/>
              </a:ext>
            </a:extLst>
          </p:cNvPr>
          <p:cNvSpPr>
            <a:spLocks noGrp="1"/>
          </p:cNvSpPr>
          <p:nvPr>
            <p:ph idx="1" hasCustomPrompt="1"/>
          </p:nvPr>
        </p:nvSpPr>
        <p:spPr>
          <a:xfrm>
            <a:off x="938149" y="1739901"/>
            <a:ext cx="6704153" cy="4207040"/>
          </a:xfrm>
        </p:spPr>
        <p:txBody>
          <a:bodyPr/>
          <a:lstStyle/>
          <a:p>
            <a:pPr lvl="0"/>
            <a:r>
              <a:rPr lang="en-US" dirty="0"/>
              <a:t>Click to edit text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6A1E2218-371C-0D41-97AF-B220A81F8AD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7CD4A3B-E186-AB40-96C6-355AF9A6FE76}" type="datetimeFigureOut">
              <a:rPr lang="en-US" smtClean="0"/>
              <a:t>7/18/22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66B462E5-D969-3443-B549-CE7B6CCBE85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A7ABC785-2799-4146-A523-CFA98FEB93B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2B577FA-F7D9-2C48-919F-F962E3BF952F}" type="slidenum">
              <a:rPr lang="en-US" smtClean="0"/>
              <a:t>‹#›</a:t>
            </a:fld>
            <a:endParaRPr lang="en-US"/>
          </a:p>
        </p:txBody>
      </p:sp>
      <p:sp>
        <p:nvSpPr>
          <p:cNvPr id="8" name="Rectangle 7">
            <a:extLst>
              <a:ext uri="{FF2B5EF4-FFF2-40B4-BE49-F238E27FC236}">
                <a16:creationId xmlns:a16="http://schemas.microsoft.com/office/drawing/2014/main" id="{9B2EB56D-A175-2340-8316-CB2D73FC70C2}"/>
              </a:ext>
            </a:extLst>
          </p:cNvPr>
          <p:cNvSpPr/>
          <p:nvPr userDrawn="1"/>
        </p:nvSpPr>
        <p:spPr>
          <a:xfrm>
            <a:off x="8465770" y="-1"/>
            <a:ext cx="3726230" cy="6237795"/>
          </a:xfrm>
          <a:prstGeom prst="rect">
            <a:avLst/>
          </a:prstGeom>
          <a:solidFill>
            <a:schemeClr val="accent6">
              <a:lumMod val="20000"/>
              <a:lumOff val="8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9" name="Picture Placeholder 5">
            <a:extLst>
              <a:ext uri="{FF2B5EF4-FFF2-40B4-BE49-F238E27FC236}">
                <a16:creationId xmlns:a16="http://schemas.microsoft.com/office/drawing/2014/main" id="{AEB60818-A426-D644-9EEA-D2FB1CBDFB58}"/>
              </a:ext>
            </a:extLst>
          </p:cNvPr>
          <p:cNvSpPr>
            <a:spLocks noGrp="1"/>
          </p:cNvSpPr>
          <p:nvPr>
            <p:ph type="pic" sz="quarter" idx="13" hasCustomPrompt="1"/>
          </p:nvPr>
        </p:nvSpPr>
        <p:spPr>
          <a:xfrm>
            <a:off x="8871283" y="522288"/>
            <a:ext cx="2919664" cy="4351338"/>
          </a:xfrm>
          <a:prstGeom prst="rect">
            <a:avLst/>
          </a:prstGeom>
        </p:spPr>
        <p:txBody>
          <a:bodyPr>
            <a:normAutofit/>
          </a:bodyPr>
          <a:lstStyle>
            <a:lvl1pPr marL="0" indent="0">
              <a:buFontTx/>
              <a:buNone/>
              <a:defRPr sz="2200">
                <a:solidFill>
                  <a:schemeClr val="bg1">
                    <a:lumMod val="65000"/>
                  </a:schemeClr>
                </a:solidFill>
              </a:defRPr>
            </a:lvl1pPr>
          </a:lstStyle>
          <a:p>
            <a:r>
              <a:rPr lang="en-US" dirty="0"/>
              <a:t>Click photo icon below to insert picture</a:t>
            </a:r>
            <a:br>
              <a:rPr lang="en-US" dirty="0"/>
            </a:br>
            <a:r>
              <a:rPr lang="en-US" dirty="0"/>
              <a:t>(if replacing picture, you will have to reset your crop area)</a:t>
            </a:r>
          </a:p>
        </p:txBody>
      </p:sp>
    </p:spTree>
    <p:extLst>
      <p:ext uri="{BB962C8B-B14F-4D97-AF65-F5344CB8AC3E}">
        <p14:creationId xmlns:p14="http://schemas.microsoft.com/office/powerpoint/2010/main" val="1991234174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Blue Box Photo Righ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E6FD6444-081A-D54B-830B-A94153C0EF14}"/>
              </a:ext>
            </a:extLst>
          </p:cNvPr>
          <p:cNvSpPr>
            <a:spLocks noGrp="1"/>
          </p:cNvSpPr>
          <p:nvPr>
            <p:ph idx="1" hasCustomPrompt="1"/>
          </p:nvPr>
        </p:nvSpPr>
        <p:spPr>
          <a:xfrm>
            <a:off x="938149" y="1739901"/>
            <a:ext cx="6704153" cy="4207040"/>
          </a:xfrm>
        </p:spPr>
        <p:txBody>
          <a:bodyPr/>
          <a:lstStyle/>
          <a:p>
            <a:pPr lvl="0"/>
            <a:r>
              <a:rPr lang="en-US" dirty="0"/>
              <a:t>Click to edit text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6A1E2218-371C-0D41-97AF-B220A81F8AD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7CD4A3B-E186-AB40-96C6-355AF9A6FE76}" type="datetimeFigureOut">
              <a:rPr lang="en-US" smtClean="0"/>
              <a:t>7/18/22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66B462E5-D969-3443-B549-CE7B6CCBE85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A7ABC785-2799-4146-A523-CFA98FEB93B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2B577FA-F7D9-2C48-919F-F962E3BF952F}" type="slidenum">
              <a:rPr lang="en-US" smtClean="0"/>
              <a:t>‹#›</a:t>
            </a:fld>
            <a:endParaRPr lang="en-US"/>
          </a:p>
        </p:txBody>
      </p:sp>
      <p:sp>
        <p:nvSpPr>
          <p:cNvPr id="8" name="Rectangle 7">
            <a:extLst>
              <a:ext uri="{FF2B5EF4-FFF2-40B4-BE49-F238E27FC236}">
                <a16:creationId xmlns:a16="http://schemas.microsoft.com/office/drawing/2014/main" id="{9B2EB56D-A175-2340-8316-CB2D73FC70C2}"/>
              </a:ext>
            </a:extLst>
          </p:cNvPr>
          <p:cNvSpPr/>
          <p:nvPr userDrawn="1"/>
        </p:nvSpPr>
        <p:spPr>
          <a:xfrm>
            <a:off x="8465770" y="-1"/>
            <a:ext cx="3726230" cy="6237795"/>
          </a:xfrm>
          <a:prstGeom prst="rect">
            <a:avLst/>
          </a:prstGeom>
          <a:solidFill>
            <a:schemeClr val="tx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9" name="Picture Placeholder 5">
            <a:extLst>
              <a:ext uri="{FF2B5EF4-FFF2-40B4-BE49-F238E27FC236}">
                <a16:creationId xmlns:a16="http://schemas.microsoft.com/office/drawing/2014/main" id="{AEB60818-A426-D644-9EEA-D2FB1CBDFB58}"/>
              </a:ext>
            </a:extLst>
          </p:cNvPr>
          <p:cNvSpPr>
            <a:spLocks noGrp="1"/>
          </p:cNvSpPr>
          <p:nvPr>
            <p:ph type="pic" sz="quarter" idx="13" hasCustomPrompt="1"/>
          </p:nvPr>
        </p:nvSpPr>
        <p:spPr>
          <a:xfrm>
            <a:off x="8871283" y="522288"/>
            <a:ext cx="2919664" cy="4351338"/>
          </a:xfrm>
          <a:prstGeom prst="rect">
            <a:avLst/>
          </a:prstGeom>
        </p:spPr>
        <p:txBody>
          <a:bodyPr>
            <a:normAutofit/>
          </a:bodyPr>
          <a:lstStyle>
            <a:lvl1pPr marL="0" indent="0">
              <a:buFontTx/>
              <a:buNone/>
              <a:defRPr sz="2200">
                <a:solidFill>
                  <a:schemeClr val="bg1">
                    <a:lumMod val="65000"/>
                  </a:schemeClr>
                </a:solidFill>
              </a:defRPr>
            </a:lvl1pPr>
          </a:lstStyle>
          <a:p>
            <a:r>
              <a:rPr lang="en-US" dirty="0"/>
              <a:t>Click photo icon below to insert picture</a:t>
            </a:r>
            <a:br>
              <a:rPr lang="en-US" dirty="0"/>
            </a:br>
            <a:r>
              <a:rPr lang="en-US" dirty="0"/>
              <a:t>(if replacing picture, you will have to reset your crop area)</a:t>
            </a:r>
          </a:p>
        </p:txBody>
      </p:sp>
      <p:sp>
        <p:nvSpPr>
          <p:cNvPr id="10" name="Title 1">
            <a:extLst>
              <a:ext uri="{FF2B5EF4-FFF2-40B4-BE49-F238E27FC236}">
                <a16:creationId xmlns:a16="http://schemas.microsoft.com/office/drawing/2014/main" id="{2EFBD4CC-FEFF-654C-B1A3-229DA69D10FE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938151" y="558602"/>
            <a:ext cx="6704151" cy="1005229"/>
          </a:xfrm>
        </p:spPr>
        <p:txBody>
          <a:bodyPr/>
          <a:lstStyle/>
          <a:p>
            <a:r>
              <a:rPr lang="en-US" dirty="0"/>
              <a:t>Click to edit title</a:t>
            </a:r>
            <a:br>
              <a:rPr lang="en-US" dirty="0"/>
            </a:br>
            <a:r>
              <a:rPr lang="en-US" dirty="0"/>
              <a:t>(2 lines max)</a:t>
            </a:r>
          </a:p>
        </p:txBody>
      </p:sp>
    </p:spTree>
    <p:extLst>
      <p:ext uri="{BB962C8B-B14F-4D97-AF65-F5344CB8AC3E}">
        <p14:creationId xmlns:p14="http://schemas.microsoft.com/office/powerpoint/2010/main" val="3924736983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Light Blue Box Photo Righ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E6FD6444-081A-D54B-830B-A94153C0EF14}"/>
              </a:ext>
            </a:extLst>
          </p:cNvPr>
          <p:cNvSpPr>
            <a:spLocks noGrp="1"/>
          </p:cNvSpPr>
          <p:nvPr>
            <p:ph idx="1" hasCustomPrompt="1"/>
          </p:nvPr>
        </p:nvSpPr>
        <p:spPr>
          <a:xfrm>
            <a:off x="938149" y="1739901"/>
            <a:ext cx="6704153" cy="4207040"/>
          </a:xfrm>
        </p:spPr>
        <p:txBody>
          <a:bodyPr/>
          <a:lstStyle/>
          <a:p>
            <a:pPr lvl="0"/>
            <a:r>
              <a:rPr lang="en-US" dirty="0"/>
              <a:t>Click to edit text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6A1E2218-371C-0D41-97AF-B220A81F8AD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7CD4A3B-E186-AB40-96C6-355AF9A6FE76}" type="datetimeFigureOut">
              <a:rPr lang="en-US" smtClean="0"/>
              <a:t>7/18/22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66B462E5-D969-3443-B549-CE7B6CCBE85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A7ABC785-2799-4146-A523-CFA98FEB93B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2B577FA-F7D9-2C48-919F-F962E3BF952F}" type="slidenum">
              <a:rPr lang="en-US" smtClean="0"/>
              <a:t>‹#›</a:t>
            </a:fld>
            <a:endParaRPr lang="en-US"/>
          </a:p>
        </p:txBody>
      </p:sp>
      <p:sp>
        <p:nvSpPr>
          <p:cNvPr id="8" name="Rectangle 7">
            <a:extLst>
              <a:ext uri="{FF2B5EF4-FFF2-40B4-BE49-F238E27FC236}">
                <a16:creationId xmlns:a16="http://schemas.microsoft.com/office/drawing/2014/main" id="{9B2EB56D-A175-2340-8316-CB2D73FC70C2}"/>
              </a:ext>
            </a:extLst>
          </p:cNvPr>
          <p:cNvSpPr/>
          <p:nvPr userDrawn="1"/>
        </p:nvSpPr>
        <p:spPr>
          <a:xfrm>
            <a:off x="8465770" y="-1"/>
            <a:ext cx="3726230" cy="6237795"/>
          </a:xfrm>
          <a:prstGeom prst="rect">
            <a:avLst/>
          </a:prstGeom>
          <a:solidFill>
            <a:schemeClr val="bg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9" name="Picture Placeholder 5">
            <a:extLst>
              <a:ext uri="{FF2B5EF4-FFF2-40B4-BE49-F238E27FC236}">
                <a16:creationId xmlns:a16="http://schemas.microsoft.com/office/drawing/2014/main" id="{AEB60818-A426-D644-9EEA-D2FB1CBDFB58}"/>
              </a:ext>
            </a:extLst>
          </p:cNvPr>
          <p:cNvSpPr>
            <a:spLocks noGrp="1"/>
          </p:cNvSpPr>
          <p:nvPr>
            <p:ph type="pic" sz="quarter" idx="13" hasCustomPrompt="1"/>
          </p:nvPr>
        </p:nvSpPr>
        <p:spPr>
          <a:xfrm>
            <a:off x="8871283" y="522288"/>
            <a:ext cx="2919664" cy="4351338"/>
          </a:xfrm>
          <a:prstGeom prst="rect">
            <a:avLst/>
          </a:prstGeom>
        </p:spPr>
        <p:txBody>
          <a:bodyPr>
            <a:normAutofit/>
          </a:bodyPr>
          <a:lstStyle>
            <a:lvl1pPr marL="0" indent="0">
              <a:buFontTx/>
              <a:buNone/>
              <a:defRPr sz="2200">
                <a:solidFill>
                  <a:schemeClr val="tx1">
                    <a:lumMod val="65000"/>
                    <a:lumOff val="35000"/>
                  </a:schemeClr>
                </a:solidFill>
              </a:defRPr>
            </a:lvl1pPr>
          </a:lstStyle>
          <a:p>
            <a:r>
              <a:rPr lang="en-US" dirty="0"/>
              <a:t>Click photo icon below to insert picture</a:t>
            </a:r>
            <a:br>
              <a:rPr lang="en-US" dirty="0"/>
            </a:br>
            <a:r>
              <a:rPr lang="en-US" dirty="0"/>
              <a:t>(if replacing picture, you will have to reset your crop area)</a:t>
            </a:r>
          </a:p>
        </p:txBody>
      </p:sp>
      <p:sp>
        <p:nvSpPr>
          <p:cNvPr id="10" name="Title 1">
            <a:extLst>
              <a:ext uri="{FF2B5EF4-FFF2-40B4-BE49-F238E27FC236}">
                <a16:creationId xmlns:a16="http://schemas.microsoft.com/office/drawing/2014/main" id="{080018A3-14FE-A04B-A3B4-D9AA55483B48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938151" y="558602"/>
            <a:ext cx="6704151" cy="1005229"/>
          </a:xfrm>
        </p:spPr>
        <p:txBody>
          <a:bodyPr/>
          <a:lstStyle/>
          <a:p>
            <a:r>
              <a:rPr lang="en-US" dirty="0"/>
              <a:t>Click to edit title</a:t>
            </a:r>
            <a:br>
              <a:rPr lang="en-US" dirty="0"/>
            </a:br>
            <a:r>
              <a:rPr lang="en-US" dirty="0"/>
              <a:t>(2 lines max)</a:t>
            </a:r>
          </a:p>
        </p:txBody>
      </p:sp>
    </p:spTree>
    <p:extLst>
      <p:ext uri="{BB962C8B-B14F-4D97-AF65-F5344CB8AC3E}">
        <p14:creationId xmlns:p14="http://schemas.microsoft.com/office/powerpoint/2010/main" val="5465938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Big Blue Box Bullets Righ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Rectangle 9">
            <a:extLst>
              <a:ext uri="{FF2B5EF4-FFF2-40B4-BE49-F238E27FC236}">
                <a16:creationId xmlns:a16="http://schemas.microsoft.com/office/drawing/2014/main" id="{52CB96BB-242F-BC47-80BF-E45DB97245BA}"/>
              </a:ext>
            </a:extLst>
          </p:cNvPr>
          <p:cNvSpPr/>
          <p:nvPr userDrawn="1"/>
        </p:nvSpPr>
        <p:spPr>
          <a:xfrm>
            <a:off x="6843714" y="0"/>
            <a:ext cx="5346699" cy="6237795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1" name="Rectangle 10">
            <a:extLst>
              <a:ext uri="{FF2B5EF4-FFF2-40B4-BE49-F238E27FC236}">
                <a16:creationId xmlns:a16="http://schemas.microsoft.com/office/drawing/2014/main" id="{772FA9CB-507A-AA48-963A-8D5E37B7CF5B}"/>
              </a:ext>
            </a:extLst>
          </p:cNvPr>
          <p:cNvSpPr/>
          <p:nvPr userDrawn="1"/>
        </p:nvSpPr>
        <p:spPr>
          <a:xfrm>
            <a:off x="0" y="6335712"/>
            <a:ext cx="12192000" cy="522288"/>
          </a:xfrm>
          <a:prstGeom prst="rect">
            <a:avLst/>
          </a:prstGeom>
          <a:solidFill>
            <a:schemeClr val="tx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2" name="Rectangle 11">
            <a:extLst>
              <a:ext uri="{FF2B5EF4-FFF2-40B4-BE49-F238E27FC236}">
                <a16:creationId xmlns:a16="http://schemas.microsoft.com/office/drawing/2014/main" id="{7E79016F-99B0-6B40-B3F7-87F0068FC0E5}"/>
              </a:ext>
            </a:extLst>
          </p:cNvPr>
          <p:cNvSpPr/>
          <p:nvPr userDrawn="1"/>
        </p:nvSpPr>
        <p:spPr>
          <a:xfrm>
            <a:off x="0" y="6237795"/>
            <a:ext cx="12192000" cy="97917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pic>
        <p:nvPicPr>
          <p:cNvPr id="13" name="IDAHO NATIONAL LABORATORY">
            <a:extLst>
              <a:ext uri="{FF2B5EF4-FFF2-40B4-BE49-F238E27FC236}">
                <a16:creationId xmlns:a16="http://schemas.microsoft.com/office/drawing/2014/main" id="{BD942965-6C07-5D4A-809D-5FC754D5902D}"/>
              </a:ext>
            </a:extLst>
          </p:cNvPr>
          <p:cNvPicPr>
            <a:picLocks noChangeAspect="1"/>
          </p:cNvPicPr>
          <p:nvPr userDrawn="1"/>
        </p:nvPicPr>
        <p:blipFill>
          <a:blip r:embed="rId2"/>
          <a:stretch>
            <a:fillRect/>
          </a:stretch>
        </p:blipFill>
        <p:spPr>
          <a:xfrm>
            <a:off x="8944584" y="6543675"/>
            <a:ext cx="2768600" cy="127000"/>
          </a:xfrm>
          <a:prstGeom prst="rect">
            <a:avLst/>
          </a:prstGeom>
        </p:spPr>
      </p:pic>
      <p:sp>
        <p:nvSpPr>
          <p:cNvPr id="14" name="Title Placeholder BIG box blue right">
            <a:extLst>
              <a:ext uri="{FF2B5EF4-FFF2-40B4-BE49-F238E27FC236}">
                <a16:creationId xmlns:a16="http://schemas.microsoft.com/office/drawing/2014/main" id="{AB7EA1D9-8A57-3143-9688-4BB8599F986F}"/>
              </a:ext>
            </a:extLst>
          </p:cNvPr>
          <p:cNvSpPr>
            <a:spLocks noGrp="1"/>
          </p:cNvSpPr>
          <p:nvPr>
            <p:ph type="body" sz="quarter" idx="14" hasCustomPrompt="1"/>
          </p:nvPr>
        </p:nvSpPr>
        <p:spPr>
          <a:xfrm>
            <a:off x="6850063" y="0"/>
            <a:ext cx="5340350" cy="907549"/>
          </a:xfrm>
          <a:prstGeom prst="rect">
            <a:avLst/>
          </a:prstGeom>
          <a:noFill/>
        </p:spPr>
        <p:txBody>
          <a:bodyPr lIns="274320" tIns="365760" rIns="274320">
            <a:normAutofit/>
          </a:bodyPr>
          <a:lstStyle>
            <a:lvl1pPr marL="0" indent="0">
              <a:buFontTx/>
              <a:buNone/>
              <a:defRPr sz="3200" b="1" i="0">
                <a:solidFill>
                  <a:schemeClr val="bg1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1pPr>
            <a:lvl2pPr marL="457200" indent="0">
              <a:buFontTx/>
              <a:buNone/>
              <a:defRPr>
                <a:solidFill>
                  <a:schemeClr val="bg1"/>
                </a:solidFill>
              </a:defRPr>
            </a:lvl2pPr>
            <a:lvl3pPr marL="914400" indent="0">
              <a:buFontTx/>
              <a:buNone/>
              <a:defRPr>
                <a:solidFill>
                  <a:schemeClr val="bg1"/>
                </a:solidFill>
              </a:defRPr>
            </a:lvl3pPr>
            <a:lvl4pPr marL="1371600" indent="0">
              <a:buFontTx/>
              <a:buNone/>
              <a:defRPr>
                <a:solidFill>
                  <a:schemeClr val="bg1"/>
                </a:solidFill>
              </a:defRPr>
            </a:lvl4pPr>
            <a:lvl5pPr marL="1828800" indent="0">
              <a:buFontTx/>
              <a:buNone/>
              <a:defRPr>
                <a:solidFill>
                  <a:schemeClr val="bg1"/>
                </a:solidFill>
              </a:defRPr>
            </a:lvl5pPr>
          </a:lstStyle>
          <a:p>
            <a:pPr lvl="0"/>
            <a:r>
              <a:rPr lang="en-US" dirty="0"/>
              <a:t>Click to edit box title</a:t>
            </a:r>
          </a:p>
        </p:txBody>
      </p:sp>
      <p:sp>
        <p:nvSpPr>
          <p:cNvPr id="15" name="Text Placeholder 2">
            <a:extLst>
              <a:ext uri="{FF2B5EF4-FFF2-40B4-BE49-F238E27FC236}">
                <a16:creationId xmlns:a16="http://schemas.microsoft.com/office/drawing/2014/main" id="{538B584E-1ECA-5646-9DA7-61B8110256F2}"/>
              </a:ext>
            </a:extLst>
          </p:cNvPr>
          <p:cNvSpPr>
            <a:spLocks noGrp="1"/>
          </p:cNvSpPr>
          <p:nvPr>
            <p:ph type="body" sz="quarter" idx="15" hasCustomPrompt="1"/>
          </p:nvPr>
        </p:nvSpPr>
        <p:spPr>
          <a:xfrm>
            <a:off x="7116947" y="1064712"/>
            <a:ext cx="4598987" cy="4515349"/>
          </a:xfrm>
          <a:prstGeom prst="rect">
            <a:avLst/>
          </a:prstGeom>
        </p:spPr>
        <p:txBody>
          <a:bodyPr lIns="0">
            <a:normAutofit/>
          </a:bodyPr>
          <a:lstStyle>
            <a:lvl1pPr marL="347663" indent="-342900">
              <a:buClr>
                <a:schemeClr val="bg1"/>
              </a:buClr>
              <a:tabLst/>
              <a:defRPr sz="2400">
                <a:solidFill>
                  <a:schemeClr val="bg1"/>
                </a:solidFill>
              </a:defRPr>
            </a:lvl1pPr>
            <a:lvl2pPr>
              <a:buClr>
                <a:schemeClr val="bg1"/>
              </a:buClr>
              <a:defRPr>
                <a:solidFill>
                  <a:schemeClr val="bg1"/>
                </a:solidFill>
              </a:defRPr>
            </a:lvl2pPr>
            <a:lvl3pPr>
              <a:buClr>
                <a:schemeClr val="bg1"/>
              </a:buClr>
              <a:defRPr>
                <a:solidFill>
                  <a:schemeClr val="bg1"/>
                </a:solidFill>
              </a:defRPr>
            </a:lvl3pPr>
            <a:lvl4pPr>
              <a:buClr>
                <a:schemeClr val="bg1"/>
              </a:buClr>
              <a:defRPr>
                <a:solidFill>
                  <a:schemeClr val="bg1"/>
                </a:solidFill>
              </a:defRPr>
            </a:lvl4pPr>
            <a:lvl5pPr>
              <a:buClr>
                <a:schemeClr val="bg1"/>
              </a:buClr>
              <a:defRPr>
                <a:solidFill>
                  <a:schemeClr val="bg1"/>
                </a:solidFill>
              </a:defRPr>
            </a:lvl5pPr>
          </a:lstStyle>
          <a:p>
            <a:pPr lvl="0"/>
            <a:r>
              <a:rPr lang="en-US" dirty="0"/>
              <a:t>Click to edit bullet list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6A1E2218-371C-0D41-97AF-B220A81F8AD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7CD4A3B-E186-AB40-96C6-355AF9A6FE76}" type="datetimeFigureOut">
              <a:rPr lang="en-US" smtClean="0"/>
              <a:t>7/18/22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66B462E5-D969-3443-B549-CE7B6CCBE85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A7ABC785-2799-4146-A523-CFA98FEB93B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2B577FA-F7D9-2C48-919F-F962E3BF952F}" type="slidenum">
              <a:rPr lang="en-US" smtClean="0"/>
              <a:t>‹#›</a:t>
            </a:fld>
            <a:endParaRPr lang="en-US"/>
          </a:p>
        </p:txBody>
      </p:sp>
      <p:sp>
        <p:nvSpPr>
          <p:cNvPr id="16" name="Picture Placeholder">
            <a:extLst>
              <a:ext uri="{FF2B5EF4-FFF2-40B4-BE49-F238E27FC236}">
                <a16:creationId xmlns:a16="http://schemas.microsoft.com/office/drawing/2014/main" id="{6EF42CC7-103E-EA4C-89A2-543032DA331C}"/>
              </a:ext>
            </a:extLst>
          </p:cNvPr>
          <p:cNvSpPr>
            <a:spLocks noGrp="1"/>
          </p:cNvSpPr>
          <p:nvPr>
            <p:ph type="pic" sz="quarter" idx="13" hasCustomPrompt="1"/>
          </p:nvPr>
        </p:nvSpPr>
        <p:spPr>
          <a:xfrm>
            <a:off x="0" y="0"/>
            <a:ext cx="6843714" cy="6228267"/>
          </a:xfrm>
          <a:prstGeom prst="rect">
            <a:avLst/>
          </a:prstGeom>
        </p:spPr>
        <p:txBody>
          <a:bodyPr>
            <a:normAutofit/>
          </a:bodyPr>
          <a:lstStyle>
            <a:lvl1pPr marL="0" indent="0">
              <a:buFontTx/>
              <a:buNone/>
              <a:defRPr sz="2200">
                <a:solidFill>
                  <a:schemeClr val="bg1">
                    <a:lumMod val="65000"/>
                  </a:schemeClr>
                </a:solidFill>
              </a:defRPr>
            </a:lvl1pPr>
          </a:lstStyle>
          <a:p>
            <a:r>
              <a:rPr lang="en-US" dirty="0"/>
              <a:t>Click photo icon below to insert picture</a:t>
            </a:r>
            <a:br>
              <a:rPr lang="en-US" dirty="0"/>
            </a:br>
            <a:r>
              <a:rPr lang="en-US" dirty="0"/>
              <a:t>(if replacing picture, you will have to reset your crop area)</a:t>
            </a:r>
          </a:p>
        </p:txBody>
      </p:sp>
    </p:spTree>
    <p:extLst>
      <p:ext uri="{BB962C8B-B14F-4D97-AF65-F5344CB8AC3E}">
        <p14:creationId xmlns:p14="http://schemas.microsoft.com/office/powerpoint/2010/main" val="3890074652"/>
      </p:ext>
    </p:extLst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D325992-890C-EC4B-B676-6CCEF133B8F2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938150" y="1709738"/>
            <a:ext cx="10409299" cy="2852737"/>
          </a:xfrm>
        </p:spPr>
        <p:txBody>
          <a:bodyPr anchor="ctr" anchorCtr="0"/>
          <a:lstStyle>
            <a:lvl1pPr>
              <a:defRPr sz="4800"/>
            </a:lvl1pPr>
          </a:lstStyle>
          <a:p>
            <a:r>
              <a:rPr lang="en-US" dirty="0"/>
              <a:t>Click to edit title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E55303FD-B916-FD4E-85C2-3EBF655BC1FB}"/>
              </a:ext>
            </a:extLst>
          </p:cNvPr>
          <p:cNvSpPr>
            <a:spLocks noGrp="1"/>
          </p:cNvSpPr>
          <p:nvPr>
            <p:ph type="body" idx="1" hasCustomPrompt="1"/>
          </p:nvPr>
        </p:nvSpPr>
        <p:spPr>
          <a:xfrm>
            <a:off x="938150" y="4589463"/>
            <a:ext cx="104093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dirty="0"/>
              <a:t>Click to edit subhead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2C8FDE18-9616-B043-9C71-522DAD29B02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7CD4A3B-E186-AB40-96C6-355AF9A6FE76}" type="datetimeFigureOut">
              <a:rPr lang="en-US" smtClean="0"/>
              <a:t>7/18/22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D832FF7A-5905-EB40-919B-9225D0871D6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41C7509E-6005-DB4B-9578-84532E5F8BF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2B577FA-F7D9-2C48-919F-F962E3BF952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374382297"/>
      </p:ext>
    </p:extLst>
  </p:cSld>
  <p:clrMapOvr>
    <a:masterClrMapping/>
  </p:clrMapOvr>
</p:sldLayout>
</file>

<file path=ppt/slideLayouts/slideLayout1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5AC0D34-E50C-7946-9657-29EA34F401D8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/>
        <p:txBody>
          <a:bodyPr/>
          <a:lstStyle/>
          <a:p>
            <a:r>
              <a:rPr lang="en-US" dirty="0"/>
              <a:t>Click to edit title</a:t>
            </a:r>
            <a:br>
              <a:rPr lang="en-US" dirty="0"/>
            </a:br>
            <a:r>
              <a:rPr lang="en-US" dirty="0"/>
              <a:t>(Reduce font for title longer than 2 lines)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3FBFFB48-1F38-8C46-B4B3-0871CA9880E3}"/>
              </a:ext>
            </a:extLst>
          </p:cNvPr>
          <p:cNvSpPr>
            <a:spLocks noGrp="1"/>
          </p:cNvSpPr>
          <p:nvPr>
            <p:ph sz="half" idx="1" hasCustomPrompt="1"/>
          </p:nvPr>
        </p:nvSpPr>
        <p:spPr>
          <a:xfrm>
            <a:off x="938150" y="1739901"/>
            <a:ext cx="5081650" cy="4351338"/>
          </a:xfrm>
        </p:spPr>
        <p:txBody>
          <a:bodyPr/>
          <a:lstStyle/>
          <a:p>
            <a:pPr lvl="0"/>
            <a:r>
              <a:rPr lang="en-US" dirty="0"/>
              <a:t>Click to edit text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45C7F5AB-BF51-4044-8164-B8ADFB34B0A6}"/>
              </a:ext>
            </a:extLst>
          </p:cNvPr>
          <p:cNvSpPr>
            <a:spLocks noGrp="1"/>
          </p:cNvSpPr>
          <p:nvPr>
            <p:ph sz="half" idx="2" hasCustomPrompt="1"/>
          </p:nvPr>
        </p:nvSpPr>
        <p:spPr>
          <a:xfrm>
            <a:off x="6272148" y="1739901"/>
            <a:ext cx="5081651" cy="4351338"/>
          </a:xfrm>
        </p:spPr>
        <p:txBody>
          <a:bodyPr/>
          <a:lstStyle/>
          <a:p>
            <a:pPr lvl="0"/>
            <a:r>
              <a:rPr lang="en-US" dirty="0"/>
              <a:t>Click to edit text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4973E568-D8E9-CE46-B564-4CAF0B6E451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7CD4A3B-E186-AB40-96C6-355AF9A6FE76}" type="datetimeFigureOut">
              <a:rPr lang="en-US" smtClean="0"/>
              <a:t>7/18/22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7C3C80FD-FB7C-F246-A242-07AFCB295CD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C7FBDEBE-950D-C343-A00C-8D9FA1E33CE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2B577FA-F7D9-2C48-919F-F962E3BF952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25320075"/>
      </p:ext>
    </p:extLst>
  </p:cSld>
  <p:clrMapOvr>
    <a:masterClrMapping/>
  </p:clrMapOvr>
</p:sldLayout>
</file>

<file path=ppt/slideLayouts/slideLayout1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Comparison Layou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5AC0D34-E50C-7946-9657-29EA34F401D8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/>
        <p:txBody>
          <a:bodyPr/>
          <a:lstStyle/>
          <a:p>
            <a:r>
              <a:rPr lang="en-US" dirty="0"/>
              <a:t>Click to edit title</a:t>
            </a:r>
            <a:br>
              <a:rPr lang="en-US" dirty="0"/>
            </a:br>
            <a:r>
              <a:rPr lang="en-US" dirty="0"/>
              <a:t>(Reduce font for title longer than 2 lines)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3FBFFB48-1F38-8C46-B4B3-0871CA9880E3}"/>
              </a:ext>
            </a:extLst>
          </p:cNvPr>
          <p:cNvSpPr>
            <a:spLocks noGrp="1"/>
          </p:cNvSpPr>
          <p:nvPr>
            <p:ph sz="half" idx="1" hasCustomPrompt="1"/>
          </p:nvPr>
        </p:nvSpPr>
        <p:spPr>
          <a:xfrm>
            <a:off x="938150" y="2412999"/>
            <a:ext cx="5081650" cy="3763963"/>
          </a:xfrm>
        </p:spPr>
        <p:txBody>
          <a:bodyPr/>
          <a:lstStyle/>
          <a:p>
            <a:pPr lvl="0"/>
            <a:r>
              <a:rPr lang="en-US" dirty="0"/>
              <a:t>Click to edit text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45C7F5AB-BF51-4044-8164-B8ADFB34B0A6}"/>
              </a:ext>
            </a:extLst>
          </p:cNvPr>
          <p:cNvSpPr>
            <a:spLocks noGrp="1"/>
          </p:cNvSpPr>
          <p:nvPr>
            <p:ph sz="half" idx="2" hasCustomPrompt="1"/>
          </p:nvPr>
        </p:nvSpPr>
        <p:spPr>
          <a:xfrm>
            <a:off x="6272148" y="2412999"/>
            <a:ext cx="5081651" cy="3763963"/>
          </a:xfrm>
        </p:spPr>
        <p:txBody>
          <a:bodyPr/>
          <a:lstStyle/>
          <a:p>
            <a:pPr lvl="0"/>
            <a:r>
              <a:rPr lang="en-US" dirty="0"/>
              <a:t>Click to edit text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4973E568-D8E9-CE46-B564-4CAF0B6E451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7CD4A3B-E186-AB40-96C6-355AF9A6FE76}" type="datetimeFigureOut">
              <a:rPr lang="en-US" smtClean="0"/>
              <a:t>7/18/22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7C3C80FD-FB7C-F246-A242-07AFCB295CD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C7FBDEBE-950D-C343-A00C-8D9FA1E33CE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2B577FA-F7D9-2C48-919F-F962E3BF952F}" type="slidenum">
              <a:rPr lang="en-US" smtClean="0"/>
              <a:t>‹#›</a:t>
            </a:fld>
            <a:endParaRPr lang="en-US"/>
          </a:p>
        </p:txBody>
      </p:sp>
      <p:sp>
        <p:nvSpPr>
          <p:cNvPr id="9" name="Text Placeholder 2">
            <a:extLst>
              <a:ext uri="{FF2B5EF4-FFF2-40B4-BE49-F238E27FC236}">
                <a16:creationId xmlns:a16="http://schemas.microsoft.com/office/drawing/2014/main" id="{172D795B-85F6-1F49-922A-F41317873070}"/>
              </a:ext>
            </a:extLst>
          </p:cNvPr>
          <p:cNvSpPr>
            <a:spLocks noGrp="1"/>
          </p:cNvSpPr>
          <p:nvPr>
            <p:ph type="body" idx="13" hasCustomPrompt="1"/>
          </p:nvPr>
        </p:nvSpPr>
        <p:spPr>
          <a:xfrm>
            <a:off x="938213" y="1589087"/>
            <a:ext cx="5081587" cy="766763"/>
          </a:xfrm>
        </p:spPr>
        <p:txBody>
          <a:bodyPr anchor="b"/>
          <a:lstStyle>
            <a:lvl1pPr marL="0" indent="0">
              <a:buNone/>
              <a:defRPr sz="28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dirty="0"/>
              <a:t>Click to edit subhead 1</a:t>
            </a:r>
          </a:p>
        </p:txBody>
      </p:sp>
      <p:sp>
        <p:nvSpPr>
          <p:cNvPr id="10" name="Text Placeholder 4">
            <a:extLst>
              <a:ext uri="{FF2B5EF4-FFF2-40B4-BE49-F238E27FC236}">
                <a16:creationId xmlns:a16="http://schemas.microsoft.com/office/drawing/2014/main" id="{B4E34B4F-F908-104C-90F3-5135E2E8C74D}"/>
              </a:ext>
            </a:extLst>
          </p:cNvPr>
          <p:cNvSpPr>
            <a:spLocks noGrp="1"/>
          </p:cNvSpPr>
          <p:nvPr>
            <p:ph type="body" sz="quarter" idx="3" hasCustomPrompt="1"/>
          </p:nvPr>
        </p:nvSpPr>
        <p:spPr>
          <a:xfrm>
            <a:off x="6270625" y="1589087"/>
            <a:ext cx="5081587" cy="766763"/>
          </a:xfrm>
        </p:spPr>
        <p:txBody>
          <a:bodyPr anchor="b"/>
          <a:lstStyle>
            <a:lvl1pPr marL="0" indent="0">
              <a:buNone/>
              <a:defRPr sz="28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dirty="0"/>
              <a:t>Click to edit subhead 2 </a:t>
            </a:r>
          </a:p>
        </p:txBody>
      </p:sp>
    </p:spTree>
    <p:extLst>
      <p:ext uri="{BB962C8B-B14F-4D97-AF65-F5344CB8AC3E}">
        <p14:creationId xmlns:p14="http://schemas.microsoft.com/office/powerpoint/2010/main" val="1790085141"/>
      </p:ext>
    </p:extLst>
  </p:cSld>
  <p:clrMapOvr>
    <a:masterClrMapping/>
  </p:clrMapOvr>
</p:sldLayout>
</file>

<file path=ppt/slideLayouts/slideLayout15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Closing Slide Static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0" name="07">
            <a:extLst>
              <a:ext uri="{FF2B5EF4-FFF2-40B4-BE49-F238E27FC236}">
                <a16:creationId xmlns:a16="http://schemas.microsoft.com/office/drawing/2014/main" id="{4647A912-5093-6043-8161-0D98167F242E}"/>
              </a:ext>
            </a:extLst>
          </p:cNvPr>
          <p:cNvPicPr>
            <a:picLocks noChangeAspect="1"/>
          </p:cNvPicPr>
          <p:nvPr userDrawn="1"/>
        </p:nvPicPr>
        <p:blipFill>
          <a:blip r:embed="rId2" cstate="screen"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-1" y="-336550"/>
            <a:ext cx="12192000" cy="6858000"/>
          </a:xfrm>
          <a:prstGeom prst="rect">
            <a:avLst/>
          </a:prstGeom>
        </p:spPr>
      </p:pic>
      <p:grpSp>
        <p:nvGrpSpPr>
          <p:cNvPr id="11" name="Bottom Bar">
            <a:extLst>
              <a:ext uri="{FF2B5EF4-FFF2-40B4-BE49-F238E27FC236}">
                <a16:creationId xmlns:a16="http://schemas.microsoft.com/office/drawing/2014/main" id="{DC935C4B-E372-E04B-8493-E90A79CBC7F4}"/>
              </a:ext>
            </a:extLst>
          </p:cNvPr>
          <p:cNvGrpSpPr/>
          <p:nvPr userDrawn="1"/>
        </p:nvGrpSpPr>
        <p:grpSpPr>
          <a:xfrm>
            <a:off x="0" y="6247747"/>
            <a:ext cx="12192000" cy="610252"/>
            <a:chOff x="0" y="6247747"/>
            <a:chExt cx="12192000" cy="610252"/>
          </a:xfrm>
        </p:grpSpPr>
        <p:sp>
          <p:nvSpPr>
            <p:cNvPr id="12" name="Rectangle 11">
              <a:extLst>
                <a:ext uri="{FF2B5EF4-FFF2-40B4-BE49-F238E27FC236}">
                  <a16:creationId xmlns:a16="http://schemas.microsoft.com/office/drawing/2014/main" id="{9A574F32-F3B5-224E-B6D3-DC767B30A5BE}"/>
                </a:ext>
              </a:extLst>
            </p:cNvPr>
            <p:cNvSpPr/>
            <p:nvPr/>
          </p:nvSpPr>
          <p:spPr>
            <a:xfrm>
              <a:off x="0" y="6334125"/>
              <a:ext cx="12192000" cy="523874"/>
            </a:xfrm>
            <a:prstGeom prst="rect">
              <a:avLst/>
            </a:prstGeom>
            <a:solidFill>
              <a:schemeClr val="tx2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3" name="Rectangle 12">
              <a:extLst>
                <a:ext uri="{FF2B5EF4-FFF2-40B4-BE49-F238E27FC236}">
                  <a16:creationId xmlns:a16="http://schemas.microsoft.com/office/drawing/2014/main" id="{88EE050A-3114-2641-96C8-48D281A062A0}"/>
                </a:ext>
              </a:extLst>
            </p:cNvPr>
            <p:cNvSpPr/>
            <p:nvPr/>
          </p:nvSpPr>
          <p:spPr>
            <a:xfrm>
              <a:off x="0" y="6247747"/>
              <a:ext cx="12192000" cy="86378"/>
            </a:xfrm>
            <a:prstGeom prst="rect">
              <a:avLst/>
            </a:prstGeom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  <p:sp>
        <p:nvSpPr>
          <p:cNvPr id="14" name="TextBox 13">
            <a:extLst>
              <a:ext uri="{FF2B5EF4-FFF2-40B4-BE49-F238E27FC236}">
                <a16:creationId xmlns:a16="http://schemas.microsoft.com/office/drawing/2014/main" id="{7F59F24B-A93D-B046-B78A-2C31137D1AC5}"/>
              </a:ext>
            </a:extLst>
          </p:cNvPr>
          <p:cNvSpPr txBox="1"/>
          <p:nvPr userDrawn="1"/>
        </p:nvSpPr>
        <p:spPr>
          <a:xfrm>
            <a:off x="2872408" y="5178483"/>
            <a:ext cx="6447184" cy="57708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1050" i="1" dirty="0">
                <a:solidFill>
                  <a:schemeClr val="bg1">
                    <a:lumMod val="65000"/>
                  </a:schemeClr>
                </a:solidFill>
              </a:rPr>
              <a:t>Battelle Energy Alliance manages INL for the U.S. Department of Energy’s Office of Nuclear Energy. </a:t>
            </a:r>
            <a:br>
              <a:rPr lang="en-US" sz="1050" i="1" dirty="0">
                <a:solidFill>
                  <a:schemeClr val="bg1">
                    <a:lumMod val="65000"/>
                  </a:schemeClr>
                </a:solidFill>
              </a:rPr>
            </a:br>
            <a:r>
              <a:rPr lang="en-US" sz="1050" i="1" dirty="0">
                <a:solidFill>
                  <a:schemeClr val="bg1">
                    <a:lumMod val="65000"/>
                  </a:schemeClr>
                </a:solidFill>
              </a:rPr>
              <a:t>INL is the nation’s center for nuclear energy research and development, and also performs research </a:t>
            </a:r>
            <a:br>
              <a:rPr lang="en-US" sz="1050" i="1" dirty="0">
                <a:solidFill>
                  <a:schemeClr val="bg1">
                    <a:lumMod val="65000"/>
                  </a:schemeClr>
                </a:solidFill>
              </a:rPr>
            </a:br>
            <a:r>
              <a:rPr lang="en-US" sz="1050" i="1" dirty="0">
                <a:solidFill>
                  <a:schemeClr val="bg1">
                    <a:lumMod val="65000"/>
                  </a:schemeClr>
                </a:solidFill>
              </a:rPr>
              <a:t>in each of DOE’s strategic goal areas: energy, national security, science and the environment.</a:t>
            </a:r>
            <a:endParaRPr lang="en-US" sz="1050" dirty="0">
              <a:solidFill>
                <a:schemeClr val="bg1">
                  <a:lumMod val="65000"/>
                </a:schemeClr>
              </a:solidFill>
            </a:endParaRPr>
          </a:p>
        </p:txBody>
      </p:sp>
      <p:sp>
        <p:nvSpPr>
          <p:cNvPr id="15" name="Web Address">
            <a:extLst>
              <a:ext uri="{FF2B5EF4-FFF2-40B4-BE49-F238E27FC236}">
                <a16:creationId xmlns:a16="http://schemas.microsoft.com/office/drawing/2014/main" id="{53FCC0DF-9440-B040-A076-DF507B404D83}"/>
              </a:ext>
            </a:extLst>
          </p:cNvPr>
          <p:cNvSpPr txBox="1"/>
          <p:nvPr userDrawn="1"/>
        </p:nvSpPr>
        <p:spPr>
          <a:xfrm>
            <a:off x="4100945" y="6417425"/>
            <a:ext cx="3990109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pc="600" dirty="0">
                <a:solidFill>
                  <a:schemeClr val="bg1">
                    <a:alpha val="50000"/>
                  </a:schemeClr>
                </a:solidFill>
                <a:latin typeface="Arial Narrow" panose="020B0604020202020204" pitchFamily="34" charset="0"/>
                <a:cs typeface="Arial Narrow" panose="020B0604020202020204" pitchFamily="34" charset="0"/>
              </a:rPr>
              <a:t>WWW.INL.GOV</a:t>
            </a:r>
          </a:p>
        </p:txBody>
      </p:sp>
    </p:spTree>
    <p:extLst>
      <p:ext uri="{BB962C8B-B14F-4D97-AF65-F5344CB8AC3E}">
        <p14:creationId xmlns:p14="http://schemas.microsoft.com/office/powerpoint/2010/main" val="1182527625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slideLayout" Target="../slideLayouts/slideLayout12.xml"/><Relationship Id="rId13" Type="http://schemas.openxmlformats.org/officeDocument/2006/relationships/slideLayout" Target="../slideLayouts/slideLayout13.xml"/><Relationship Id="rId14" Type="http://schemas.openxmlformats.org/officeDocument/2006/relationships/slideLayout" Target="../slideLayouts/slideLayout14.xml"/><Relationship Id="rId15" Type="http://schemas.openxmlformats.org/officeDocument/2006/relationships/slideLayout" Target="../slideLayouts/slideLayout15.xml"/><Relationship Id="rId16" Type="http://schemas.openxmlformats.org/officeDocument/2006/relationships/theme" Target="../theme/theme1.xml"/><Relationship Id="rId17" Type="http://schemas.openxmlformats.org/officeDocument/2006/relationships/image" Target="../media/inl_wordmark.png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 preserve="1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" name="Rectangle 12">
            <a:extLst>
              <a:ext uri="{FF2B5EF4-FFF2-40B4-BE49-F238E27FC236}">
                <a16:creationId xmlns:a16="http://schemas.microsoft.com/office/drawing/2014/main" id="{AEB3FEC5-4760-DC48-B91E-CFC0C33F63A9}"/>
              </a:ext>
            </a:extLst>
          </p:cNvPr>
          <p:cNvSpPr/>
          <p:nvPr userDrawn="1"/>
        </p:nvSpPr>
        <p:spPr>
          <a:xfrm>
            <a:off x="8465769" y="6335712"/>
            <a:ext cx="3726231" cy="522288"/>
          </a:xfrm>
          <a:prstGeom prst="rect">
            <a:avLst/>
          </a:prstGeom>
          <a:solidFill>
            <a:schemeClr val="tx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4" name="Rectangle 13">
            <a:extLst>
              <a:ext uri="{FF2B5EF4-FFF2-40B4-BE49-F238E27FC236}">
                <a16:creationId xmlns:a16="http://schemas.microsoft.com/office/drawing/2014/main" id="{3AEAE68D-24FC-6749-A309-042231DB68DA}"/>
              </a:ext>
            </a:extLst>
          </p:cNvPr>
          <p:cNvSpPr/>
          <p:nvPr userDrawn="1"/>
        </p:nvSpPr>
        <p:spPr>
          <a:xfrm>
            <a:off x="8465769" y="6237795"/>
            <a:ext cx="3726231" cy="97917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pic>
        <p:nvPicPr>
          <p:cNvPr id="18" name="IDAHO NATIONAL LABORATORY">
            <a:extLst>
              <a:ext uri="{FF2B5EF4-FFF2-40B4-BE49-F238E27FC236}">
                <a16:creationId xmlns:a16="http://schemas.microsoft.com/office/drawing/2014/main" id="{C491F914-E346-2146-A51D-D37D67DBC113}"/>
              </a:ext>
            </a:extLst>
          </p:cNvPr>
          <p:cNvPicPr>
            <a:picLocks noChangeAspect="1"/>
          </p:cNvPicPr>
          <p:nvPr userDrawn="1"/>
        </p:nvPicPr>
        <p:blipFill>
          <a:blip r:embed="rId17"/>
          <a:stretch>
            <a:fillRect/>
          </a:stretch>
        </p:blipFill>
        <p:spPr>
          <a:xfrm>
            <a:off x="8944584" y="6543675"/>
            <a:ext cx="2768600" cy="127000"/>
          </a:xfrm>
          <a:prstGeom prst="rect">
            <a:avLst/>
          </a:prstGeom>
        </p:spPr>
      </p:pic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D682502A-5BF2-8845-923F-AAF24377FEF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938151" y="558602"/>
            <a:ext cx="10415648" cy="1008797"/>
          </a:xfrm>
          <a:prstGeom prst="rect">
            <a:avLst/>
          </a:prstGeom>
        </p:spPr>
        <p:txBody>
          <a:bodyPr vert="horz" lIns="0" tIns="0" rIns="91440" bIns="45720" rtlCol="0" anchor="t" anchorCtr="0">
            <a:noAutofit/>
          </a:bodyPr>
          <a:lstStyle/>
          <a:p>
            <a:r>
              <a:rPr lang="en-US" dirty="0"/>
              <a:t>Click to edit Master title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3C7B4A4D-34FE-994A-AFE8-DCF682312F44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938150" y="1739901"/>
            <a:ext cx="10415649" cy="4351338"/>
          </a:xfrm>
          <a:prstGeom prst="rect">
            <a:avLst/>
          </a:prstGeom>
        </p:spPr>
        <p:txBody>
          <a:bodyPr vert="horz" lIns="0" tIns="0" rIns="91440" bIns="45720" rtlCol="0">
            <a:noAutofit/>
          </a:bodyPr>
          <a:lstStyle/>
          <a:p>
            <a:pPr lvl="0"/>
            <a:r>
              <a:rPr lang="en-US" dirty="0"/>
              <a:t>Click to edit text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0600CF24-C629-E54C-BA9B-20518F01F087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6096001" y="6492875"/>
            <a:ext cx="1546302" cy="365125"/>
          </a:xfrm>
          <a:prstGeom prst="rect">
            <a:avLst/>
          </a:prstGeom>
        </p:spPr>
        <p:txBody>
          <a:bodyPr vert="horz" lIns="91440" tIns="45720" rIns="91440" bIns="155448" rtlCol="0" anchor="ctr"/>
          <a:lstStyle>
            <a:lvl1pPr algn="l">
              <a:defRPr sz="1000">
                <a:solidFill>
                  <a:schemeClr val="accent6">
                    <a:lumMod val="40000"/>
                    <a:lumOff val="60000"/>
                  </a:schemeClr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1pPr>
          </a:lstStyle>
          <a:p>
            <a:fld id="{27CD4A3B-E186-AB40-96C6-355AF9A6FE76}" type="datetimeFigureOut">
              <a:rPr lang="en-US" smtClean="0"/>
              <a:pPr/>
              <a:t>7/18/22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73334D85-E219-4F49-88C8-4DC17F06DE96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938150" y="6492875"/>
            <a:ext cx="5060066" cy="365125"/>
          </a:xfrm>
          <a:prstGeom prst="rect">
            <a:avLst/>
          </a:prstGeom>
        </p:spPr>
        <p:txBody>
          <a:bodyPr vert="horz" lIns="91440" tIns="45720" rIns="91440" bIns="155448" rtlCol="0" anchor="ctr"/>
          <a:lstStyle>
            <a:lvl1pPr algn="ctr">
              <a:defRPr sz="1000">
                <a:solidFill>
                  <a:schemeClr val="accent6">
                    <a:lumMod val="40000"/>
                    <a:lumOff val="60000"/>
                  </a:schemeClr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1pPr>
          </a:lstStyle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FE57F2A8-2F01-4745-8AFB-4EEC8D271DA8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55020" y="6492875"/>
            <a:ext cx="434428" cy="365125"/>
          </a:xfrm>
          <a:prstGeom prst="rect">
            <a:avLst/>
          </a:prstGeom>
        </p:spPr>
        <p:txBody>
          <a:bodyPr vert="horz" lIns="91440" tIns="45720" rIns="91440" bIns="155448" rtlCol="0" anchor="ctr"/>
          <a:lstStyle>
            <a:lvl1pPr algn="ctr">
              <a:defRPr sz="1000" b="1">
                <a:solidFill>
                  <a:schemeClr val="accent6">
                    <a:lumMod val="40000"/>
                    <a:lumOff val="60000"/>
                  </a:schemeClr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1pPr>
          </a:lstStyle>
          <a:p>
            <a:fld id="{82B577FA-F7D9-2C48-919F-F962E3BF952F}" type="slidenum">
              <a:rPr lang="en-US" smtClean="0"/>
              <a:pPr/>
              <a:t>‹#›</a:t>
            </a:fld>
            <a:endParaRPr lang="en-US" dirty="0"/>
          </a:p>
        </p:txBody>
      </p:sp>
      <p:grpSp>
        <p:nvGrpSpPr>
          <p:cNvPr id="15" name="blue/green box top">
            <a:extLst>
              <a:ext uri="{FF2B5EF4-FFF2-40B4-BE49-F238E27FC236}">
                <a16:creationId xmlns:a16="http://schemas.microsoft.com/office/drawing/2014/main" id="{2FE8E780-1DE8-B245-8215-3ECC2513C073}"/>
              </a:ext>
            </a:extLst>
          </p:cNvPr>
          <p:cNvGrpSpPr/>
          <p:nvPr userDrawn="1"/>
        </p:nvGrpSpPr>
        <p:grpSpPr>
          <a:xfrm>
            <a:off x="0" y="522288"/>
            <a:ext cx="744467" cy="547190"/>
            <a:chOff x="0" y="711956"/>
            <a:chExt cx="3721100" cy="620205"/>
          </a:xfrm>
        </p:grpSpPr>
        <p:sp>
          <p:nvSpPr>
            <p:cNvPr id="16" name="Rectangle 15">
              <a:extLst>
                <a:ext uri="{FF2B5EF4-FFF2-40B4-BE49-F238E27FC236}">
                  <a16:creationId xmlns:a16="http://schemas.microsoft.com/office/drawing/2014/main" id="{20A2A1D5-CB4B-1A40-8711-4F412AA9927B}"/>
                </a:ext>
              </a:extLst>
            </p:cNvPr>
            <p:cNvSpPr/>
            <p:nvPr userDrawn="1"/>
          </p:nvSpPr>
          <p:spPr>
            <a:xfrm rot="10800000">
              <a:off x="0" y="711956"/>
              <a:ext cx="3721100" cy="522288"/>
            </a:xfrm>
            <a:prstGeom prst="rect">
              <a:avLst/>
            </a:prstGeom>
            <a:solidFill>
              <a:schemeClr val="tx2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dirty="0"/>
            </a:p>
          </p:txBody>
        </p:sp>
        <p:sp>
          <p:nvSpPr>
            <p:cNvPr id="17" name="Rectangle 16">
              <a:extLst>
                <a:ext uri="{FF2B5EF4-FFF2-40B4-BE49-F238E27FC236}">
                  <a16:creationId xmlns:a16="http://schemas.microsoft.com/office/drawing/2014/main" id="{92B5F476-DD08-5B45-A331-21193BD3472A}"/>
                </a:ext>
              </a:extLst>
            </p:cNvPr>
            <p:cNvSpPr/>
            <p:nvPr userDrawn="1"/>
          </p:nvSpPr>
          <p:spPr>
            <a:xfrm rot="10800000">
              <a:off x="0" y="1234244"/>
              <a:ext cx="3721100" cy="97917"/>
            </a:xfrm>
            <a:prstGeom prst="rect">
              <a:avLst/>
            </a:prstGeom>
            <a:solidFill>
              <a:schemeClr val="accent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</p:spTree>
    <p:extLst>
      <p:ext uri="{BB962C8B-B14F-4D97-AF65-F5344CB8AC3E}">
        <p14:creationId xmlns:p14="http://schemas.microsoft.com/office/powerpoint/2010/main" val="173516646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88" r:id="rId1"/>
    <p:sldLayoutId id="2147483694" r:id="rId2"/>
    <p:sldLayoutId id="2147483704" r:id="rId3"/>
    <p:sldLayoutId id="2147483705" r:id="rId4"/>
    <p:sldLayoutId id="2147483706" r:id="rId5"/>
    <p:sldLayoutId id="2147483707" r:id="rId6"/>
    <p:sldLayoutId id="2147483708" r:id="rId7"/>
    <p:sldLayoutId id="2147483710" r:id="rId8"/>
    <p:sldLayoutId id="2147483711" r:id="rId9"/>
    <p:sldLayoutId id="2147483712" r:id="rId10"/>
    <p:sldLayoutId id="2147483713" r:id="rId11"/>
    <p:sldLayoutId id="2147483695" r:id="rId12"/>
    <p:sldLayoutId id="2147483696" r:id="rId13"/>
    <p:sldLayoutId id="2147483709" r:id="rId14"/>
    <p:sldLayoutId id="2147483714" r:id="rId15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2800" b="1" i="0" kern="1200">
          <a:solidFill>
            <a:schemeClr val="tx2"/>
          </a:solidFill>
          <a:latin typeface="Arial" panose="020B0604020202020204" pitchFamily="34" charset="0"/>
          <a:ea typeface="+mj-ea"/>
          <a:cs typeface="Arial" panose="020B0604020202020204" pitchFamily="34" charset="0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Clr>
          <a:schemeClr val="bg2"/>
        </a:buClr>
        <a:buFont typeface="Arial" panose="020B0604020202020204" pitchFamily="34" charset="0"/>
        <a:buChar char="•"/>
        <a:defRPr sz="2200" b="0" i="0" kern="1200">
          <a:solidFill>
            <a:schemeClr val="tx2"/>
          </a:solidFill>
          <a:latin typeface="Arial" panose="020B0604020202020204" pitchFamily="34" charset="0"/>
          <a:ea typeface="+mn-ea"/>
          <a:cs typeface="Arial" panose="020B0604020202020204" pitchFamily="34" charset="0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Clr>
          <a:schemeClr val="bg2"/>
        </a:buClr>
        <a:buFont typeface="Arial" panose="020B0604020202020204" pitchFamily="34" charset="0"/>
        <a:buChar char="−"/>
        <a:defRPr sz="2200" b="0" i="0" kern="1200">
          <a:solidFill>
            <a:schemeClr val="tx2"/>
          </a:solidFill>
          <a:latin typeface="Arial" panose="020B0604020202020204" pitchFamily="34" charset="0"/>
          <a:ea typeface="+mn-ea"/>
          <a:cs typeface="Arial" panose="020B0604020202020204" pitchFamily="34" charset="0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Clr>
          <a:schemeClr val="bg2"/>
        </a:buClr>
        <a:buFont typeface="Arial" panose="020B0604020202020204" pitchFamily="34" charset="0"/>
        <a:buChar char="•"/>
        <a:defRPr sz="2200" b="0" i="0" kern="1200">
          <a:solidFill>
            <a:schemeClr val="tx2"/>
          </a:solidFill>
          <a:latin typeface="Arial" panose="020B0604020202020204" pitchFamily="34" charset="0"/>
          <a:ea typeface="+mn-ea"/>
          <a:cs typeface="Arial" panose="020B0604020202020204" pitchFamily="34" charset="0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Clr>
          <a:schemeClr val="bg2"/>
        </a:buClr>
        <a:buFont typeface="Arial" panose="020B0604020202020204" pitchFamily="34" charset="0"/>
        <a:buChar char="−"/>
        <a:defRPr sz="2200" b="0" i="0" kern="1200">
          <a:solidFill>
            <a:schemeClr val="tx2"/>
          </a:solidFill>
          <a:latin typeface="Arial" panose="020B0604020202020204" pitchFamily="34" charset="0"/>
          <a:ea typeface="+mn-ea"/>
          <a:cs typeface="Arial" panose="020B0604020202020204" pitchFamily="34" charset="0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Clr>
          <a:schemeClr val="bg2"/>
        </a:buClr>
        <a:buFont typeface="Arial" panose="020B0604020202020204" pitchFamily="34" charset="0"/>
        <a:buChar char="•"/>
        <a:defRPr sz="2200" b="0" i="0" kern="1200">
          <a:solidFill>
            <a:schemeClr val="tx2"/>
          </a:solidFill>
          <a:latin typeface="Arial" panose="020B0604020202020204" pitchFamily="34" charset="0"/>
          <a:ea typeface="+mn-ea"/>
          <a:cs typeface="Arial" panose="020B0604020202020204" pitchFamily="34" charset="0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  <p:extLst>
    <p:ext uri="{27BBF7A9-308A-43DC-89C8-2F10F3537804}">
      <p15:sldGuideLst xmlns:p15="http://schemas.microsoft.com/office/powerpoint/2012/main">
        <p15:guide id="1" orient="horz" pos="2160" userDrawn="1">
          <p15:clr>
            <a:srgbClr val="F26B43"/>
          </p15:clr>
        </p15:guide>
        <p15:guide id="2" pos="3840" userDrawn="1">
          <p15:clr>
            <a:srgbClr val="F26B43"/>
          </p15:clr>
        </p15:guide>
        <p15:guide id="3" orient="horz" pos="4200" userDrawn="1">
          <p15:clr>
            <a:srgbClr val="F26B43"/>
          </p15:clr>
        </p15:guide>
      </p15:sldGuideLst>
    </p:ext>
  </p:extLst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5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5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image" Target="../media/image1.png"/><Relationship Id="rId3" Type="http://schemas.openxmlformats.org/officeDocument/2006/relationships/image" Target="../media/image5.png"/><Relationship Id="rId4" Type="http://schemas.openxmlformats.org/officeDocument/2006/relationships/image" Target="../media/image6.png"/><Relationship Id="rId5" Type="http://schemas.openxmlformats.org/officeDocument/2006/relationships/image" Target="../media/image7.pn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image" Target="../media/image8.png"/><Relationship Id="rId3" Type="http://schemas.openxmlformats.org/officeDocument/2006/relationships/image" Target="../media/image9.png"/><Relationship Id="rId4" Type="http://schemas.openxmlformats.org/officeDocument/2006/relationships/image" Target="../media/image10.pn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image" Target="../media/image11.png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5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5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5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5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5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5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5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5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5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image" Target="../media/image12.png"/><Relationship Id="rId3" Type="http://schemas.openxmlformats.org/officeDocument/2006/relationships/image" Target="../media/image13.png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image" Target="../media/image14.png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image" Target="../media/image15.png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5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Placeholder 1"/>
          <p:cNvSpPr>
            <a:spLocks noGrp="1"/>
          </p:cNvSpPr>
          <p:nvPr>
            <p:ph type="body" idx="13" sz="quarter"/>
          </p:nvPr>
        </p:nvSpPr>
        <p:spPr/>
        <p:txBody>
          <a:bodyPr/>
          <a:lstStyle/>
          <a:p>
            <a:r>
              <a:t>GPU-resident material models for explicit dynamics in MOOSE</a:t>
            </a:r>
          </a:p>
          <a:p>
            <a:r>
              <a:rPr sz="1800" b="0">
                <a:solidFill>
                  <a:srgbClr val="2CA8E1"/>
                </a:solidFill>
              </a:rPr>
              <a:t>A NEML2 nodal-force interface for high-rate solid mechanics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6" sz="quarter"/>
          </p:nvPr>
        </p:nvSpPr>
        <p:spPr>
          <a:xfrm>
            <a:ext cx="3840480" cy="0"/>
          </a:xfrm>
        </p:spPr>
        <p:txBody>
          <a:bodyPr/>
          <a:lstStyle/>
          <a:p>
            <a:r>
              <a:t>WCCM 2026</a:t>
            </a:r>
          </a:p>
          <a:p>
            <a:r>
              <a:t>Author Name &amp; Co-authors</a:t>
            </a:r>
          </a:p>
          <a:p>
            <a:r>
              <a:t>Idaho National Laboratory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2600"/>
              <a:t>Advanced reactors bring dynamic-loading questions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1231575" y="274320"/>
            <a:ext cx="685800" cy="228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900" b="0" i="0">
                <a:solidFill>
                  <a:srgbClr val="59595C"/>
                </a:solidFill>
                <a:latin typeface="Arial"/>
                <a:cs typeface="Arial"/>
              </a:rPr>
              <a:t>2 / 19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66928" y="1554480"/>
            <a:ext cx="6309360" cy="38404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marL="219456" indent="-219456">
              <a:lnSpc>
                <a:spcPct val="106000"/>
              </a:lnSpc>
              <a:spcAft>
                <a:spcPts val="1800"/>
              </a:spcAft>
              <a:buClr>
                <a:srgbClr val="06509D"/>
              </a:buClr>
              <a:buFont typeface="Arial"/>
              <a:buChar char="•"/>
            </a:pPr>
            <a:r>
              <a:rPr sz="1650" b="0" i="0">
                <a:solidFill>
                  <a:srgbClr val="3A3F47"/>
                </a:solidFill>
                <a:latin typeface="Arial"/>
                <a:cs typeface="Arial"/>
              </a:rPr>
              <a:t>Transportable microreactors, pebble-bed cores, accident scenarios: components must be qualified under </a:t>
            </a:r>
            <a:r>
              <a:rPr sz="1650" b="1" i="0">
                <a:solidFill>
                  <a:srgbClr val="3A3F47"/>
                </a:solidFill>
                <a:latin typeface="Arial"/>
                <a:cs typeface="Arial"/>
              </a:rPr>
              <a:t>impact and other high-rate loads</a:t>
            </a:r>
          </a:p>
          <a:p>
            <a:pPr marL="219456" indent="-219456">
              <a:lnSpc>
                <a:spcPct val="106000"/>
              </a:lnSpc>
              <a:spcAft>
                <a:spcPts val="1800"/>
              </a:spcAft>
              <a:buClr>
                <a:srgbClr val="06509D"/>
              </a:buClr>
              <a:buFont typeface="Arial"/>
              <a:buChar char="•"/>
            </a:pPr>
            <a:r>
              <a:rPr sz="1650" b="0" i="0">
                <a:solidFill>
                  <a:srgbClr val="3A3F47"/>
                </a:solidFill>
                <a:latin typeface="Arial"/>
                <a:cs typeface="Arial"/>
              </a:rPr>
              <a:t>These events are </a:t>
            </a:r>
            <a:r>
              <a:rPr sz="1650" b="1" i="0">
                <a:solidFill>
                  <a:srgbClr val="3A3F47"/>
                </a:solidFill>
                <a:latin typeface="Arial"/>
                <a:cs typeface="Arial"/>
              </a:rPr>
              <a:t>wave-dominated and fast</a:t>
            </a:r>
            <a:r>
              <a:rPr sz="1650" b="0" i="0">
                <a:solidFill>
                  <a:srgbClr val="3A3F47"/>
                </a:solidFill>
                <a:latin typeface="Arial"/>
                <a:cs typeface="Arial"/>
              </a:rPr>
              <a:t> — stress waves traverse the part in microseconds, with severe, localized plasticity</a:t>
            </a:r>
          </a:p>
          <a:p>
            <a:pPr marL="219456" indent="-219456">
              <a:lnSpc>
                <a:spcPct val="106000"/>
              </a:lnSpc>
              <a:spcAft>
                <a:spcPts val="1800"/>
              </a:spcAft>
              <a:buClr>
                <a:srgbClr val="06509D"/>
              </a:buClr>
              <a:buFont typeface="Arial"/>
              <a:buChar char="•"/>
            </a:pPr>
            <a:r>
              <a:rPr sz="1650" b="0" i="0">
                <a:solidFill>
                  <a:srgbClr val="3A3F47"/>
                </a:solidFill>
                <a:latin typeface="Arial"/>
                <a:cs typeface="Arial"/>
              </a:rPr>
              <a:t>Predictive fidelity requires </a:t>
            </a:r>
            <a:r>
              <a:rPr sz="1650" b="1" i="0">
                <a:solidFill>
                  <a:srgbClr val="3A3F47"/>
                </a:solidFill>
                <a:latin typeface="Arial"/>
                <a:cs typeface="Arial"/>
              </a:rPr>
              <a:t>modern constitutive models</a:t>
            </a:r>
            <a:r>
              <a:rPr sz="1650" b="0" i="0">
                <a:solidFill>
                  <a:srgbClr val="3A3F47"/>
                </a:solidFill>
                <a:latin typeface="Arial"/>
                <a:cs typeface="Arial"/>
              </a:rPr>
              <a:t> — rate- and temperature-dependent plasticity, evolving internal state</a:t>
            </a:r>
          </a:p>
          <a:p>
            <a:pPr marL="219456" indent="-219456">
              <a:lnSpc>
                <a:spcPct val="106000"/>
              </a:lnSpc>
              <a:spcAft>
                <a:spcPts val="1800"/>
              </a:spcAft>
              <a:buClr>
                <a:srgbClr val="06509D"/>
              </a:buClr>
              <a:buFont typeface="Arial"/>
              <a:buChar char="•"/>
            </a:pPr>
            <a:r>
              <a:rPr sz="1650" b="0" i="0">
                <a:solidFill>
                  <a:srgbClr val="3A3F47"/>
                </a:solidFill>
                <a:latin typeface="Arial"/>
                <a:cs typeface="Arial"/>
              </a:rPr>
              <a:t>Simulating them means </a:t>
            </a:r>
            <a:r>
              <a:rPr sz="1650" b="1" i="0">
                <a:solidFill>
                  <a:srgbClr val="3A3F47"/>
                </a:solidFill>
                <a:latin typeface="Arial"/>
                <a:cs typeface="Arial"/>
              </a:rPr>
              <a:t>explicit time integration</a:t>
            </a:r>
            <a:r>
              <a:rPr sz="1650" b="0" i="0">
                <a:solidFill>
                  <a:srgbClr val="3A3F47"/>
                </a:solidFill>
                <a:latin typeface="Arial"/>
                <a:cs typeface="Arial"/>
              </a:rPr>
              <a:t> with a material-model evaluation at every quadrature point, every step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7333488" y="1207008"/>
            <a:ext cx="4291279" cy="3977639"/>
          </a:xfrm>
          <a:prstGeom prst="roundRect">
            <a:avLst>
              <a:gd name="adj" fmla="val 5500"/>
            </a:avLst>
          </a:prstGeom>
          <a:solidFill>
            <a:srgbClr val="F4F5F7"/>
          </a:solidFill>
          <a:ln w="9525">
            <a:solidFill>
              <a:srgbClr val="DADDE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7589520" y="1408176"/>
            <a:ext cx="3779215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50" b="1" i="0">
                <a:solidFill>
                  <a:srgbClr val="59595C"/>
                </a:solidFill>
                <a:latin typeface="Arial"/>
                <a:cs typeface="Arial"/>
              </a:rPr>
              <a:t>TIMESCALES OF AN IMPACT EVENT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7589520" y="1865376"/>
            <a:ext cx="3779215" cy="658368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9525">
            <a:solidFill>
              <a:srgbClr val="DADDE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7808976" y="1865376"/>
            <a:ext cx="2371039" cy="65836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250" b="0" i="0">
                <a:solidFill>
                  <a:srgbClr val="3A3F47"/>
                </a:solidFill>
                <a:latin typeface="Arial"/>
                <a:cs typeface="Arial"/>
              </a:rPr>
              <a:t>event duration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841687" y="1865376"/>
            <a:ext cx="1417320" cy="65836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/>
            <a:r>
              <a:rPr sz="1500" b="1" i="0">
                <a:solidFill>
                  <a:srgbClr val="06509D"/>
                </a:solidFill>
                <a:latin typeface="Arial"/>
                <a:cs typeface="Arial"/>
              </a:rPr>
              <a:t>~100 µs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7589520" y="2660904"/>
            <a:ext cx="3779215" cy="658368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9525">
            <a:solidFill>
              <a:srgbClr val="DADDE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7808976" y="2660904"/>
            <a:ext cx="2371039" cy="65836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250" b="0" i="0">
                <a:solidFill>
                  <a:srgbClr val="3A3F47"/>
                </a:solidFill>
                <a:latin typeface="Arial"/>
                <a:cs typeface="Arial"/>
              </a:rPr>
              <a:t>wave transit through part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9841687" y="2660904"/>
            <a:ext cx="1417320" cy="65836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/>
            <a:r>
              <a:rPr sz="1500" b="1" i="0">
                <a:solidFill>
                  <a:srgbClr val="06509D"/>
                </a:solidFill>
                <a:latin typeface="Arial"/>
                <a:cs typeface="Arial"/>
              </a:rPr>
              <a:t>~1–10 µs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7589520" y="3456432"/>
            <a:ext cx="3779215" cy="658368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9525">
            <a:solidFill>
              <a:srgbClr val="DADDE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7808976" y="3456432"/>
            <a:ext cx="2371039" cy="65836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250" b="0" i="0">
                <a:solidFill>
                  <a:srgbClr val="3A3F47"/>
                </a:solidFill>
                <a:latin typeface="Arial"/>
                <a:cs typeface="Arial"/>
              </a:rPr>
              <a:t>stable explicit step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9841687" y="3456432"/>
            <a:ext cx="1417320" cy="65836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/>
            <a:r>
              <a:rPr sz="1500" b="1" i="0">
                <a:solidFill>
                  <a:srgbClr val="CF1D4C"/>
                </a:solidFill>
                <a:latin typeface="Arial"/>
                <a:cs typeface="Arial"/>
              </a:rPr>
              <a:t>~10 ns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7589520" y="4251960"/>
            <a:ext cx="3779215" cy="658368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9525">
            <a:solidFill>
              <a:srgbClr val="DADDE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7808976" y="4251960"/>
            <a:ext cx="2371039" cy="65836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250" b="0" i="0">
                <a:solidFill>
                  <a:srgbClr val="3A3F47"/>
                </a:solidFill>
                <a:latin typeface="Arial"/>
                <a:cs typeface="Arial"/>
              </a:rPr>
              <a:t>⇒  steps to simulate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9841687" y="4251960"/>
            <a:ext cx="1417320" cy="65836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/>
            <a:r>
              <a:rPr sz="1500" b="1" i="0">
                <a:solidFill>
                  <a:srgbClr val="1E2430"/>
                </a:solidFill>
                <a:latin typeface="Arial"/>
                <a:cs typeface="Arial"/>
              </a:rPr>
              <a:t>10</a:t>
            </a:r>
            <a:r>
              <a:rPr sz="1500" b="1" i="0" baseline="30000">
                <a:solidFill>
                  <a:srgbClr val="1E2430"/>
                </a:solidFill>
                <a:latin typeface="Arial"/>
                <a:cs typeface="Arial"/>
              </a:rPr>
              <a:t>4</a:t>
            </a:r>
            <a:r>
              <a:rPr sz="1500" b="1" i="0">
                <a:solidFill>
                  <a:srgbClr val="1E2430"/>
                </a:solidFill>
                <a:latin typeface="Arial"/>
                <a:cs typeface="Arial"/>
              </a:rPr>
              <a:t>–10</a:t>
            </a:r>
            <a:r>
              <a:rPr sz="1500" b="1" i="0" baseline="30000">
                <a:solidFill>
                  <a:srgbClr val="1E2430"/>
                </a:solidFill>
                <a:latin typeface="Arial"/>
                <a:cs typeface="Arial"/>
              </a:rPr>
              <a:t>5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566928" y="5376672"/>
            <a:ext cx="11057839" cy="658368"/>
          </a:xfrm>
          <a:prstGeom prst="roundRect">
            <a:avLst>
              <a:gd name="adj" fmla="val 5500"/>
            </a:avLst>
          </a:prstGeom>
          <a:solidFill>
            <a:srgbClr val="FDF0DF"/>
          </a:solidFill>
          <a:ln w="12700">
            <a:solidFill>
              <a:srgbClr val="B4620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841248" y="5376672"/>
            <a:ext cx="10509199" cy="65836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500" b="1" i="0">
                <a:solidFill>
                  <a:srgbClr val="1E2430"/>
                </a:solidFill>
                <a:latin typeface="Arial"/>
                <a:cs typeface="Arial"/>
              </a:rPr>
              <a:t>Many steps × expensive material updates:</a:t>
            </a:r>
            <a:r>
              <a:rPr sz="1500" b="0" i="0">
                <a:solidFill>
                  <a:srgbClr val="3A3F47"/>
                </a:solidFill>
                <a:latin typeface="Arial"/>
                <a:cs typeface="Arial"/>
              </a:rPr>
              <a:t> high-rate simulation is compute-hungry in a very particular way.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2600"/>
              <a:t>Two mature ecosystems — and a gap between them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1231575" y="274320"/>
            <a:ext cx="685800" cy="228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900" b="0" i="0">
                <a:solidFill>
                  <a:srgbClr val="59595C"/>
                </a:solidFill>
                <a:latin typeface="Arial"/>
                <a:cs typeface="Arial"/>
              </a:rPr>
              <a:t>3 / 19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566928" y="1207008"/>
            <a:ext cx="4843119" cy="2743200"/>
          </a:xfrm>
          <a:prstGeom prst="roundRect">
            <a:avLst>
              <a:gd name="adj" fmla="val 5500"/>
            </a:avLst>
          </a:prstGeom>
          <a:solidFill>
            <a:srgbClr val="E6EEF7"/>
          </a:solidFill>
          <a:ln w="12700">
            <a:solidFill>
              <a:srgbClr val="06509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841248" y="1408176"/>
            <a:ext cx="4294479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50" b="1" i="0">
                <a:solidFill>
                  <a:srgbClr val="06509D"/>
                </a:solidFill>
                <a:latin typeface="Arial"/>
                <a:cs typeface="Arial"/>
              </a:rPr>
              <a:t>MULTIPHYSICS FE FRAMEWORKS (MOOSE)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59536" y="1892808"/>
            <a:ext cx="4257903" cy="18745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marL="219456" indent="-219456">
              <a:lnSpc>
                <a:spcPct val="106000"/>
              </a:lnSpc>
              <a:spcAft>
                <a:spcPts val="900"/>
              </a:spcAft>
              <a:buClr>
                <a:srgbClr val="06509D"/>
              </a:buClr>
              <a:buFont typeface="Arial"/>
              <a:buChar char="•"/>
            </a:pPr>
            <a:r>
              <a:rPr sz="1400" b="0" i="0">
                <a:solidFill>
                  <a:srgbClr val="3A3F47"/>
                </a:solidFill>
                <a:latin typeface="Arial"/>
                <a:cs typeface="Arial"/>
              </a:rPr>
              <a:t>Boundary conditions, contact, parallel domain decomposition</a:t>
            </a:r>
          </a:p>
          <a:p>
            <a:pPr marL="219456" indent="-219456">
              <a:lnSpc>
                <a:spcPct val="106000"/>
              </a:lnSpc>
              <a:spcAft>
                <a:spcPts val="900"/>
              </a:spcAft>
              <a:buClr>
                <a:srgbClr val="06509D"/>
              </a:buClr>
              <a:buFont typeface="Arial"/>
              <a:buChar char="•"/>
            </a:pPr>
            <a:r>
              <a:rPr sz="1400" b="0" i="0">
                <a:solidFill>
                  <a:srgbClr val="3A3F47"/>
                </a:solidFill>
                <a:latin typeface="Arial"/>
                <a:cs typeface="Arial"/>
              </a:rPr>
              <a:t>Coupled-physics machinery, in-situ output, meshing, restart</a:t>
            </a:r>
          </a:p>
          <a:p>
            <a:pPr marL="219456" indent="-219456">
              <a:lnSpc>
                <a:spcPct val="106000"/>
              </a:lnSpc>
              <a:spcAft>
                <a:spcPts val="900"/>
              </a:spcAft>
              <a:buClr>
                <a:srgbClr val="06509D"/>
              </a:buClr>
              <a:buFont typeface="Arial"/>
              <a:buChar char="•"/>
            </a:pPr>
            <a:r>
              <a:rPr sz="1400" b="0" i="0">
                <a:solidFill>
                  <a:srgbClr val="3A3F47"/>
                </a:solidFill>
                <a:latin typeface="Arial"/>
                <a:cs typeface="Arial"/>
              </a:rPr>
              <a:t>But: materials evaluated </a:t>
            </a:r>
            <a:r>
              <a:rPr sz="1400" b="1" i="0">
                <a:solidFill>
                  <a:srgbClr val="3A3F47"/>
                </a:solidFill>
                <a:latin typeface="Arial"/>
                <a:cs typeface="Arial"/>
              </a:rPr>
              <a:t>point-by-point on CPU</a:t>
            </a:r>
            <a:r>
              <a:rPr sz="1400" b="0" i="0">
                <a:solidFill>
                  <a:srgbClr val="3A3F47"/>
                </a:solidFill>
                <a:latin typeface="Arial"/>
                <a:cs typeface="Arial"/>
              </a:rPr>
              <a:t> inside the element loop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781647" y="1207008"/>
            <a:ext cx="4843119" cy="2743200"/>
          </a:xfrm>
          <a:prstGeom prst="roundRect">
            <a:avLst>
              <a:gd name="adj" fmla="val 5500"/>
            </a:avLst>
          </a:prstGeom>
          <a:solidFill>
            <a:srgbClr val="EFF6DF"/>
          </a:solidFill>
          <a:ln w="12700">
            <a:solidFill>
              <a:srgbClr val="5E861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7055967" y="1408176"/>
            <a:ext cx="4294479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50" b="1" i="0">
                <a:solidFill>
                  <a:srgbClr val="5E8614"/>
                </a:solidFill>
                <a:latin typeface="Arial"/>
                <a:cs typeface="Arial"/>
              </a:rPr>
              <a:t>MODERN MATERIAL LIBRARIES (NEML2)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074255" y="1892808"/>
            <a:ext cx="4257903" cy="18745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marL="219456" indent="-219456">
              <a:lnSpc>
                <a:spcPct val="106000"/>
              </a:lnSpc>
              <a:spcAft>
                <a:spcPts val="900"/>
              </a:spcAft>
              <a:buClr>
                <a:srgbClr val="5E8614"/>
              </a:buClr>
              <a:buFont typeface="Arial"/>
              <a:buChar char="•"/>
            </a:pPr>
            <a:r>
              <a:rPr sz="1400" b="0" i="0">
                <a:solidFill>
                  <a:srgbClr val="3A3F47"/>
                </a:solidFill>
                <a:latin typeface="Arial"/>
                <a:cs typeface="Arial"/>
              </a:rPr>
              <a:t>Composable constitutive models with automatic differentiation</a:t>
            </a:r>
          </a:p>
          <a:p>
            <a:pPr marL="219456" indent="-219456">
              <a:lnSpc>
                <a:spcPct val="106000"/>
              </a:lnSpc>
              <a:spcAft>
                <a:spcPts val="900"/>
              </a:spcAft>
              <a:buClr>
                <a:srgbClr val="5E8614"/>
              </a:buClr>
              <a:buFont typeface="Arial"/>
              <a:buChar char="•"/>
            </a:pPr>
            <a:r>
              <a:rPr sz="1400" b="0" i="0">
                <a:solidFill>
                  <a:srgbClr val="3A3F47"/>
                </a:solidFill>
                <a:latin typeface="Arial"/>
                <a:cs typeface="Arial"/>
              </a:rPr>
              <a:t>Batched tensor evaluation on </a:t>
            </a:r>
            <a:r>
              <a:rPr sz="1400" b="1" i="0">
                <a:solidFill>
                  <a:srgbClr val="3A3F47"/>
                </a:solidFill>
                <a:latin typeface="Arial"/>
                <a:cs typeface="Arial"/>
              </a:rPr>
              <a:t>GPU or CPU</a:t>
            </a:r>
            <a:r>
              <a:rPr sz="1400" b="0" i="0">
                <a:solidFill>
                  <a:srgbClr val="3A3F47"/>
                </a:solidFill>
                <a:latin typeface="Arial"/>
                <a:cs typeface="Arial"/>
              </a:rPr>
              <a:t> (libTorch backend)</a:t>
            </a:r>
          </a:p>
          <a:p>
            <a:pPr marL="219456" indent="-219456">
              <a:lnSpc>
                <a:spcPct val="106000"/>
              </a:lnSpc>
              <a:spcAft>
                <a:spcPts val="900"/>
              </a:spcAft>
              <a:buClr>
                <a:srgbClr val="5E8614"/>
              </a:buClr>
              <a:buFont typeface="Arial"/>
              <a:buChar char="•"/>
            </a:pPr>
            <a:r>
              <a:rPr sz="1400" b="0" i="0">
                <a:solidFill>
                  <a:srgbClr val="3A3F47"/>
                </a:solidFill>
                <a:latin typeface="Arial"/>
                <a:cs typeface="Arial"/>
              </a:rPr>
              <a:t>But: no mesh, no boundary conditions, no solver — </a:t>
            </a:r>
            <a:r>
              <a:rPr sz="1400" b="1" i="0">
                <a:solidFill>
                  <a:srgbClr val="3A3F47"/>
                </a:solidFill>
                <a:latin typeface="Arial"/>
                <a:cs typeface="Arial"/>
              </a:rPr>
              <a:t>not a simulation code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410047" y="2029968"/>
            <a:ext cx="137160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3200" b="1" i="0">
                <a:solidFill>
                  <a:srgbClr val="CF1D4C"/>
                </a:solidFill>
                <a:latin typeface="Arial"/>
                <a:cs typeface="Arial"/>
              </a:rPr>
              <a:t>?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428335" y="2596896"/>
            <a:ext cx="1335024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15000"/>
              </a:lnSpc>
            </a:pPr>
            <a:r>
              <a:rPr sz="1250" b="0" i="1">
                <a:solidFill>
                  <a:srgbClr val="CF1D4C"/>
                </a:solidFill>
                <a:latin typeface="Arial"/>
                <a:cs typeface="Arial"/>
              </a:rPr>
              <a:t>per-point calls,</a:t>
            </a:r>
          </a:p>
          <a:p>
            <a:pPr algn="ctr">
              <a:lnSpc>
                <a:spcPct val="115000"/>
              </a:lnSpc>
            </a:pPr>
            <a:r>
              <a:rPr sz="1250" b="0" i="1">
                <a:solidFill>
                  <a:srgbClr val="CF1D4C"/>
                </a:solidFill>
                <a:latin typeface="Arial"/>
                <a:cs typeface="Arial"/>
              </a:rPr>
              <a:t>per-step copies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566928" y="4453128"/>
            <a:ext cx="11057839" cy="914400"/>
          </a:xfrm>
          <a:prstGeom prst="roundRect">
            <a:avLst>
              <a:gd name="adj" fmla="val 5500"/>
            </a:avLst>
          </a:prstGeom>
          <a:solidFill>
            <a:srgbClr val="E6EEF7"/>
          </a:solidFill>
          <a:ln w="12700">
            <a:solidFill>
              <a:srgbClr val="06509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841248" y="4453128"/>
            <a:ext cx="10509199" cy="9144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600" b="1" i="0">
                <a:solidFill>
                  <a:srgbClr val="06509D"/>
                </a:solidFill>
                <a:latin typeface="Arial"/>
                <a:cs typeface="Arial"/>
              </a:rPr>
              <a:t>This talk: </a:t>
            </a:r>
            <a:r>
              <a:rPr sz="1600" b="0" i="0">
                <a:solidFill>
                  <a:srgbClr val="1E2430"/>
                </a:solidFill>
                <a:latin typeface="Arial"/>
                <a:cs typeface="Arial"/>
              </a:rPr>
              <a:t>an interface that lets NEML2 assemble the nodal internal forces itself — batched, device-resident — while MOOSE keeps doing everything else it is good at.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2600"/>
              <a:t>Governing equations of explicit solid dynamics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1231575" y="274320"/>
            <a:ext cx="685800" cy="228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900" b="0" i="0">
                <a:solidFill>
                  <a:srgbClr val="59595C"/>
                </a:solidFill>
                <a:latin typeface="Arial"/>
                <a:cs typeface="Arial"/>
              </a:rPr>
              <a:t>4 / 19</a:t>
            </a:r>
          </a:p>
        </p:txBody>
      </p:sp>
      <p:pic>
        <p:nvPicPr>
          <p:cNvPr id="4" name="Picture 3" descr="momentum_strong_form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58368" y="1389888"/>
            <a:ext cx="2574188" cy="277977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7790688" y="1353312"/>
            <a:ext cx="3834079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50" b="0" i="1">
                <a:solidFill>
                  <a:srgbClr val="3A3F47"/>
                </a:solidFill>
                <a:latin typeface="Arial"/>
                <a:cs typeface="Arial"/>
              </a:rPr>
              <a:t>balance of linear momentum</a:t>
            </a:r>
          </a:p>
        </p:txBody>
      </p:sp>
      <p:pic>
        <p:nvPicPr>
          <p:cNvPr id="6" name="Picture 5" descr="weak_form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58368" y="2377440"/>
            <a:ext cx="6445605" cy="370636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7790688" y="2340864"/>
            <a:ext cx="3834079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50" b="0" i="1">
                <a:solidFill>
                  <a:srgbClr val="3A3F47"/>
                </a:solidFill>
                <a:latin typeface="Arial"/>
                <a:cs typeface="Arial"/>
              </a:rPr>
              <a:t>weak form: multiply by test function, integrate by parts</a:t>
            </a:r>
          </a:p>
        </p:txBody>
      </p:sp>
      <p:pic>
        <p:nvPicPr>
          <p:cNvPr id="8" name="Picture 7" descr="semi_discrete_momentum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58368" y="3364992"/>
            <a:ext cx="2484424" cy="330098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7790688" y="3328416"/>
            <a:ext cx="3834079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50" b="0" i="1">
                <a:solidFill>
                  <a:srgbClr val="3A3F47"/>
                </a:solidFill>
                <a:latin typeface="Arial"/>
                <a:cs typeface="Arial"/>
              </a:rPr>
              <a:t>discretize in space: semi-discrete momentum equation</a:t>
            </a:r>
          </a:p>
        </p:txBody>
      </p:sp>
      <p:pic>
        <p:nvPicPr>
          <p:cNvPr id="10" name="Picture 9" descr="internal_force_assembly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58368" y="4352544"/>
            <a:ext cx="6405067" cy="379323"/>
          </a:xfrm>
          <a:prstGeom prst="rect">
            <a:avLst/>
          </a:prstGeom>
        </p:spPr>
      </p:pic>
      <p:sp>
        <p:nvSpPr>
          <p:cNvPr id="11" name="TextBox 10"/>
          <p:cNvSpPr txBox="1"/>
          <p:nvPr/>
        </p:nvSpPr>
        <p:spPr>
          <a:xfrm>
            <a:off x="7790688" y="4315968"/>
            <a:ext cx="3834079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50" b="0" i="1">
                <a:solidFill>
                  <a:srgbClr val="3A3F47"/>
                </a:solidFill>
                <a:latin typeface="Arial"/>
                <a:cs typeface="Arial"/>
              </a:rPr>
              <a:t>internal force: assembled from quadrature-point stress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566928" y="5376672"/>
            <a:ext cx="11057839" cy="658368"/>
          </a:xfrm>
          <a:prstGeom prst="roundRect">
            <a:avLst>
              <a:gd name="adj" fmla="val 5500"/>
            </a:avLst>
          </a:prstGeom>
          <a:solidFill>
            <a:srgbClr val="FDF0DF"/>
          </a:solidFill>
          <a:ln w="12700">
            <a:solidFill>
              <a:srgbClr val="B4620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841248" y="5376672"/>
            <a:ext cx="10509199" cy="65836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500" b="1" i="0">
                <a:solidFill>
                  <a:srgbClr val="1E2430"/>
                </a:solidFill>
                <a:latin typeface="Arial"/>
                <a:cs typeface="Arial"/>
              </a:rPr>
              <a:t>Everything above is standard.</a:t>
            </a:r>
            <a:r>
              <a:rPr sz="1500" b="0" i="0">
                <a:solidFill>
                  <a:srgbClr val="3A3F47"/>
                </a:solidFill>
                <a:latin typeface="Arial"/>
                <a:cs typeface="Arial"/>
              </a:rPr>
              <a:t> The physics of the material lives in one place — the stress </a:t>
            </a:r>
            <a:r>
              <a:rPr sz="1500" b="1" i="0">
                <a:solidFill>
                  <a:srgbClr val="1E2430"/>
                </a:solidFill>
                <a:latin typeface="Arial"/>
                <a:cs typeface="Arial"/>
              </a:rPr>
              <a:t>σ</a:t>
            </a:r>
            <a:r>
              <a:rPr sz="1500" b="0" i="0">
                <a:solidFill>
                  <a:srgbClr val="3A3F47"/>
                </a:solidFill>
                <a:latin typeface="Arial"/>
                <a:cs typeface="Arial"/>
              </a:rPr>
              <a:t> at each quadrature point. That is where NEML2 will plug in.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2600"/>
              <a:t>Explicit time integration: ExplicitMixedOrder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1231575" y="274320"/>
            <a:ext cx="685800" cy="228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900" b="0" i="0">
                <a:solidFill>
                  <a:srgbClr val="59595C"/>
                </a:solidFill>
                <a:latin typeface="Arial"/>
                <a:cs typeface="Arial"/>
              </a:rPr>
              <a:t>5 / 19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66928" y="1207008"/>
            <a:ext cx="667512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0" i="0">
                <a:solidFill>
                  <a:srgbClr val="3A3F47"/>
                </a:solidFill>
                <a:latin typeface="Arial"/>
                <a:cs typeface="Arial"/>
              </a:rPr>
              <a:t>Central difference, as implemented in our </a:t>
            </a:r>
            <a:r>
              <a:rPr sz="1350" b="1" i="0">
                <a:solidFill>
                  <a:srgbClr val="3A3F47"/>
                </a:solidFill>
                <a:latin typeface="Consolas"/>
                <a:cs typeface="Consolas"/>
              </a:rPr>
              <a:t>ExplicitMixedOrder</a:t>
            </a:r>
            <a:r>
              <a:rPr sz="1400" b="0" i="0">
                <a:solidFill>
                  <a:srgbClr val="3A3F47"/>
                </a:solidFill>
                <a:latin typeface="Arial"/>
                <a:cs typeface="Arial"/>
              </a:rPr>
              <a:t> MOOSE integrator</a:t>
            </a:r>
          </a:p>
        </p:txBody>
      </p:sp>
      <p:pic>
        <p:nvPicPr>
          <p:cNvPr id="5" name="Picture 4" descr="accel_lumped_mas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58368" y="1682496"/>
            <a:ext cx="2372868" cy="342900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4910328" y="1755648"/>
            <a:ext cx="228600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50" b="0" i="1">
                <a:solidFill>
                  <a:srgbClr val="59595C"/>
                </a:solidFill>
                <a:latin typeface="Arial"/>
                <a:cs typeface="Arial"/>
              </a:rPr>
              <a:t>pointwise divide — no solver</a:t>
            </a:r>
          </a:p>
        </p:txBody>
      </p:sp>
      <p:pic>
        <p:nvPicPr>
          <p:cNvPr id="7" name="Picture 6" descr="velocity_midpoint_updat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58368" y="2615184"/>
            <a:ext cx="2984601" cy="405993"/>
          </a:xfrm>
          <a:prstGeom prst="rect">
            <a:avLst/>
          </a:prstGeom>
        </p:spPr>
      </p:pic>
      <p:sp>
        <p:nvSpPr>
          <p:cNvPr id="8" name="TextBox 7"/>
          <p:cNvSpPr txBox="1"/>
          <p:nvPr/>
        </p:nvSpPr>
        <p:spPr>
          <a:xfrm>
            <a:off x="4910328" y="2688336"/>
            <a:ext cx="228600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50" b="0" i="1">
                <a:solidFill>
                  <a:srgbClr val="59595C"/>
                </a:solidFill>
                <a:latin typeface="Arial"/>
                <a:cs typeface="Arial"/>
              </a:rPr>
              <a:t>variable-Δt midpoint velocity update</a:t>
            </a:r>
          </a:p>
        </p:txBody>
      </p:sp>
      <p:pic>
        <p:nvPicPr>
          <p:cNvPr id="9" name="Picture 8" descr="displacement_update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58368" y="3547872"/>
            <a:ext cx="2438704" cy="351129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4910328" y="3621024"/>
            <a:ext cx="228600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50" b="0" i="1">
                <a:solidFill>
                  <a:srgbClr val="59595C"/>
                </a:solidFill>
                <a:latin typeface="Arial"/>
                <a:cs typeface="Arial"/>
              </a:rPr>
              <a:t>displacement update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66928" y="4590288"/>
            <a:ext cx="667512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0" i="0">
                <a:solidFill>
                  <a:srgbClr val="3A3F47"/>
                </a:solidFill>
                <a:latin typeface="Arial"/>
                <a:cs typeface="Arial"/>
              </a:rPr>
              <a:t>No Newton iterations, no global linear solve, no Jacobian — </a:t>
            </a:r>
            <a:r>
              <a:rPr sz="1400" b="1" i="0">
                <a:solidFill>
                  <a:srgbClr val="1E2430"/>
                </a:solidFill>
                <a:latin typeface="Arial"/>
                <a:cs typeface="Arial"/>
              </a:rPr>
              <a:t>each step is one residual evaluation plus vector updates.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7626096" y="1207008"/>
            <a:ext cx="3998671" cy="3310128"/>
          </a:xfrm>
          <a:prstGeom prst="roundRect">
            <a:avLst>
              <a:gd name="adj" fmla="val 5500"/>
            </a:avLst>
          </a:prstGeom>
          <a:solidFill>
            <a:srgbClr val="E6EEF7"/>
          </a:solidFill>
          <a:ln w="12700">
            <a:solidFill>
              <a:srgbClr val="06509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7863840" y="1389888"/>
            <a:ext cx="3523183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1" i="0">
                <a:solidFill>
                  <a:srgbClr val="06509D"/>
                </a:solidFill>
                <a:latin typeface="Arial"/>
                <a:cs typeface="Arial"/>
              </a:rPr>
              <a:t>WHY “MIXED ORDER”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882128" y="1773936"/>
            <a:ext cx="3486607" cy="15544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marL="219456" indent="-219456">
              <a:lnSpc>
                <a:spcPct val="106000"/>
              </a:lnSpc>
              <a:spcAft>
                <a:spcPts val="1000"/>
              </a:spcAft>
              <a:buClr>
                <a:srgbClr val="06509D"/>
              </a:buClr>
              <a:buFont typeface="Arial"/>
              <a:buChar char="•"/>
            </a:pPr>
            <a:r>
              <a:rPr sz="1300" b="1" i="0">
                <a:solidFill>
                  <a:srgbClr val="3A3F47"/>
                </a:solidFill>
                <a:latin typeface="Arial"/>
                <a:cs typeface="Arial"/>
              </a:rPr>
              <a:t>Second-order fields</a:t>
            </a:r>
            <a:r>
              <a:rPr sz="1300" b="0" i="0">
                <a:solidFill>
                  <a:srgbClr val="3A3F47"/>
                </a:solidFill>
                <a:latin typeface="Arial"/>
                <a:cs typeface="Arial"/>
              </a:rPr>
              <a:t> (displacement): central difference, as at left</a:t>
            </a:r>
          </a:p>
          <a:p>
            <a:pPr marL="219456" indent="-219456">
              <a:lnSpc>
                <a:spcPct val="106000"/>
              </a:lnSpc>
              <a:spcAft>
                <a:spcPts val="1000"/>
              </a:spcAft>
              <a:buClr>
                <a:srgbClr val="06509D"/>
              </a:buClr>
              <a:buFont typeface="Arial"/>
              <a:buChar char="•"/>
            </a:pPr>
            <a:r>
              <a:rPr sz="1300" b="1" i="0">
                <a:solidFill>
                  <a:srgbClr val="3A3F47"/>
                </a:solidFill>
                <a:latin typeface="Arial"/>
                <a:cs typeface="Arial"/>
              </a:rPr>
              <a:t>First-order fields</a:t>
            </a:r>
            <a:r>
              <a:rPr sz="1300" b="0" i="0">
                <a:solidFill>
                  <a:srgbClr val="3A3F47"/>
                </a:solidFill>
                <a:latin typeface="Arial"/>
                <a:cs typeface="Arial"/>
              </a:rPr>
              <a:t> (e.g. temperature): forward Euler on the rate — same update loop</a:t>
            </a:r>
          </a:p>
        </p:txBody>
      </p:sp>
      <p:cxnSp>
        <p:nvCxnSpPr>
          <p:cNvPr id="15" name="Connector 14"/>
          <p:cNvCxnSpPr/>
          <p:nvPr/>
        </p:nvCxnSpPr>
        <p:spPr>
          <a:xfrm>
            <a:off x="7863840" y="3145536"/>
            <a:ext cx="3523183" cy="0"/>
          </a:xfrm>
          <a:prstGeom prst="line">
            <a:avLst/>
          </a:prstGeom>
          <a:ln w="6350">
            <a:solidFill>
              <a:srgbClr val="06509D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6" name="TextBox 15"/>
          <p:cNvSpPr txBox="1"/>
          <p:nvPr/>
        </p:nvSpPr>
        <p:spPr>
          <a:xfrm>
            <a:off x="7882128" y="3328416"/>
            <a:ext cx="3486607" cy="10058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8000"/>
              </a:lnSpc>
            </a:pPr>
            <a:r>
              <a:rPr sz="1300" b="0" i="0">
                <a:solidFill>
                  <a:srgbClr val="3A3F47"/>
                </a:solidFill>
                <a:latin typeface="Arial"/>
                <a:cs typeface="Arial"/>
              </a:rPr>
              <a:t>One integrator advances a </a:t>
            </a:r>
            <a:r>
              <a:rPr sz="1300" b="1" i="0">
                <a:solidFill>
                  <a:srgbClr val="1E2430"/>
                </a:solidFill>
                <a:latin typeface="Arial"/>
                <a:cs typeface="Arial"/>
              </a:rPr>
              <a:t>coupled thermo-mechanical system</a:t>
            </a:r>
            <a:r>
              <a:rPr sz="1300" b="0" i="0">
                <a:solidFill>
                  <a:srgbClr val="3A3F47"/>
                </a:solidFill>
                <a:latin typeface="Arial"/>
                <a:cs typeface="Arial"/>
              </a:rPr>
              <a:t> explicitly — the multiphysics lever used later in this talk.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566928" y="5376672"/>
            <a:ext cx="11057839" cy="658368"/>
          </a:xfrm>
          <a:prstGeom prst="roundRect">
            <a:avLst>
              <a:gd name="adj" fmla="val 5500"/>
            </a:avLst>
          </a:prstGeom>
          <a:solidFill>
            <a:srgbClr val="FDF0DF"/>
          </a:solidFill>
          <a:ln w="12700">
            <a:solidFill>
              <a:srgbClr val="B4620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841248" y="5376672"/>
            <a:ext cx="10509199" cy="65836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500" b="1" i="0">
                <a:solidFill>
                  <a:srgbClr val="1E2430"/>
                </a:solidFill>
                <a:latin typeface="Arial"/>
                <a:cs typeface="Arial"/>
              </a:rPr>
              <a:t>Developed for this work and upstreamed:</a:t>
            </a:r>
            <a:r>
              <a:rPr sz="1500" b="0" i="0">
                <a:solidFill>
                  <a:srgbClr val="3A3F47"/>
                </a:solidFill>
                <a:latin typeface="Arial"/>
                <a:cs typeface="Arial"/>
              </a:rPr>
              <a:t> part of MOOSE solid mechanics today, available to every MOOSE application.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2600"/>
              <a:t>Stability sets the step; the material sets the cost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1231575" y="274320"/>
            <a:ext cx="685800" cy="228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900" b="0" i="0">
                <a:solidFill>
                  <a:srgbClr val="59595C"/>
                </a:solidFill>
                <a:latin typeface="Arial"/>
                <a:cs typeface="Arial"/>
              </a:rPr>
              <a:t>6 / 19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66928" y="1207008"/>
            <a:ext cx="63093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0" i="0">
                <a:solidFill>
                  <a:srgbClr val="3A3F47"/>
                </a:solidFill>
                <a:latin typeface="Arial"/>
                <a:cs typeface="Arial"/>
              </a:rPr>
              <a:t>Conditional stability (CFL): the step must resolve the fastest stress wave</a:t>
            </a:r>
          </a:p>
        </p:txBody>
      </p:sp>
      <p:pic>
        <p:nvPicPr>
          <p:cNvPr id="5" name="Picture 4" descr="cfl_critical_timestep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58368" y="1618488"/>
            <a:ext cx="4116324" cy="558241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676656" y="2322576"/>
            <a:ext cx="63093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50" b="0" i="1">
                <a:solidFill>
                  <a:srgbClr val="59595C"/>
                </a:solidFill>
                <a:latin typeface="Arial"/>
                <a:cs typeface="Arial"/>
              </a:rPr>
              <a:t>element length over elastic wave speed (dilatational speed in 3-D)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66928" y="2898648"/>
            <a:ext cx="6309360" cy="21945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marL="219456" indent="-219456">
              <a:lnSpc>
                <a:spcPct val="106000"/>
              </a:lnSpc>
              <a:spcAft>
                <a:spcPts val="1300"/>
              </a:spcAft>
              <a:buClr>
                <a:srgbClr val="06509D"/>
              </a:buClr>
              <a:buFont typeface="Arial"/>
              <a:buChar char="•"/>
            </a:pPr>
            <a:r>
              <a:rPr sz="1500" b="0" i="0">
                <a:solidFill>
                  <a:srgbClr val="3A3F47"/>
                </a:solidFill>
                <a:latin typeface="Arial"/>
                <a:cs typeface="Arial"/>
              </a:rPr>
              <a:t>Millimeter elements: </a:t>
            </a:r>
            <a:r>
              <a:rPr sz="1500" b="1" i="0">
                <a:solidFill>
                  <a:srgbClr val="3A3F47"/>
                </a:solidFill>
                <a:latin typeface="Arial"/>
                <a:cs typeface="Arial"/>
              </a:rPr>
              <a:t>Δt ≈ 10 ns</a:t>
            </a:r>
            <a:r>
              <a:rPr sz="1500" b="0" i="0">
                <a:solidFill>
                  <a:srgbClr val="3A3F47"/>
                </a:solidFill>
                <a:latin typeface="Arial"/>
                <a:cs typeface="Arial"/>
              </a:rPr>
              <a:t>  ⇒  </a:t>
            </a:r>
            <a:r>
              <a:rPr sz="1500" b="1" i="0">
                <a:solidFill>
                  <a:srgbClr val="3A3F47"/>
                </a:solidFill>
                <a:latin typeface="Arial"/>
                <a:cs typeface="Arial"/>
              </a:rPr>
              <a:t>10</a:t>
            </a:r>
            <a:r>
              <a:rPr sz="1500" b="1" i="0" baseline="30000">
                <a:solidFill>
                  <a:srgbClr val="3A3F47"/>
                </a:solidFill>
                <a:latin typeface="Arial"/>
                <a:cs typeface="Arial"/>
              </a:rPr>
              <a:t>4</a:t>
            </a:r>
            <a:r>
              <a:rPr sz="1500" b="1" i="0">
                <a:solidFill>
                  <a:srgbClr val="3A3F47"/>
                </a:solidFill>
                <a:latin typeface="Arial"/>
                <a:cs typeface="Arial"/>
              </a:rPr>
              <a:t>–10</a:t>
            </a:r>
            <a:r>
              <a:rPr sz="1500" b="1" i="0" baseline="30000">
                <a:solidFill>
                  <a:srgbClr val="3A3F47"/>
                </a:solidFill>
                <a:latin typeface="Arial"/>
                <a:cs typeface="Arial"/>
              </a:rPr>
              <a:t>5</a:t>
            </a:r>
            <a:r>
              <a:rPr sz="1500" b="0" i="0">
                <a:solidFill>
                  <a:srgbClr val="3A3F47"/>
                </a:solidFill>
                <a:latin typeface="Arial"/>
                <a:cs typeface="Arial"/>
              </a:rPr>
              <a:t> steps for a 100 µs event</a:t>
            </a:r>
          </a:p>
          <a:p>
            <a:pPr marL="219456" indent="-219456">
              <a:lnSpc>
                <a:spcPct val="106000"/>
              </a:lnSpc>
              <a:spcAft>
                <a:spcPts val="1300"/>
              </a:spcAft>
              <a:buClr>
                <a:srgbClr val="06509D"/>
              </a:buClr>
              <a:buFont typeface="Arial"/>
              <a:buChar char="•"/>
            </a:pPr>
            <a:r>
              <a:rPr sz="1500" b="0" i="0">
                <a:solidFill>
                  <a:srgbClr val="3A3F47"/>
                </a:solidFill>
                <a:latin typeface="Arial"/>
                <a:cs typeface="Arial"/>
              </a:rPr>
              <a:t>Each step: no solve — the runtime </a:t>
            </a:r>
            <a:r>
              <a:rPr sz="1500" b="0" i="1">
                <a:solidFill>
                  <a:srgbClr val="3A3F47"/>
                </a:solidFill>
                <a:latin typeface="Arial"/>
                <a:cs typeface="Arial"/>
              </a:rPr>
              <a:t>is</a:t>
            </a:r>
            <a:r>
              <a:rPr sz="1500" b="0" i="0">
                <a:solidFill>
                  <a:srgbClr val="3A3F47"/>
                </a:solidFill>
                <a:latin typeface="Arial"/>
                <a:cs typeface="Arial"/>
              </a:rPr>
              <a:t> the residual, and the residual </a:t>
            </a:r>
            <a:r>
              <a:rPr sz="1500" b="0" i="1">
                <a:solidFill>
                  <a:srgbClr val="3A3F47"/>
                </a:solidFill>
                <a:latin typeface="Arial"/>
                <a:cs typeface="Arial"/>
              </a:rPr>
              <a:t>is</a:t>
            </a:r>
            <a:r>
              <a:rPr sz="1500" b="0" i="0">
                <a:solidFill>
                  <a:srgbClr val="3A3F47"/>
                </a:solidFill>
                <a:latin typeface="Arial"/>
                <a:cs typeface="Arial"/>
              </a:rPr>
              <a:t> the constitutive update at every quadrature point</a:t>
            </a:r>
          </a:p>
          <a:p>
            <a:pPr marL="219456" indent="-219456">
              <a:lnSpc>
                <a:spcPct val="106000"/>
              </a:lnSpc>
              <a:spcAft>
                <a:spcPts val="1300"/>
              </a:spcAft>
              <a:buClr>
                <a:srgbClr val="06509D"/>
              </a:buClr>
              <a:buFont typeface="Arial"/>
              <a:buChar char="•"/>
            </a:pPr>
            <a:r>
              <a:rPr sz="1500" b="0" i="0">
                <a:solidFill>
                  <a:srgbClr val="3A3F47"/>
                </a:solidFill>
                <a:latin typeface="Arial"/>
                <a:cs typeface="Arial"/>
              </a:rPr>
              <a:t>Advanced models (rate/temperature-dependent plasticity, internal state) make each of those updates expensive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333488" y="1207008"/>
            <a:ext cx="4291279" cy="3977639"/>
          </a:xfrm>
          <a:prstGeom prst="roundRect">
            <a:avLst>
              <a:gd name="adj" fmla="val 5500"/>
            </a:avLst>
          </a:prstGeom>
          <a:solidFill>
            <a:srgbClr val="F4F5F7"/>
          </a:solidFill>
          <a:ln w="9525">
            <a:solidFill>
              <a:srgbClr val="DADDE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7571232" y="1389888"/>
            <a:ext cx="3815791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50" b="1" i="0">
                <a:solidFill>
                  <a:srgbClr val="59595C"/>
                </a:solidFill>
                <a:latin typeface="Arial"/>
                <a:cs typeface="Arial"/>
              </a:rPr>
              <a:t>ANATOMY OF ONE EXPLICIT STEP</a:t>
            </a:r>
          </a:p>
        </p:txBody>
      </p:sp>
      <p:sp>
        <p:nvSpPr>
          <p:cNvPr id="10" name="Rectangle 9"/>
          <p:cNvSpPr/>
          <p:nvPr/>
        </p:nvSpPr>
        <p:spPr>
          <a:xfrm>
            <a:off x="7607808" y="1773936"/>
            <a:ext cx="457200" cy="1600200"/>
          </a:xfrm>
          <a:prstGeom prst="rect">
            <a:avLst/>
          </a:prstGeom>
          <a:solidFill>
            <a:srgbClr val="FAE8ED"/>
          </a:solidFill>
          <a:ln w="12700">
            <a:solidFill>
              <a:srgbClr val="CF1D4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8247888" y="2427732"/>
            <a:ext cx="3102559" cy="32918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50" b="1" i="0">
                <a:solidFill>
                  <a:srgbClr val="1E2430"/>
                </a:solidFill>
                <a:latin typeface="Arial"/>
                <a:cs typeface="Arial"/>
              </a:rPr>
              <a:t>constitutive update</a:t>
            </a:r>
            <a:r>
              <a:rPr sz="1050" b="0" i="1">
                <a:solidFill>
                  <a:srgbClr val="CF1D4C"/>
                </a:solidFill>
                <a:latin typeface="Arial"/>
                <a:cs typeface="Arial"/>
              </a:rPr>
              <a:t>   dominant</a:t>
            </a:r>
          </a:p>
        </p:txBody>
      </p:sp>
      <p:sp>
        <p:nvSpPr>
          <p:cNvPr id="12" name="Rectangle 11"/>
          <p:cNvSpPr/>
          <p:nvPr/>
        </p:nvSpPr>
        <p:spPr>
          <a:xfrm>
            <a:off x="7607808" y="3483864"/>
            <a:ext cx="457200" cy="594360"/>
          </a:xfrm>
          <a:prstGeom prst="rect">
            <a:avLst/>
          </a:prstGeom>
          <a:solidFill>
            <a:srgbClr val="E6EEF7"/>
          </a:solidFill>
          <a:ln w="12700">
            <a:solidFill>
              <a:srgbClr val="06509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8247888" y="3634740"/>
            <a:ext cx="3102559" cy="32918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50" b="0" i="0">
                <a:solidFill>
                  <a:srgbClr val="3A3F47"/>
                </a:solidFill>
                <a:latin typeface="Arial"/>
                <a:cs typeface="Arial"/>
              </a:rPr>
              <a:t>force assembly + scatter</a:t>
            </a:r>
            <a:r>
              <a:rPr sz="1050" b="0" i="1">
                <a:solidFill>
                  <a:srgbClr val="CF1D4C"/>
                </a:solidFill>
                <a:latin typeface="Arial"/>
                <a:cs typeface="Arial"/>
              </a:rPr>
              <a:t/>
            </a:r>
          </a:p>
        </p:txBody>
      </p:sp>
      <p:sp>
        <p:nvSpPr>
          <p:cNvPr id="14" name="Rectangle 13"/>
          <p:cNvSpPr/>
          <p:nvPr/>
        </p:nvSpPr>
        <p:spPr>
          <a:xfrm>
            <a:off x="7607808" y="4187952"/>
            <a:ext cx="457200" cy="411480"/>
          </a:xfrm>
          <a:prstGeom prst="rect">
            <a:avLst/>
          </a:prstGeom>
          <a:solidFill>
            <a:srgbClr val="FFFFFF"/>
          </a:solidFill>
          <a:ln w="12700">
            <a:solidFill>
              <a:srgbClr val="59595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8247888" y="4247388"/>
            <a:ext cx="3102559" cy="32918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50" b="0" i="0">
                <a:solidFill>
                  <a:srgbClr val="3A3F47"/>
                </a:solidFill>
                <a:latin typeface="Arial"/>
                <a:cs typeface="Arial"/>
              </a:rPr>
              <a:t>time advance, BCs, output</a:t>
            </a:r>
            <a:r>
              <a:rPr sz="1050" b="0" i="1">
                <a:solidFill>
                  <a:srgbClr val="CF1D4C"/>
                </a:solidFill>
                <a:latin typeface="Arial"/>
                <a:cs typeface="Arial"/>
              </a:rPr>
              <a:t/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7607808" y="4818888"/>
            <a:ext cx="3742639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50" b="0" i="1">
                <a:solidFill>
                  <a:srgbClr val="59595C"/>
                </a:solidFill>
                <a:latin typeface="Arial"/>
                <a:cs typeface="Arial"/>
              </a:rPr>
              <a:t>schematic; plasticity dominates the step cost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566928" y="5376672"/>
            <a:ext cx="11057839" cy="658368"/>
          </a:xfrm>
          <a:prstGeom prst="roundRect">
            <a:avLst>
              <a:gd name="adj" fmla="val 5500"/>
            </a:avLst>
          </a:prstGeom>
          <a:solidFill>
            <a:srgbClr val="FDF0DF"/>
          </a:solidFill>
          <a:ln w="12700">
            <a:solidFill>
              <a:srgbClr val="B4620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841248" y="5376672"/>
            <a:ext cx="10509199" cy="65836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500" b="1" i="0">
                <a:solidFill>
                  <a:srgbClr val="1E2430"/>
                </a:solidFill>
                <a:latin typeface="Arial"/>
                <a:cs typeface="Arial"/>
              </a:rPr>
              <a:t>Explicit runtime  ≈  steps × material-update cost.</a:t>
            </a:r>
            <a:r>
              <a:rPr sz="1500" b="0" i="0">
                <a:solidFill>
                  <a:srgbClr val="3A3F47"/>
                </a:solidFill>
                <a:latin typeface="Arial"/>
                <a:cs typeface="Arial"/>
              </a:rPr>
              <a:t> The step count is physics; the material cost is the target.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2600"/>
              <a:t>MOOSE: the multiphysics host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1231575" y="274320"/>
            <a:ext cx="685800" cy="228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900" b="0" i="0">
                <a:solidFill>
                  <a:srgbClr val="59595C"/>
                </a:solidFill>
                <a:latin typeface="Arial"/>
                <a:cs typeface="Arial"/>
              </a:rPr>
              <a:t>7 / 19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66928" y="1207008"/>
            <a:ext cx="11057839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550" b="0" i="0">
                <a:solidFill>
                  <a:srgbClr val="3A3F47"/>
                </a:solidFill>
                <a:latin typeface="Arial"/>
                <a:cs typeface="Arial"/>
              </a:rPr>
              <a:t>Open-source multiphysics FE framework (Idaho National Laboratory) — </a:t>
            </a:r>
            <a:r>
              <a:rPr sz="1550" b="1" i="0">
                <a:solidFill>
                  <a:srgbClr val="1E2430"/>
                </a:solidFill>
                <a:latin typeface="Arial"/>
                <a:cs typeface="Arial"/>
              </a:rPr>
              <a:t>we keep all of this for free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566928" y="1773936"/>
            <a:ext cx="3442106" cy="1371600"/>
          </a:xfrm>
          <a:prstGeom prst="roundRect">
            <a:avLst>
              <a:gd name="adj" fmla="val 5500"/>
            </a:avLst>
          </a:prstGeom>
          <a:solidFill>
            <a:srgbClr val="F4F5F7"/>
          </a:solidFill>
          <a:ln w="9525">
            <a:solidFill>
              <a:srgbClr val="DADDE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566928" y="1883664"/>
            <a:ext cx="50292" cy="1152144"/>
          </a:xfrm>
          <a:prstGeom prst="rect">
            <a:avLst/>
          </a:prstGeom>
          <a:solidFill>
            <a:srgbClr val="06509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95528" y="1920240"/>
            <a:ext cx="3030626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50" b="1" i="0">
                <a:solidFill>
                  <a:srgbClr val="1E2430"/>
                </a:solidFill>
                <a:latin typeface="Arial"/>
                <a:cs typeface="Arial"/>
              </a:rPr>
              <a:t>Boundary conditions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95528" y="2304288"/>
            <a:ext cx="3030626" cy="7772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200" b="0" i="0">
                <a:solidFill>
                  <a:srgbClr val="3A3F47"/>
                </a:solidFill>
                <a:latin typeface="Arial"/>
                <a:cs typeface="Arial"/>
              </a:rPr>
              <a:t>full BC library, incl. the penalty and pressure BCs used in this work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374794" y="1773936"/>
            <a:ext cx="3442106" cy="1371600"/>
          </a:xfrm>
          <a:prstGeom prst="roundRect">
            <a:avLst>
              <a:gd name="adj" fmla="val 5500"/>
            </a:avLst>
          </a:prstGeom>
          <a:solidFill>
            <a:srgbClr val="F4F5F7"/>
          </a:solidFill>
          <a:ln w="9525">
            <a:solidFill>
              <a:srgbClr val="DADDE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4374794" y="1883664"/>
            <a:ext cx="50292" cy="1152144"/>
          </a:xfrm>
          <a:prstGeom prst="rect">
            <a:avLst/>
          </a:prstGeom>
          <a:solidFill>
            <a:srgbClr val="06509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4603394" y="1920240"/>
            <a:ext cx="3030626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50" b="1" i="0">
                <a:solidFill>
                  <a:srgbClr val="1E2430"/>
                </a:solidFill>
                <a:latin typeface="Arial"/>
                <a:cs typeface="Arial"/>
              </a:rPr>
              <a:t>Contact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603394" y="2304288"/>
            <a:ext cx="3030626" cy="7772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200" b="0" i="0">
                <a:solidFill>
                  <a:srgbClr val="3A3F47"/>
                </a:solidFill>
                <a:latin typeface="Arial"/>
                <a:cs typeface="Arial"/>
              </a:rPr>
              <a:t>mortar and node-face algorithms — architecture-compatible with this interface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8182660" y="1773936"/>
            <a:ext cx="3442106" cy="1371600"/>
          </a:xfrm>
          <a:prstGeom prst="roundRect">
            <a:avLst>
              <a:gd name="adj" fmla="val 5500"/>
            </a:avLst>
          </a:prstGeom>
          <a:solidFill>
            <a:srgbClr val="F4F5F7"/>
          </a:solidFill>
          <a:ln w="9525">
            <a:solidFill>
              <a:srgbClr val="DADDE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8182660" y="1883664"/>
            <a:ext cx="50292" cy="1152144"/>
          </a:xfrm>
          <a:prstGeom prst="rect">
            <a:avLst/>
          </a:prstGeom>
          <a:solidFill>
            <a:srgbClr val="06509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8411260" y="1920240"/>
            <a:ext cx="3030626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50" b="1" i="0">
                <a:solidFill>
                  <a:srgbClr val="1E2430"/>
                </a:solidFill>
                <a:latin typeface="Arial"/>
                <a:cs typeface="Arial"/>
              </a:rPr>
              <a:t>Parallel execution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411260" y="2304288"/>
            <a:ext cx="3030626" cy="7772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200" b="0" i="0">
                <a:solidFill>
                  <a:srgbClr val="3A3F47"/>
                </a:solidFill>
                <a:latin typeface="Arial"/>
                <a:cs typeface="Arial"/>
              </a:rPr>
              <a:t>MPI domain decomposition, scalable assembly and solves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566928" y="3438144"/>
            <a:ext cx="3442106" cy="1371600"/>
          </a:xfrm>
          <a:prstGeom prst="roundRect">
            <a:avLst>
              <a:gd name="adj" fmla="val 5500"/>
            </a:avLst>
          </a:prstGeom>
          <a:solidFill>
            <a:srgbClr val="F4F5F7"/>
          </a:solidFill>
          <a:ln w="9525">
            <a:solidFill>
              <a:srgbClr val="DADDE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566928" y="3547872"/>
            <a:ext cx="50292" cy="1152144"/>
          </a:xfrm>
          <a:prstGeom prst="rect">
            <a:avLst/>
          </a:prstGeom>
          <a:solidFill>
            <a:srgbClr val="06509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795528" y="3584448"/>
            <a:ext cx="3030626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50" b="1" i="0">
                <a:solidFill>
                  <a:srgbClr val="1E2430"/>
                </a:solidFill>
                <a:latin typeface="Arial"/>
                <a:cs typeface="Arial"/>
              </a:rPr>
              <a:t>Coupled physics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795528" y="3968496"/>
            <a:ext cx="3030626" cy="7772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200" b="0" i="0">
                <a:solidFill>
                  <a:srgbClr val="3A3F47"/>
                </a:solidFill>
                <a:latin typeface="Arial"/>
                <a:cs typeface="Arial"/>
              </a:rPr>
              <a:t>heat conduction, neutronics, porous flow, ... in one input file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4374794" y="3438144"/>
            <a:ext cx="3442106" cy="1371600"/>
          </a:xfrm>
          <a:prstGeom prst="roundRect">
            <a:avLst>
              <a:gd name="adj" fmla="val 5500"/>
            </a:avLst>
          </a:prstGeom>
          <a:solidFill>
            <a:srgbClr val="F4F5F7"/>
          </a:solidFill>
          <a:ln w="9525">
            <a:solidFill>
              <a:srgbClr val="DADDE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4374794" y="3547872"/>
            <a:ext cx="50292" cy="1152144"/>
          </a:xfrm>
          <a:prstGeom prst="rect">
            <a:avLst/>
          </a:prstGeom>
          <a:solidFill>
            <a:srgbClr val="06509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4603394" y="3584448"/>
            <a:ext cx="3030626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50" b="1" i="0">
                <a:solidFill>
                  <a:srgbClr val="1E2430"/>
                </a:solidFill>
                <a:latin typeface="Arial"/>
                <a:cs typeface="Arial"/>
              </a:rPr>
              <a:t>Meshing &amp; output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603394" y="3968496"/>
            <a:ext cx="3030626" cy="7772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200" b="0" i="0">
                <a:solidFill>
                  <a:srgbClr val="3A3F47"/>
                </a:solidFill>
                <a:latin typeface="Arial"/>
                <a:cs typeface="Arial"/>
              </a:rPr>
              <a:t>mesh generators, adaptivity, in-situ Exodus/CSV output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8182660" y="3438144"/>
            <a:ext cx="3442106" cy="1371600"/>
          </a:xfrm>
          <a:prstGeom prst="roundRect">
            <a:avLst>
              <a:gd name="adj" fmla="val 5500"/>
            </a:avLst>
          </a:prstGeom>
          <a:solidFill>
            <a:srgbClr val="F4F5F7"/>
          </a:solidFill>
          <a:ln w="9525">
            <a:solidFill>
              <a:srgbClr val="DADDE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Rectangle 25"/>
          <p:cNvSpPr/>
          <p:nvPr/>
        </p:nvSpPr>
        <p:spPr>
          <a:xfrm>
            <a:off x="8182660" y="3547872"/>
            <a:ext cx="50292" cy="1152144"/>
          </a:xfrm>
          <a:prstGeom prst="rect">
            <a:avLst/>
          </a:prstGeom>
          <a:solidFill>
            <a:srgbClr val="06509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8411260" y="3584448"/>
            <a:ext cx="3030626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50" b="1" i="0">
                <a:solidFill>
                  <a:srgbClr val="1E2430"/>
                </a:solidFill>
                <a:latin typeface="Arial"/>
                <a:cs typeface="Arial"/>
              </a:rPr>
              <a:t>Ecosystem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8411260" y="3968496"/>
            <a:ext cx="3030626" cy="7772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200" b="0" i="0">
                <a:solidFill>
                  <a:srgbClr val="3A3F47"/>
                </a:solidFill>
                <a:latin typeface="Arial"/>
                <a:cs typeface="Arial"/>
              </a:rPr>
              <a:t>NQA-1 quality assurance; large application family (BISON, Grizzly, ...)</a:t>
            </a:r>
          </a:p>
        </p:txBody>
      </p:sp>
      <p:sp>
        <p:nvSpPr>
          <p:cNvPr id="29" name="Rounded Rectangle 28"/>
          <p:cNvSpPr/>
          <p:nvPr/>
        </p:nvSpPr>
        <p:spPr>
          <a:xfrm>
            <a:off x="566928" y="5376672"/>
            <a:ext cx="11057839" cy="658368"/>
          </a:xfrm>
          <a:prstGeom prst="roundRect">
            <a:avLst>
              <a:gd name="adj" fmla="val 5500"/>
            </a:avLst>
          </a:prstGeom>
          <a:solidFill>
            <a:srgbClr val="FDF0DF"/>
          </a:solidFill>
          <a:ln w="12700">
            <a:solidFill>
              <a:srgbClr val="B4620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841248" y="5376672"/>
            <a:ext cx="10509199" cy="65836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500" b="0" i="0">
                <a:solidFill>
                  <a:srgbClr val="3A3F47"/>
                </a:solidFill>
                <a:latin typeface="Arial"/>
                <a:cs typeface="Arial"/>
              </a:rPr>
              <a:t>Everything in a high-rate simulation that is </a:t>
            </a:r>
            <a:r>
              <a:rPr sz="1500" b="0" i="1">
                <a:solidFill>
                  <a:srgbClr val="3A3F47"/>
                </a:solidFill>
                <a:latin typeface="Arial"/>
                <a:cs typeface="Arial"/>
              </a:rPr>
              <a:t>not</a:t>
            </a:r>
            <a:r>
              <a:rPr sz="1500" b="0" i="0">
                <a:solidFill>
                  <a:srgbClr val="3A3F47"/>
                </a:solidFill>
                <a:latin typeface="Arial"/>
                <a:cs typeface="Arial"/>
              </a:rPr>
              <a:t> the material update already exists here — parallel and production-tested.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2600"/>
              <a:t>NEML2: the material engine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1231575" y="274320"/>
            <a:ext cx="685800" cy="228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900" b="0" i="0">
                <a:solidFill>
                  <a:srgbClr val="59595C"/>
                </a:solidFill>
                <a:latin typeface="Arial"/>
                <a:cs typeface="Arial"/>
              </a:rPr>
              <a:t>8 / 19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66928" y="1207008"/>
            <a:ext cx="11057839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550" b="0" i="0">
                <a:solidFill>
                  <a:srgbClr val="3A3F47"/>
                </a:solidFill>
                <a:latin typeface="Arial"/>
                <a:cs typeface="Arial"/>
              </a:rPr>
              <a:t>New Engineering Material model Library v2 (ANL, open source) — constitutive models as </a:t>
            </a:r>
            <a:r>
              <a:rPr sz="1550" b="1" i="0">
                <a:solidFill>
                  <a:srgbClr val="1E2430"/>
                </a:solidFill>
                <a:latin typeface="Arial"/>
                <a:cs typeface="Arial"/>
              </a:rPr>
              <a:t>composable tensor programs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566928" y="1773936"/>
            <a:ext cx="6126480" cy="1874519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9525">
            <a:solidFill>
              <a:srgbClr val="DADDE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786384" y="1901952"/>
            <a:ext cx="61264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1" i="0">
                <a:solidFill>
                  <a:srgbClr val="59595C"/>
                </a:solidFill>
                <a:latin typeface="Arial"/>
                <a:cs typeface="Arial"/>
              </a:rPr>
              <a:t>A MODEL = SMALL OPERATORS, COMPOSED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822960" y="2286000"/>
            <a:ext cx="932688" cy="777240"/>
          </a:xfrm>
          <a:prstGeom prst="roundRect">
            <a:avLst>
              <a:gd name="adj" fmla="val 5500"/>
            </a:avLst>
          </a:prstGeom>
          <a:solidFill>
            <a:srgbClr val="EFF6DF"/>
          </a:solidFill>
          <a:ln w="12700">
            <a:solidFill>
              <a:srgbClr val="5E861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27432" bIns="27432"/>
          <a:lstStyle/>
          <a:p>
            <a:pPr algn="ctr">
              <a:lnSpc>
                <a:spcPct val="105000"/>
              </a:lnSpc>
            </a:pPr>
            <a:r>
              <a:rPr sz="1050" b="0" i="0">
                <a:solidFill>
                  <a:srgbClr val="1E2430"/>
                </a:solidFill>
                <a:latin typeface="Arial"/>
                <a:cs typeface="Arial"/>
              </a:rPr>
              <a:t>elasticity</a:t>
            </a:r>
          </a:p>
        </p:txBody>
      </p:sp>
      <p:cxnSp>
        <p:nvCxnSpPr>
          <p:cNvPr id="8" name="Connector 7"/>
          <p:cNvCxnSpPr/>
          <p:nvPr/>
        </p:nvCxnSpPr>
        <p:spPr>
          <a:xfrm>
            <a:off x="1783080" y="2674620"/>
            <a:ext cx="182880" cy="0"/>
          </a:xfrm>
          <a:prstGeom prst="line">
            <a:avLst/>
          </a:prstGeom>
          <a:ln w="19050">
            <a:solidFill>
              <a:srgbClr val="5E8614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9" name="Rounded Rectangle 8"/>
          <p:cNvSpPr/>
          <p:nvPr/>
        </p:nvSpPr>
        <p:spPr>
          <a:xfrm>
            <a:off x="1993392" y="2286000"/>
            <a:ext cx="932688" cy="777240"/>
          </a:xfrm>
          <a:prstGeom prst="roundRect">
            <a:avLst>
              <a:gd name="adj" fmla="val 5500"/>
            </a:avLst>
          </a:prstGeom>
          <a:solidFill>
            <a:srgbClr val="EFF6DF"/>
          </a:solidFill>
          <a:ln w="12700">
            <a:solidFill>
              <a:srgbClr val="5E861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27432" bIns="27432"/>
          <a:lstStyle/>
          <a:p>
            <a:pPr algn="ctr">
              <a:lnSpc>
                <a:spcPct val="105000"/>
              </a:lnSpc>
            </a:pPr>
            <a:r>
              <a:rPr sz="1050" b="0" i="0">
                <a:solidFill>
                  <a:srgbClr val="1E2430"/>
                </a:solidFill>
                <a:latin typeface="Arial"/>
                <a:cs typeface="Arial"/>
              </a:rPr>
              <a:t>flow rule</a:t>
            </a:r>
          </a:p>
        </p:txBody>
      </p:sp>
      <p:cxnSp>
        <p:nvCxnSpPr>
          <p:cNvPr id="10" name="Connector 9"/>
          <p:cNvCxnSpPr/>
          <p:nvPr/>
        </p:nvCxnSpPr>
        <p:spPr>
          <a:xfrm>
            <a:off x="2953512" y="2674620"/>
            <a:ext cx="182880" cy="0"/>
          </a:xfrm>
          <a:prstGeom prst="line">
            <a:avLst/>
          </a:prstGeom>
          <a:ln w="19050">
            <a:solidFill>
              <a:srgbClr val="5E8614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1" name="Rounded Rectangle 10"/>
          <p:cNvSpPr/>
          <p:nvPr/>
        </p:nvSpPr>
        <p:spPr>
          <a:xfrm>
            <a:off x="3163824" y="2286000"/>
            <a:ext cx="932688" cy="777240"/>
          </a:xfrm>
          <a:prstGeom prst="roundRect">
            <a:avLst>
              <a:gd name="adj" fmla="val 5500"/>
            </a:avLst>
          </a:prstGeom>
          <a:solidFill>
            <a:srgbClr val="EFF6DF"/>
          </a:solidFill>
          <a:ln w="12700">
            <a:solidFill>
              <a:srgbClr val="5E861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27432" bIns="27432"/>
          <a:lstStyle/>
          <a:p>
            <a:pPr algn="ctr">
              <a:lnSpc>
                <a:spcPct val="105000"/>
              </a:lnSpc>
            </a:pPr>
            <a:r>
              <a:rPr sz="1050" b="0" i="0">
                <a:solidFill>
                  <a:srgbClr val="1E2430"/>
                </a:solidFill>
                <a:latin typeface="Arial"/>
                <a:cs typeface="Arial"/>
              </a:rPr>
              <a:t>hardening</a:t>
            </a:r>
          </a:p>
        </p:txBody>
      </p:sp>
      <p:cxnSp>
        <p:nvCxnSpPr>
          <p:cNvPr id="12" name="Connector 11"/>
          <p:cNvCxnSpPr/>
          <p:nvPr/>
        </p:nvCxnSpPr>
        <p:spPr>
          <a:xfrm>
            <a:off x="4123944" y="2674620"/>
            <a:ext cx="182880" cy="0"/>
          </a:xfrm>
          <a:prstGeom prst="line">
            <a:avLst/>
          </a:prstGeom>
          <a:ln w="19050">
            <a:solidFill>
              <a:srgbClr val="5E8614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3" name="Rounded Rectangle 12"/>
          <p:cNvSpPr/>
          <p:nvPr/>
        </p:nvSpPr>
        <p:spPr>
          <a:xfrm>
            <a:off x="4334256" y="2286000"/>
            <a:ext cx="932688" cy="777240"/>
          </a:xfrm>
          <a:prstGeom prst="roundRect">
            <a:avLst>
              <a:gd name="adj" fmla="val 5500"/>
            </a:avLst>
          </a:prstGeom>
          <a:solidFill>
            <a:srgbClr val="EFF6DF"/>
          </a:solidFill>
          <a:ln w="12700">
            <a:solidFill>
              <a:srgbClr val="5E861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27432" bIns="27432"/>
          <a:lstStyle/>
          <a:p>
            <a:pPr algn="ctr">
              <a:lnSpc>
                <a:spcPct val="105000"/>
              </a:lnSpc>
            </a:pPr>
            <a:r>
              <a:rPr sz="1050" b="0" i="0">
                <a:solidFill>
                  <a:srgbClr val="1E2430"/>
                </a:solidFill>
                <a:latin typeface="Arial"/>
                <a:cs typeface="Arial"/>
              </a:rPr>
              <a:t>rate</a:t>
            </a:r>
          </a:p>
          <a:p>
            <a:pPr algn="ctr">
              <a:lnSpc>
                <a:spcPct val="105000"/>
              </a:lnSpc>
            </a:pPr>
            <a:r>
              <a:rPr sz="1050" b="0" i="0">
                <a:solidFill>
                  <a:srgbClr val="1E2430"/>
                </a:solidFill>
                <a:latin typeface="Arial"/>
                <a:cs typeface="Arial"/>
              </a:rPr>
              <a:t>sensitivity</a:t>
            </a:r>
          </a:p>
        </p:txBody>
      </p:sp>
      <p:cxnSp>
        <p:nvCxnSpPr>
          <p:cNvPr id="14" name="Connector 13"/>
          <p:cNvCxnSpPr/>
          <p:nvPr/>
        </p:nvCxnSpPr>
        <p:spPr>
          <a:xfrm>
            <a:off x="5294376" y="2674620"/>
            <a:ext cx="182880" cy="0"/>
          </a:xfrm>
          <a:prstGeom prst="line">
            <a:avLst/>
          </a:prstGeom>
          <a:ln w="19050">
            <a:solidFill>
              <a:srgbClr val="5E8614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5" name="Rounded Rectangle 14"/>
          <p:cNvSpPr/>
          <p:nvPr/>
        </p:nvSpPr>
        <p:spPr>
          <a:xfrm>
            <a:off x="5504688" y="2286000"/>
            <a:ext cx="932688" cy="777240"/>
          </a:xfrm>
          <a:prstGeom prst="roundRect">
            <a:avLst>
              <a:gd name="adj" fmla="val 5500"/>
            </a:avLst>
          </a:prstGeom>
          <a:solidFill>
            <a:srgbClr val="EFF6DF"/>
          </a:solidFill>
          <a:ln w="12700">
            <a:solidFill>
              <a:srgbClr val="5E861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27432" bIns="27432"/>
          <a:lstStyle/>
          <a:p>
            <a:pPr algn="ctr">
              <a:lnSpc>
                <a:spcPct val="105000"/>
              </a:lnSpc>
            </a:pPr>
            <a:r>
              <a:rPr sz="1050" b="0" i="0">
                <a:solidFill>
                  <a:srgbClr val="1E2430"/>
                </a:solidFill>
                <a:latin typeface="Arial"/>
                <a:cs typeface="Arial"/>
              </a:rPr>
              <a:t>state</a:t>
            </a:r>
          </a:p>
          <a:p>
            <a:pPr algn="ctr">
              <a:lnSpc>
                <a:spcPct val="105000"/>
              </a:lnSpc>
            </a:pPr>
            <a:r>
              <a:rPr sz="1050" b="0" i="0">
                <a:solidFill>
                  <a:srgbClr val="1E2430"/>
                </a:solidFill>
                <a:latin typeface="Arial"/>
                <a:cs typeface="Arial"/>
              </a:rPr>
              <a:t>update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786384" y="3200400"/>
            <a:ext cx="566928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0" i="1">
                <a:solidFill>
                  <a:srgbClr val="59595C"/>
                </a:solidFill>
                <a:latin typeface="Arial"/>
                <a:cs typeface="Arial"/>
              </a:rPr>
              <a:t>declared in an input file; exact derivatives by automatic differentiation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566928" y="3922776"/>
            <a:ext cx="6126480" cy="18288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marL="219456" indent="-219456">
              <a:lnSpc>
                <a:spcPct val="106000"/>
              </a:lnSpc>
              <a:spcAft>
                <a:spcPts val="900"/>
              </a:spcAft>
              <a:buClr>
                <a:srgbClr val="5E8614"/>
              </a:buClr>
              <a:buFont typeface="Arial"/>
              <a:buChar char="•"/>
            </a:pPr>
            <a:r>
              <a:rPr sz="1400" b="1" i="0">
                <a:solidFill>
                  <a:srgbClr val="3A3F47"/>
                </a:solidFill>
                <a:latin typeface="Arial"/>
                <a:cs typeface="Arial"/>
              </a:rPr>
              <a:t>Batched:</a:t>
            </a:r>
            <a:r>
              <a:rPr sz="1400" b="0" i="0">
                <a:solidFill>
                  <a:srgbClr val="3A3F47"/>
                </a:solidFill>
                <a:latin typeface="Arial"/>
                <a:cs typeface="Arial"/>
              </a:rPr>
              <a:t> all quadrature points evaluated in </a:t>
            </a:r>
            <a:r>
              <a:rPr sz="1400" b="1" i="0">
                <a:solidFill>
                  <a:srgbClr val="3A3F47"/>
                </a:solidFill>
                <a:latin typeface="Arial"/>
                <a:cs typeface="Arial"/>
              </a:rPr>
              <a:t>one batched call</a:t>
            </a:r>
          </a:p>
          <a:p>
            <a:pPr marL="219456" indent="-219456">
              <a:lnSpc>
                <a:spcPct val="106000"/>
              </a:lnSpc>
              <a:spcAft>
                <a:spcPts val="900"/>
              </a:spcAft>
              <a:buClr>
                <a:srgbClr val="5E8614"/>
              </a:buClr>
              <a:buFont typeface="Arial"/>
              <a:buChar char="•"/>
            </a:pPr>
            <a:r>
              <a:rPr sz="1400" b="1" i="0">
                <a:solidFill>
                  <a:srgbClr val="3A3F47"/>
                </a:solidFill>
                <a:latin typeface="Arial"/>
                <a:cs typeface="Arial"/>
              </a:rPr>
              <a:t>Device-portable:</a:t>
            </a:r>
            <a:r>
              <a:rPr sz="1400" b="0" i="0">
                <a:solidFill>
                  <a:srgbClr val="3A3F47"/>
                </a:solidFill>
                <a:latin typeface="Arial"/>
                <a:cs typeface="Arial"/>
              </a:rPr>
              <a:t> libTorch (PyTorch C++) backend runs the same model on CPU or GPU</a:t>
            </a:r>
          </a:p>
          <a:p>
            <a:pPr marL="219456" indent="-219456">
              <a:lnSpc>
                <a:spcPct val="106000"/>
              </a:lnSpc>
              <a:spcAft>
                <a:spcPts val="900"/>
              </a:spcAft>
              <a:buClr>
                <a:srgbClr val="5E8614"/>
              </a:buClr>
              <a:buFont typeface="Arial"/>
              <a:buChar char="•"/>
            </a:pPr>
            <a:r>
              <a:rPr sz="1400" b="1" i="0">
                <a:solidFill>
                  <a:srgbClr val="3A3F47"/>
                </a:solidFill>
                <a:latin typeface="Arial"/>
                <a:cs typeface="Arial"/>
              </a:rPr>
              <a:t>NEML2 library benchmark:</a:t>
            </a:r>
            <a:r>
              <a:rPr sz="1400" b="0" i="0">
                <a:solidFill>
                  <a:srgbClr val="3A3F47"/>
                </a:solidFill>
                <a:latin typeface="Arial"/>
                <a:cs typeface="Arial"/>
              </a:rPr>
              <a:t> 42,500 s (NEML, CPU) → 68 s on one GPU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7150608" y="1773936"/>
            <a:ext cx="4474159" cy="3108960"/>
          </a:xfrm>
          <a:prstGeom prst="roundRect">
            <a:avLst>
              <a:gd name="adj" fmla="val 5500"/>
            </a:avLst>
          </a:prstGeom>
          <a:solidFill>
            <a:srgbClr val="F4F5F7"/>
          </a:solidFill>
          <a:ln w="9525">
            <a:solidFill>
              <a:srgbClr val="DADDE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7388352" y="1929384"/>
            <a:ext cx="3998671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50" b="1" i="0">
                <a:solidFill>
                  <a:srgbClr val="59595C"/>
                </a:solidFill>
                <a:latin typeface="Arial"/>
                <a:cs typeface="Arial"/>
              </a:rPr>
              <a:t>ONE CALL, ALL POINTS</a:t>
            </a:r>
          </a:p>
        </p:txBody>
      </p:sp>
      <p:sp>
        <p:nvSpPr>
          <p:cNvPr id="20" name="Rectangle 19"/>
          <p:cNvSpPr/>
          <p:nvPr/>
        </p:nvSpPr>
        <p:spPr>
          <a:xfrm>
            <a:off x="7470648" y="2340864"/>
            <a:ext cx="310896" cy="310896"/>
          </a:xfrm>
          <a:prstGeom prst="rect">
            <a:avLst/>
          </a:prstGeom>
          <a:solidFill>
            <a:srgbClr val="EFF6DF"/>
          </a:solidFill>
          <a:ln w="6350">
            <a:solidFill>
              <a:srgbClr val="5E861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ectangle 20"/>
          <p:cNvSpPr/>
          <p:nvPr/>
        </p:nvSpPr>
        <p:spPr>
          <a:xfrm>
            <a:off x="7836408" y="2340864"/>
            <a:ext cx="310896" cy="310896"/>
          </a:xfrm>
          <a:prstGeom prst="rect">
            <a:avLst/>
          </a:prstGeom>
          <a:solidFill>
            <a:srgbClr val="EFF6DF"/>
          </a:solidFill>
          <a:ln w="6350">
            <a:solidFill>
              <a:srgbClr val="5E861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8202168" y="2340864"/>
            <a:ext cx="310896" cy="310896"/>
          </a:xfrm>
          <a:prstGeom prst="rect">
            <a:avLst/>
          </a:prstGeom>
          <a:solidFill>
            <a:srgbClr val="EFF6DF"/>
          </a:solidFill>
          <a:ln w="6350">
            <a:solidFill>
              <a:srgbClr val="5E861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>
            <a:off x="8567928" y="2340864"/>
            <a:ext cx="310896" cy="310896"/>
          </a:xfrm>
          <a:prstGeom prst="rect">
            <a:avLst/>
          </a:prstGeom>
          <a:solidFill>
            <a:srgbClr val="EFF6DF"/>
          </a:solidFill>
          <a:ln w="6350">
            <a:solidFill>
              <a:srgbClr val="5E861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Rectangle 23"/>
          <p:cNvSpPr/>
          <p:nvPr/>
        </p:nvSpPr>
        <p:spPr>
          <a:xfrm>
            <a:off x="8933688" y="2340864"/>
            <a:ext cx="310896" cy="310896"/>
          </a:xfrm>
          <a:prstGeom prst="rect">
            <a:avLst/>
          </a:prstGeom>
          <a:solidFill>
            <a:srgbClr val="EFF6DF"/>
          </a:solidFill>
          <a:ln w="6350">
            <a:solidFill>
              <a:srgbClr val="5E861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Rectangle 24"/>
          <p:cNvSpPr/>
          <p:nvPr/>
        </p:nvSpPr>
        <p:spPr>
          <a:xfrm>
            <a:off x="9299448" y="2340864"/>
            <a:ext cx="310896" cy="310896"/>
          </a:xfrm>
          <a:prstGeom prst="rect">
            <a:avLst/>
          </a:prstGeom>
          <a:solidFill>
            <a:srgbClr val="EFF6DF"/>
          </a:solidFill>
          <a:ln w="6350">
            <a:solidFill>
              <a:srgbClr val="5E861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Rectangle 25"/>
          <p:cNvSpPr/>
          <p:nvPr/>
        </p:nvSpPr>
        <p:spPr>
          <a:xfrm>
            <a:off x="9665208" y="2340864"/>
            <a:ext cx="310896" cy="310896"/>
          </a:xfrm>
          <a:prstGeom prst="rect">
            <a:avLst/>
          </a:prstGeom>
          <a:solidFill>
            <a:srgbClr val="EFF6DF"/>
          </a:solidFill>
          <a:ln w="6350">
            <a:solidFill>
              <a:srgbClr val="5E861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Rectangle 26"/>
          <p:cNvSpPr/>
          <p:nvPr/>
        </p:nvSpPr>
        <p:spPr>
          <a:xfrm>
            <a:off x="10030968" y="2340864"/>
            <a:ext cx="310896" cy="310896"/>
          </a:xfrm>
          <a:prstGeom prst="rect">
            <a:avLst/>
          </a:prstGeom>
          <a:solidFill>
            <a:srgbClr val="EFF6DF"/>
          </a:solidFill>
          <a:ln w="6350">
            <a:solidFill>
              <a:srgbClr val="5E861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Rectangle 27"/>
          <p:cNvSpPr/>
          <p:nvPr/>
        </p:nvSpPr>
        <p:spPr>
          <a:xfrm>
            <a:off x="7470648" y="2706624"/>
            <a:ext cx="310896" cy="310896"/>
          </a:xfrm>
          <a:prstGeom prst="rect">
            <a:avLst/>
          </a:prstGeom>
          <a:solidFill>
            <a:srgbClr val="EFF6DF"/>
          </a:solidFill>
          <a:ln w="6350">
            <a:solidFill>
              <a:srgbClr val="5E861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Rectangle 28"/>
          <p:cNvSpPr/>
          <p:nvPr/>
        </p:nvSpPr>
        <p:spPr>
          <a:xfrm>
            <a:off x="7836408" y="2706624"/>
            <a:ext cx="310896" cy="310896"/>
          </a:xfrm>
          <a:prstGeom prst="rect">
            <a:avLst/>
          </a:prstGeom>
          <a:solidFill>
            <a:srgbClr val="EFF6DF"/>
          </a:solidFill>
          <a:ln w="6350">
            <a:solidFill>
              <a:srgbClr val="5E861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Rectangle 29"/>
          <p:cNvSpPr/>
          <p:nvPr/>
        </p:nvSpPr>
        <p:spPr>
          <a:xfrm>
            <a:off x="8202168" y="2706624"/>
            <a:ext cx="310896" cy="310896"/>
          </a:xfrm>
          <a:prstGeom prst="rect">
            <a:avLst/>
          </a:prstGeom>
          <a:solidFill>
            <a:srgbClr val="EFF6DF"/>
          </a:solidFill>
          <a:ln w="6350">
            <a:solidFill>
              <a:srgbClr val="5E861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Rectangle 30"/>
          <p:cNvSpPr/>
          <p:nvPr/>
        </p:nvSpPr>
        <p:spPr>
          <a:xfrm>
            <a:off x="8567928" y="2706624"/>
            <a:ext cx="310896" cy="310896"/>
          </a:xfrm>
          <a:prstGeom prst="rect">
            <a:avLst/>
          </a:prstGeom>
          <a:solidFill>
            <a:srgbClr val="EFF6DF"/>
          </a:solidFill>
          <a:ln w="6350">
            <a:solidFill>
              <a:srgbClr val="5E861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Rectangle 31"/>
          <p:cNvSpPr/>
          <p:nvPr/>
        </p:nvSpPr>
        <p:spPr>
          <a:xfrm>
            <a:off x="8933688" y="2706624"/>
            <a:ext cx="310896" cy="310896"/>
          </a:xfrm>
          <a:prstGeom prst="rect">
            <a:avLst/>
          </a:prstGeom>
          <a:solidFill>
            <a:srgbClr val="EFF6DF"/>
          </a:solidFill>
          <a:ln w="6350">
            <a:solidFill>
              <a:srgbClr val="5E861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Rectangle 32"/>
          <p:cNvSpPr/>
          <p:nvPr/>
        </p:nvSpPr>
        <p:spPr>
          <a:xfrm>
            <a:off x="9299448" y="2706624"/>
            <a:ext cx="310896" cy="310896"/>
          </a:xfrm>
          <a:prstGeom prst="rect">
            <a:avLst/>
          </a:prstGeom>
          <a:solidFill>
            <a:srgbClr val="EFF6DF"/>
          </a:solidFill>
          <a:ln w="6350">
            <a:solidFill>
              <a:srgbClr val="5E861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Rectangle 33"/>
          <p:cNvSpPr/>
          <p:nvPr/>
        </p:nvSpPr>
        <p:spPr>
          <a:xfrm>
            <a:off x="9665208" y="2706624"/>
            <a:ext cx="310896" cy="310896"/>
          </a:xfrm>
          <a:prstGeom prst="rect">
            <a:avLst/>
          </a:prstGeom>
          <a:solidFill>
            <a:srgbClr val="EFF6DF"/>
          </a:solidFill>
          <a:ln w="6350">
            <a:solidFill>
              <a:srgbClr val="5E861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Rectangle 34"/>
          <p:cNvSpPr/>
          <p:nvPr/>
        </p:nvSpPr>
        <p:spPr>
          <a:xfrm>
            <a:off x="10030968" y="2706624"/>
            <a:ext cx="310896" cy="310896"/>
          </a:xfrm>
          <a:prstGeom prst="rect">
            <a:avLst/>
          </a:prstGeom>
          <a:solidFill>
            <a:srgbClr val="EFF6DF"/>
          </a:solidFill>
          <a:ln w="6350">
            <a:solidFill>
              <a:srgbClr val="5E861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Rectangle 35"/>
          <p:cNvSpPr/>
          <p:nvPr/>
        </p:nvSpPr>
        <p:spPr>
          <a:xfrm>
            <a:off x="7470648" y="3072384"/>
            <a:ext cx="310896" cy="310896"/>
          </a:xfrm>
          <a:prstGeom prst="rect">
            <a:avLst/>
          </a:prstGeom>
          <a:solidFill>
            <a:srgbClr val="EFF6DF"/>
          </a:solidFill>
          <a:ln w="6350">
            <a:solidFill>
              <a:srgbClr val="5E861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Rectangle 36"/>
          <p:cNvSpPr/>
          <p:nvPr/>
        </p:nvSpPr>
        <p:spPr>
          <a:xfrm>
            <a:off x="7836408" y="3072384"/>
            <a:ext cx="310896" cy="310896"/>
          </a:xfrm>
          <a:prstGeom prst="rect">
            <a:avLst/>
          </a:prstGeom>
          <a:solidFill>
            <a:srgbClr val="EFF6DF"/>
          </a:solidFill>
          <a:ln w="6350">
            <a:solidFill>
              <a:srgbClr val="5E861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Rectangle 37"/>
          <p:cNvSpPr/>
          <p:nvPr/>
        </p:nvSpPr>
        <p:spPr>
          <a:xfrm>
            <a:off x="8202168" y="3072384"/>
            <a:ext cx="310896" cy="310896"/>
          </a:xfrm>
          <a:prstGeom prst="rect">
            <a:avLst/>
          </a:prstGeom>
          <a:solidFill>
            <a:srgbClr val="EFF6DF"/>
          </a:solidFill>
          <a:ln w="6350">
            <a:solidFill>
              <a:srgbClr val="5E861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Rectangle 38"/>
          <p:cNvSpPr/>
          <p:nvPr/>
        </p:nvSpPr>
        <p:spPr>
          <a:xfrm>
            <a:off x="8567928" y="3072384"/>
            <a:ext cx="310896" cy="310896"/>
          </a:xfrm>
          <a:prstGeom prst="rect">
            <a:avLst/>
          </a:prstGeom>
          <a:solidFill>
            <a:srgbClr val="EFF6DF"/>
          </a:solidFill>
          <a:ln w="6350">
            <a:solidFill>
              <a:srgbClr val="5E861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Rectangle 39"/>
          <p:cNvSpPr/>
          <p:nvPr/>
        </p:nvSpPr>
        <p:spPr>
          <a:xfrm>
            <a:off x="8933688" y="3072384"/>
            <a:ext cx="310896" cy="310896"/>
          </a:xfrm>
          <a:prstGeom prst="rect">
            <a:avLst/>
          </a:prstGeom>
          <a:solidFill>
            <a:srgbClr val="EFF6DF"/>
          </a:solidFill>
          <a:ln w="6350">
            <a:solidFill>
              <a:srgbClr val="5E861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Rectangle 40"/>
          <p:cNvSpPr/>
          <p:nvPr/>
        </p:nvSpPr>
        <p:spPr>
          <a:xfrm>
            <a:off x="9299448" y="3072384"/>
            <a:ext cx="310896" cy="310896"/>
          </a:xfrm>
          <a:prstGeom prst="rect">
            <a:avLst/>
          </a:prstGeom>
          <a:solidFill>
            <a:srgbClr val="EFF6DF"/>
          </a:solidFill>
          <a:ln w="6350">
            <a:solidFill>
              <a:srgbClr val="5E861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Rectangle 41"/>
          <p:cNvSpPr/>
          <p:nvPr/>
        </p:nvSpPr>
        <p:spPr>
          <a:xfrm>
            <a:off x="9665208" y="3072384"/>
            <a:ext cx="310896" cy="310896"/>
          </a:xfrm>
          <a:prstGeom prst="rect">
            <a:avLst/>
          </a:prstGeom>
          <a:solidFill>
            <a:srgbClr val="EFF6DF"/>
          </a:solidFill>
          <a:ln w="6350">
            <a:solidFill>
              <a:srgbClr val="5E861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Rectangle 42"/>
          <p:cNvSpPr/>
          <p:nvPr/>
        </p:nvSpPr>
        <p:spPr>
          <a:xfrm>
            <a:off x="10030968" y="3072384"/>
            <a:ext cx="310896" cy="310896"/>
          </a:xfrm>
          <a:prstGeom prst="rect">
            <a:avLst/>
          </a:prstGeom>
          <a:solidFill>
            <a:srgbClr val="EFF6DF"/>
          </a:solidFill>
          <a:ln w="6350">
            <a:solidFill>
              <a:srgbClr val="5E861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" name="TextBox 43"/>
          <p:cNvSpPr txBox="1"/>
          <p:nvPr/>
        </p:nvSpPr>
        <p:spPr>
          <a:xfrm>
            <a:off x="7470648" y="3575304"/>
            <a:ext cx="3834079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00" b="0" i="0">
                <a:solidFill>
                  <a:srgbClr val="1E2430"/>
                </a:solidFill>
                <a:latin typeface="Consolas"/>
                <a:cs typeface="Consolas"/>
              </a:rPr>
              <a:t>σ = model(ε, state)</a:t>
            </a:r>
            <a:r>
              <a:rPr sz="1100" b="0" i="0">
                <a:solidFill>
                  <a:srgbClr val="59595C"/>
                </a:solidFill>
                <a:latin typeface="Arial"/>
                <a:cs typeface="Arial"/>
              </a:rPr>
              <a:t>   over the whole batch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7470648" y="4032504"/>
            <a:ext cx="3834079" cy="6858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150" b="0" i="1">
                <a:solidFill>
                  <a:srgbClr val="3A3F47"/>
                </a:solidFill>
                <a:latin typeface="Arial"/>
                <a:cs typeface="Arial"/>
              </a:rPr>
              <a:t>GPUs want exactly this shape of work: wide, uniform, no per-point branching</a:t>
            </a:r>
          </a:p>
        </p:txBody>
      </p:sp>
      <p:sp>
        <p:nvSpPr>
          <p:cNvPr id="46" name="Rounded Rectangle 45"/>
          <p:cNvSpPr/>
          <p:nvPr/>
        </p:nvSpPr>
        <p:spPr>
          <a:xfrm>
            <a:off x="566928" y="5376672"/>
            <a:ext cx="11057839" cy="658368"/>
          </a:xfrm>
          <a:prstGeom prst="roundRect">
            <a:avLst>
              <a:gd name="adj" fmla="val 5500"/>
            </a:avLst>
          </a:prstGeom>
          <a:solidFill>
            <a:srgbClr val="FDF0DF"/>
          </a:solidFill>
          <a:ln w="12700">
            <a:solidFill>
              <a:srgbClr val="B4620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7" name="TextBox 46"/>
          <p:cNvSpPr txBox="1"/>
          <p:nvPr/>
        </p:nvSpPr>
        <p:spPr>
          <a:xfrm>
            <a:off x="841248" y="5376672"/>
            <a:ext cx="10509199" cy="65836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500" b="1" i="0">
                <a:solidFill>
                  <a:srgbClr val="1E2430"/>
                </a:solidFill>
                <a:latin typeface="Arial"/>
                <a:cs typeface="Arial"/>
              </a:rPr>
              <a:t>NEML2 evaluates sophisticated material models the way accelerators want them evaluated.</a:t>
            </a:r>
            <a:r>
              <a:rPr sz="1500" b="0" i="0">
                <a:solidFill>
                  <a:srgbClr val="3A3F47"/>
                </a:solidFill>
                <a:latin typeface="Arial"/>
                <a:cs typeface="Arial"/>
              </a:rPr>
              <a:t> What it lacks — mesh, BCs, assembly — is exactly what MOOSE has.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2600"/>
              <a:t>What we built: two pillars, one force path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1231575" y="274320"/>
            <a:ext cx="685800" cy="228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900" b="0" i="0">
                <a:solidFill>
                  <a:srgbClr val="59595C"/>
                </a:solidFill>
                <a:latin typeface="Arial"/>
                <a:cs typeface="Arial"/>
              </a:rPr>
              <a:t>9 / 19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566928" y="1207008"/>
            <a:ext cx="5300319" cy="2651760"/>
          </a:xfrm>
          <a:prstGeom prst="roundRect">
            <a:avLst>
              <a:gd name="adj" fmla="val 5500"/>
            </a:avLst>
          </a:prstGeom>
          <a:solidFill>
            <a:srgbClr val="E6EEF7"/>
          </a:solidFill>
          <a:ln w="15875">
            <a:solidFill>
              <a:srgbClr val="06509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822960" y="1444752"/>
            <a:ext cx="457200" cy="457200"/>
          </a:xfrm>
          <a:prstGeom prst="roundRect">
            <a:avLst>
              <a:gd name="adj" fmla="val 5500"/>
            </a:avLst>
          </a:prstGeom>
          <a:solidFill>
            <a:srgbClr val="06509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27432" bIns="27432"/>
          <a:lstStyle/>
          <a:p>
            <a:pPr algn="ctr"/>
            <a:r>
              <a:rPr sz="2000" b="1" i="0">
                <a:solidFill>
                  <a:srgbClr val="FFFFFF"/>
                </a:solidFill>
                <a:latin typeface="Arial"/>
                <a:cs typeface="Arial"/>
              </a:rPr>
              <a:t>1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435608" y="1481328"/>
            <a:ext cx="4203039" cy="4114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700" b="1" i="0">
                <a:solidFill>
                  <a:srgbClr val="1E2430"/>
                </a:solidFill>
                <a:latin typeface="Arial"/>
                <a:cs typeface="Arial"/>
              </a:rPr>
              <a:t>ExplicitMixedOrder integrator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41248" y="2075688"/>
            <a:ext cx="4751679" cy="1600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marL="219456" indent="-219456">
              <a:lnSpc>
                <a:spcPct val="106000"/>
              </a:lnSpc>
              <a:spcAft>
                <a:spcPts val="900"/>
              </a:spcAft>
              <a:buClr>
                <a:srgbClr val="06509D"/>
              </a:buClr>
              <a:buFont typeface="Arial"/>
              <a:buChar char="•"/>
            </a:pPr>
            <a:r>
              <a:rPr sz="1300" b="0" i="0">
                <a:solidFill>
                  <a:srgbClr val="3A3F47"/>
                </a:solidFill>
                <a:latin typeface="Arial"/>
                <a:cs typeface="Arial"/>
              </a:rPr>
              <a:t>Explicit central-difference integrator with </a:t>
            </a:r>
            <a:r>
              <a:rPr sz="1300" b="1" i="0">
                <a:solidFill>
                  <a:srgbClr val="3A3F47"/>
                </a:solidFill>
                <a:latin typeface="Arial"/>
                <a:cs typeface="Arial"/>
              </a:rPr>
              <a:t>mixed-order multiphysics</a:t>
            </a:r>
            <a:r>
              <a:rPr sz="1300" b="0" i="0">
                <a:solidFill>
                  <a:srgbClr val="3A3F47"/>
                </a:solidFill>
                <a:latin typeface="Arial"/>
                <a:cs typeface="Arial"/>
              </a:rPr>
              <a:t> (2nd-order mechanics + 1st-order fields)</a:t>
            </a:r>
          </a:p>
          <a:p>
            <a:pPr marL="219456" indent="-219456">
              <a:lnSpc>
                <a:spcPct val="106000"/>
              </a:lnSpc>
              <a:spcAft>
                <a:spcPts val="900"/>
              </a:spcAft>
              <a:buClr>
                <a:srgbClr val="06509D"/>
              </a:buClr>
              <a:buFont typeface="Arial"/>
              <a:buChar char="•"/>
            </a:pPr>
            <a:r>
              <a:rPr sz="1300" b="0" i="0">
                <a:solidFill>
                  <a:srgbClr val="3A3F47"/>
                </a:solidFill>
                <a:latin typeface="Arial"/>
                <a:cs typeface="Arial"/>
              </a:rPr>
              <a:t>Lumped mass via matrix tag — </a:t>
            </a:r>
            <a:r>
              <a:rPr sz="1300" b="1" i="0">
                <a:solidFill>
                  <a:srgbClr val="3A3F47"/>
                </a:solidFill>
                <a:latin typeface="Arial"/>
                <a:cs typeface="Arial"/>
              </a:rPr>
              <a:t>zero linear iterations per step</a:t>
            </a:r>
          </a:p>
          <a:p>
            <a:pPr marL="219456" indent="-219456">
              <a:lnSpc>
                <a:spcPct val="106000"/>
              </a:lnSpc>
              <a:spcAft>
                <a:spcPts val="900"/>
              </a:spcAft>
              <a:buClr>
                <a:srgbClr val="06509D"/>
              </a:buClr>
              <a:buFont typeface="Arial"/>
              <a:buChar char="•"/>
            </a:pPr>
            <a:r>
              <a:rPr sz="1300" b="0" i="0">
                <a:solidFill>
                  <a:srgbClr val="3A3F47"/>
                </a:solidFill>
                <a:latin typeface="Arial"/>
                <a:cs typeface="Arial"/>
              </a:rPr>
              <a:t>Variable step size (Abaqus-style midpoint velocity averaging)</a:t>
            </a:r>
          </a:p>
          <a:p>
            <a:pPr marL="219456" indent="-219456">
              <a:lnSpc>
                <a:spcPct val="106000"/>
              </a:lnSpc>
              <a:spcAft>
                <a:spcPts val="900"/>
              </a:spcAft>
              <a:buClr>
                <a:srgbClr val="06509D"/>
              </a:buClr>
              <a:buFont typeface="Arial"/>
              <a:buChar char="•"/>
            </a:pPr>
            <a:r>
              <a:rPr sz="1300" b="0" i="0">
                <a:solidFill>
                  <a:srgbClr val="3A3F47"/>
                </a:solidFill>
                <a:latin typeface="Arial"/>
                <a:cs typeface="Arial"/>
              </a:rPr>
              <a:t>Upstreamed to MOOSE </a:t>
            </a:r>
            <a:r>
              <a:rPr sz="1250" b="0" i="0">
                <a:solidFill>
                  <a:srgbClr val="3A3F47"/>
                </a:solidFill>
                <a:latin typeface="Consolas"/>
                <a:cs typeface="Consolas"/>
              </a:rPr>
              <a:t>solid_mechanics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324447" y="1207008"/>
            <a:ext cx="5300319" cy="2651760"/>
          </a:xfrm>
          <a:prstGeom prst="roundRect">
            <a:avLst>
              <a:gd name="adj" fmla="val 5500"/>
            </a:avLst>
          </a:prstGeom>
          <a:solidFill>
            <a:srgbClr val="EFF6DF"/>
          </a:solidFill>
          <a:ln w="15875">
            <a:solidFill>
              <a:srgbClr val="5E861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ounded Rectangle 8"/>
          <p:cNvSpPr/>
          <p:nvPr/>
        </p:nvSpPr>
        <p:spPr>
          <a:xfrm>
            <a:off x="6580479" y="1444752"/>
            <a:ext cx="457200" cy="457200"/>
          </a:xfrm>
          <a:prstGeom prst="roundRect">
            <a:avLst>
              <a:gd name="adj" fmla="val 5500"/>
            </a:avLst>
          </a:prstGeom>
          <a:solidFill>
            <a:srgbClr val="5E861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27432" bIns="27432"/>
          <a:lstStyle/>
          <a:p>
            <a:pPr algn="ctr"/>
            <a:r>
              <a:rPr sz="2000" b="1" i="0">
                <a:solidFill>
                  <a:srgbClr val="FFFFFF"/>
                </a:solidFill>
                <a:latin typeface="Arial"/>
                <a:cs typeface="Arial"/>
              </a:rPr>
              <a:t>2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193127" y="1481328"/>
            <a:ext cx="4203039" cy="4114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700" b="1" i="0">
                <a:solidFill>
                  <a:srgbClr val="1E2430"/>
                </a:solidFill>
                <a:latin typeface="Arial"/>
                <a:cs typeface="Arial"/>
              </a:rPr>
              <a:t>NEML2 nodal-force interface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598767" y="2075688"/>
            <a:ext cx="4751679" cy="1600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marL="219456" indent="-219456">
              <a:lnSpc>
                <a:spcPct val="106000"/>
              </a:lnSpc>
              <a:spcAft>
                <a:spcPts val="900"/>
              </a:spcAft>
              <a:buClr>
                <a:srgbClr val="5E8614"/>
              </a:buClr>
              <a:buFont typeface="Arial"/>
              <a:buChar char="•"/>
            </a:pPr>
            <a:r>
              <a:rPr sz="1300" b="0" i="0">
                <a:solidFill>
                  <a:srgbClr val="3A3F47"/>
                </a:solidFill>
                <a:latin typeface="Arial"/>
                <a:cs typeface="Arial"/>
              </a:rPr>
              <a:t>NEML2 computes </a:t>
            </a:r>
            <a:r>
              <a:rPr sz="1300" b="1" i="0">
                <a:solidFill>
                  <a:srgbClr val="3A3F47"/>
                </a:solidFill>
                <a:latin typeface="Arial"/>
                <a:cs typeface="Arial"/>
              </a:rPr>
              <a:t>internal nodal forces</a:t>
            </a:r>
            <a:r>
              <a:rPr sz="1300" b="0" i="0">
                <a:solidFill>
                  <a:srgbClr val="3A3F47"/>
                </a:solidFill>
                <a:latin typeface="Arial"/>
                <a:cs typeface="Arial"/>
              </a:rPr>
              <a:t> itself — not just stress — for the whole mesh in batched tensor ops</a:t>
            </a:r>
          </a:p>
          <a:p>
            <a:pPr marL="219456" indent="-219456">
              <a:lnSpc>
                <a:spcPct val="106000"/>
              </a:lnSpc>
              <a:spcAft>
                <a:spcPts val="900"/>
              </a:spcAft>
              <a:buClr>
                <a:srgbClr val="5E8614"/>
              </a:buClr>
              <a:buFont typeface="Arial"/>
              <a:buChar char="•"/>
            </a:pPr>
            <a:r>
              <a:rPr sz="1300" b="0" i="0">
                <a:solidFill>
                  <a:srgbClr val="3A3F47"/>
                </a:solidFill>
                <a:latin typeface="Arial"/>
                <a:cs typeface="Arial"/>
              </a:rPr>
              <a:t>Constitutive state lives on the device and </a:t>
            </a:r>
            <a:r>
              <a:rPr sz="1300" b="1" i="0">
                <a:solidFill>
                  <a:srgbClr val="3A3F47"/>
                </a:solidFill>
                <a:latin typeface="Arial"/>
                <a:cs typeface="Arial"/>
              </a:rPr>
              <a:t>advances in place</a:t>
            </a:r>
            <a:r>
              <a:rPr sz="1300" b="0" i="0">
                <a:solidFill>
                  <a:srgbClr val="3A3F47"/>
                </a:solidFill>
                <a:latin typeface="Arial"/>
                <a:cs typeface="Arial"/>
              </a:rPr>
              <a:t> between steps</a:t>
            </a:r>
          </a:p>
          <a:p>
            <a:pPr marL="219456" indent="-219456">
              <a:lnSpc>
                <a:spcPct val="106000"/>
              </a:lnSpc>
              <a:spcAft>
                <a:spcPts val="900"/>
              </a:spcAft>
              <a:buClr>
                <a:srgbClr val="5E8614"/>
              </a:buClr>
              <a:buFont typeface="Arial"/>
              <a:buChar char="•"/>
            </a:pPr>
            <a:r>
              <a:rPr sz="1300" b="0" i="0">
                <a:solidFill>
                  <a:srgbClr val="3A3F47"/>
                </a:solidFill>
                <a:latin typeface="Arial"/>
                <a:cs typeface="Arial"/>
              </a:rPr>
              <a:t>Plugs into the explicit solve as a residual contribution — MOOSE BCs, outputs, MPI unchanged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566928" y="4133088"/>
            <a:ext cx="11057839" cy="777240"/>
          </a:xfrm>
          <a:prstGeom prst="roundRect">
            <a:avLst>
              <a:gd name="adj" fmla="val 5500"/>
            </a:avLst>
          </a:prstGeom>
          <a:solidFill>
            <a:srgbClr val="F4F5F7"/>
          </a:solidFill>
          <a:ln w="9525">
            <a:solidFill>
              <a:srgbClr val="DADDE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841248" y="4133088"/>
            <a:ext cx="10509199" cy="77724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200" b="1" i="0">
                <a:solidFill>
                  <a:srgbClr val="59595C"/>
                </a:solidFill>
                <a:latin typeface="Arial"/>
                <a:cs typeface="Arial"/>
              </a:rPr>
              <a:t>Foundation, unchanged:  </a:t>
            </a:r>
            <a:r>
              <a:rPr sz="1350" b="0" i="0">
                <a:solidFill>
                  <a:srgbClr val="3A3F47"/>
                </a:solidFill>
                <a:latin typeface="Arial"/>
                <a:cs typeface="Arial"/>
              </a:rPr>
              <a:t>MOOSE boundary conditions  ·  parallel domain decomposition  ·  meshing &amp; output  ·  contact (architecture-compatible)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566928" y="5376672"/>
            <a:ext cx="11057839" cy="658368"/>
          </a:xfrm>
          <a:prstGeom prst="roundRect">
            <a:avLst>
              <a:gd name="adj" fmla="val 5500"/>
            </a:avLst>
          </a:prstGeom>
          <a:solidFill>
            <a:srgbClr val="FDF0DF"/>
          </a:solidFill>
          <a:ln w="12700">
            <a:solidFill>
              <a:srgbClr val="B4620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841248" y="5376672"/>
            <a:ext cx="10509199" cy="65836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500" b="0" i="0">
                <a:solidFill>
                  <a:srgbClr val="3A3F47"/>
                </a:solidFill>
                <a:latin typeface="Arial"/>
                <a:cs typeface="Arial"/>
              </a:rPr>
              <a:t>All of it is open source in the MOOSE framework and solid-mechanics module; </a:t>
            </a:r>
            <a:r>
              <a:rPr sz="1500" b="1" i="0">
                <a:solidFill>
                  <a:srgbClr val="1E2430"/>
                </a:solidFill>
                <a:latin typeface="Arial"/>
                <a:cs typeface="Arial"/>
              </a:rPr>
              <a:t>the NEML2 force path is verified against conventional MOOSE on CPU and CUDA.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2600"/>
              <a:t>One explicit step through the NEML2 force path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1231575" y="274320"/>
            <a:ext cx="685800" cy="228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900" b="0" i="0">
                <a:solidFill>
                  <a:srgbClr val="59595C"/>
                </a:solidFill>
                <a:latin typeface="Arial"/>
                <a:cs typeface="Arial"/>
              </a:rPr>
              <a:t>10 / 19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2368296" y="1371600"/>
            <a:ext cx="7455103" cy="2907792"/>
          </a:xfrm>
          <a:prstGeom prst="roundRect">
            <a:avLst>
              <a:gd name="adj" fmla="val 5500"/>
            </a:avLst>
          </a:prstGeom>
          <a:solidFill>
            <a:srgbClr val="EFF6DF"/>
          </a:solidFill>
          <a:ln w="12700">
            <a:solidFill>
              <a:srgbClr val="5E861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2551176" y="1463040"/>
            <a:ext cx="7089343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50" b="1" i="0">
                <a:solidFill>
                  <a:srgbClr val="5E8614"/>
                </a:solidFill>
                <a:latin typeface="Arial"/>
                <a:cs typeface="Arial"/>
              </a:rPr>
              <a:t>DEVICE (libTorch)  —  same code on CPU / CUDA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66928" y="1773936"/>
            <a:ext cx="1417320" cy="1481328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2700">
            <a:solidFill>
              <a:srgbClr val="DADDE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27432" bIns="27432"/>
          <a:lstStyle/>
          <a:p>
            <a:pPr algn="ctr">
              <a:lnSpc>
                <a:spcPct val="110000"/>
              </a:lnSpc>
            </a:pPr>
            <a:r>
              <a:rPr sz="1250" b="1" i="0">
                <a:solidFill>
                  <a:srgbClr val="1E2430"/>
                </a:solidFill>
                <a:latin typeface="Arial"/>
                <a:cs typeface="Arial"/>
              </a:rPr>
              <a:t>MOOSE</a:t>
            </a:r>
          </a:p>
          <a:p>
            <a:pPr algn="ctr">
              <a:lnSpc>
                <a:spcPct val="110000"/>
              </a:lnSpc>
            </a:pPr>
            <a:r>
              <a:rPr sz="1050" b="0" i="0">
                <a:solidFill>
                  <a:srgbClr val="1E2430"/>
                </a:solidFill>
                <a:latin typeface="Arial"/>
                <a:cs typeface="Arial"/>
              </a:rPr>
              <a:t>solution vector</a:t>
            </a:r>
          </a:p>
          <a:p>
            <a:pPr algn="ctr">
              <a:lnSpc>
                <a:spcPct val="110000"/>
              </a:lnSpc>
            </a:pPr>
            <a:r>
              <a:rPr sz="1000" b="0" i="0">
                <a:solidFill>
                  <a:srgbClr val="59595C"/>
                </a:solidFill>
                <a:latin typeface="Arial"/>
                <a:cs typeface="Arial"/>
              </a:rPr>
              <a:t>(PETSc)</a:t>
            </a:r>
          </a:p>
          <a:p>
            <a:pPr algn="ctr">
              <a:lnSpc>
                <a:spcPct val="110000"/>
              </a:lnSpc>
            </a:pPr>
            <a:r>
              <a:rPr sz="950" b="0" i="1">
                <a:solidFill>
                  <a:srgbClr val="06509D"/>
                </a:solidFill>
                <a:latin typeface="Arial"/>
                <a:cs typeface="Arial"/>
              </a:rPr>
              <a:t>one upload / step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10207447" y="1773936"/>
            <a:ext cx="1417320" cy="1481328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2700">
            <a:solidFill>
              <a:srgbClr val="DADDE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27432" bIns="27432"/>
          <a:lstStyle/>
          <a:p>
            <a:pPr algn="ctr">
              <a:lnSpc>
                <a:spcPct val="110000"/>
              </a:lnSpc>
            </a:pPr>
            <a:r>
              <a:rPr sz="1050" b="0" i="0">
                <a:solidFill>
                  <a:srgbClr val="59595C"/>
                </a:solidFill>
                <a:latin typeface="Arial"/>
                <a:cs typeface="Arial"/>
              </a:rPr>
              <a:t>residual →</a:t>
            </a:r>
          </a:p>
          <a:p>
            <a:pPr algn="ctr">
              <a:lnSpc>
                <a:spcPct val="110000"/>
              </a:lnSpc>
            </a:pPr>
            <a:r>
              <a:rPr sz="1150" b="1" i="0">
                <a:solidFill>
                  <a:srgbClr val="1E2430"/>
                </a:solidFill>
                <a:latin typeface="Arial"/>
                <a:cs typeface="Arial"/>
              </a:rPr>
              <a:t>ExplicitMixed</a:t>
            </a:r>
          </a:p>
          <a:p>
            <a:pPr algn="ctr">
              <a:lnSpc>
                <a:spcPct val="110000"/>
              </a:lnSpc>
            </a:pPr>
            <a:r>
              <a:rPr sz="1150" b="1" i="0">
                <a:solidFill>
                  <a:srgbClr val="1E2430"/>
                </a:solidFill>
                <a:latin typeface="Arial"/>
                <a:cs typeface="Arial"/>
              </a:rPr>
              <a:t>Order</a:t>
            </a:r>
          </a:p>
          <a:p>
            <a:pPr algn="ctr">
              <a:lnSpc>
                <a:spcPct val="110000"/>
              </a:lnSpc>
            </a:pPr>
            <a:r>
              <a:rPr sz="1050" b="0" i="0">
                <a:solidFill>
                  <a:srgbClr val="1E2430"/>
                </a:solidFill>
                <a:latin typeface="Arial"/>
                <a:cs typeface="Arial"/>
              </a:rPr>
              <a:t>advance u</a:t>
            </a:r>
          </a:p>
          <a:p>
            <a:pPr algn="ctr">
              <a:lnSpc>
                <a:spcPct val="110000"/>
              </a:lnSpc>
            </a:pPr>
            <a:r>
              <a:rPr sz="950" b="0" i="1">
                <a:solidFill>
                  <a:srgbClr val="06509D"/>
                </a:solidFill>
                <a:latin typeface="Arial"/>
                <a:cs typeface="Arial"/>
              </a:rPr>
              <a:t>one download / step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2642616" y="1792224"/>
            <a:ext cx="1438579" cy="1444752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5875">
            <a:solidFill>
              <a:srgbClr val="5E861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27432" bIns="27432"/>
          <a:lstStyle/>
          <a:p>
            <a:pPr algn="ctr">
              <a:lnSpc>
                <a:spcPct val="108000"/>
              </a:lnSpc>
            </a:pPr>
            <a:r>
              <a:rPr sz="1100" b="1" i="0">
                <a:solidFill>
                  <a:srgbClr val="1E2430"/>
                </a:solidFill>
                <a:latin typeface="Consolas"/>
                <a:cs typeface="Consolas"/>
              </a:rPr>
              <a:t>NEML2FE</a:t>
            </a:r>
          </a:p>
          <a:p>
            <a:pPr algn="ctr">
              <a:lnSpc>
                <a:spcPct val="108000"/>
              </a:lnSpc>
            </a:pPr>
            <a:r>
              <a:rPr sz="1100" b="1" i="0">
                <a:solidFill>
                  <a:srgbClr val="1E2430"/>
                </a:solidFill>
                <a:latin typeface="Consolas"/>
                <a:cs typeface="Consolas"/>
              </a:rPr>
              <a:t>Interpolation</a:t>
            </a:r>
          </a:p>
          <a:p>
            <a:pPr algn="ctr">
              <a:lnSpc>
                <a:spcPct val="108000"/>
              </a:lnSpc>
            </a:pPr>
            <a:r>
              <a:rPr sz="1050" b="0" i="0">
                <a:solidFill>
                  <a:srgbClr val="1E2430"/>
                </a:solidFill>
                <a:latin typeface="Arial"/>
                <a:cs typeface="Arial"/>
              </a:rPr>
              <a:t>gather u, ∇u at</a:t>
            </a:r>
          </a:p>
          <a:p>
            <a:pPr algn="ctr">
              <a:lnSpc>
                <a:spcPct val="108000"/>
              </a:lnSpc>
            </a:pPr>
            <a:r>
              <a:rPr sz="1050" b="0" i="0">
                <a:solidFill>
                  <a:srgbClr val="59595C"/>
                </a:solidFill>
                <a:latin typeface="Arial"/>
                <a:cs typeface="Arial"/>
              </a:rPr>
              <a:t>all quad points</a:t>
            </a:r>
          </a:p>
        </p:txBody>
      </p:sp>
      <p:cxnSp>
        <p:nvCxnSpPr>
          <p:cNvPr id="9" name="Connector 8"/>
          <p:cNvCxnSpPr/>
          <p:nvPr/>
        </p:nvCxnSpPr>
        <p:spPr>
          <a:xfrm>
            <a:off x="4099483.75" y="2514600.0"/>
            <a:ext cx="347472.0" cy="0.0"/>
          </a:xfrm>
          <a:prstGeom prst="line">
            <a:avLst/>
          </a:prstGeom>
          <a:ln w="22225">
            <a:solidFill>
              <a:srgbClr val="5E8614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0" name="Rounded Rectangle 9"/>
          <p:cNvSpPr/>
          <p:nvPr/>
        </p:nvSpPr>
        <p:spPr>
          <a:xfrm>
            <a:off x="4465243" y="1792224"/>
            <a:ext cx="1438579" cy="1444752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5875">
            <a:solidFill>
              <a:srgbClr val="5E861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27432" bIns="27432"/>
          <a:lstStyle/>
          <a:p>
            <a:pPr algn="ctr">
              <a:lnSpc>
                <a:spcPct val="108000"/>
              </a:lnSpc>
            </a:pPr>
            <a:r>
              <a:rPr sz="1100" b="1" i="0">
                <a:solidFill>
                  <a:srgbClr val="1E2430"/>
                </a:solidFill>
                <a:latin typeface="Consolas"/>
                <a:cs typeface="Consolas"/>
              </a:rPr>
              <a:t>NEML2</a:t>
            </a:r>
          </a:p>
          <a:p>
            <a:pPr algn="ctr">
              <a:lnSpc>
                <a:spcPct val="108000"/>
              </a:lnSpc>
            </a:pPr>
            <a:r>
              <a:rPr sz="1100" b="1" i="0">
                <a:solidFill>
                  <a:srgbClr val="1E2430"/>
                </a:solidFill>
                <a:latin typeface="Consolas"/>
                <a:cs typeface="Consolas"/>
              </a:rPr>
              <a:t>SmallStrain</a:t>
            </a:r>
          </a:p>
          <a:p>
            <a:pPr algn="ctr">
              <a:lnSpc>
                <a:spcPct val="108000"/>
              </a:lnSpc>
            </a:pPr>
            <a:r>
              <a:rPr sz="1050" b="0" i="0">
                <a:solidFill>
                  <a:srgbClr val="1E2430"/>
                </a:solidFill>
                <a:latin typeface="Arial"/>
                <a:cs typeface="Arial"/>
              </a:rPr>
              <a:t>ε = sym ∇u</a:t>
            </a:r>
          </a:p>
          <a:p>
            <a:pPr algn="ctr">
              <a:lnSpc>
                <a:spcPct val="108000"/>
              </a:lnSpc>
            </a:pPr>
            <a:r>
              <a:rPr sz="1050" b="0" i="0">
                <a:solidFill>
                  <a:srgbClr val="59595C"/>
                </a:solidFill>
                <a:latin typeface="Arial"/>
                <a:cs typeface="Arial"/>
              </a:rPr>
              <a:t>whole batch</a:t>
            </a:r>
          </a:p>
        </p:txBody>
      </p:sp>
      <p:cxnSp>
        <p:nvCxnSpPr>
          <p:cNvPr id="11" name="Connector 10"/>
          <p:cNvCxnSpPr/>
          <p:nvPr/>
        </p:nvCxnSpPr>
        <p:spPr>
          <a:xfrm>
            <a:off x="5922111.5" y="2514600.0"/>
            <a:ext cx="347472.0" cy="0.0"/>
          </a:xfrm>
          <a:prstGeom prst="line">
            <a:avLst/>
          </a:prstGeom>
          <a:ln w="22225">
            <a:solidFill>
              <a:srgbClr val="5E8614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2" name="Rounded Rectangle 11"/>
          <p:cNvSpPr/>
          <p:nvPr/>
        </p:nvSpPr>
        <p:spPr>
          <a:xfrm>
            <a:off x="6287871" y="1792224"/>
            <a:ext cx="1438579" cy="1444752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5875">
            <a:solidFill>
              <a:srgbClr val="5E861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27432" bIns="27432"/>
          <a:lstStyle/>
          <a:p>
            <a:pPr algn="ctr">
              <a:lnSpc>
                <a:spcPct val="108000"/>
              </a:lnSpc>
            </a:pPr>
            <a:r>
              <a:rPr sz="1100" b="1" i="0">
                <a:solidFill>
                  <a:srgbClr val="1E2430"/>
                </a:solidFill>
                <a:latin typeface="Consolas"/>
                <a:cs typeface="Consolas"/>
              </a:rPr>
              <a:t>NEML2Model</a:t>
            </a:r>
          </a:p>
          <a:p>
            <a:pPr algn="ctr">
              <a:lnSpc>
                <a:spcPct val="108000"/>
              </a:lnSpc>
            </a:pPr>
            <a:r>
              <a:rPr sz="1100" b="1" i="0">
                <a:solidFill>
                  <a:srgbClr val="1E2430"/>
                </a:solidFill>
                <a:latin typeface="Consolas"/>
                <a:cs typeface="Consolas"/>
              </a:rPr>
              <a:t>Executor</a:t>
            </a:r>
          </a:p>
          <a:p>
            <a:pPr algn="ctr">
              <a:lnSpc>
                <a:spcPct val="108000"/>
              </a:lnSpc>
            </a:pPr>
            <a:r>
              <a:rPr sz="1050" b="0" i="0">
                <a:solidFill>
                  <a:srgbClr val="1E2430"/>
                </a:solidFill>
                <a:latin typeface="Arial"/>
                <a:cs typeface="Arial"/>
              </a:rPr>
              <a:t>σ = model(ε, state)</a:t>
            </a:r>
          </a:p>
          <a:p>
            <a:pPr algn="ctr">
              <a:lnSpc>
                <a:spcPct val="108000"/>
              </a:lnSpc>
            </a:pPr>
            <a:r>
              <a:rPr sz="1050" b="0" i="0">
                <a:solidFill>
                  <a:srgbClr val="59595C"/>
                </a:solidFill>
                <a:latin typeface="Arial"/>
                <a:cs typeface="Arial"/>
              </a:rPr>
              <a:t>one batched call</a:t>
            </a:r>
          </a:p>
        </p:txBody>
      </p:sp>
      <p:cxnSp>
        <p:nvCxnSpPr>
          <p:cNvPr id="13" name="Connector 12"/>
          <p:cNvCxnSpPr/>
          <p:nvPr/>
        </p:nvCxnSpPr>
        <p:spPr>
          <a:xfrm>
            <a:off x="7744739.25" y="2514600.0"/>
            <a:ext cx="347472.0" cy="0.0"/>
          </a:xfrm>
          <a:prstGeom prst="line">
            <a:avLst/>
          </a:prstGeom>
          <a:ln w="22225">
            <a:solidFill>
              <a:srgbClr val="5E8614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4" name="Rounded Rectangle 13"/>
          <p:cNvSpPr/>
          <p:nvPr/>
        </p:nvSpPr>
        <p:spPr>
          <a:xfrm>
            <a:off x="8110499" y="1792224"/>
            <a:ext cx="1438579" cy="1444752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5875">
            <a:solidFill>
              <a:srgbClr val="5E861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27432" bIns="27432"/>
          <a:lstStyle/>
          <a:p>
            <a:pPr algn="ctr">
              <a:lnSpc>
                <a:spcPct val="108000"/>
              </a:lnSpc>
            </a:pPr>
            <a:r>
              <a:rPr sz="1100" b="1" i="0">
                <a:solidFill>
                  <a:srgbClr val="1E2430"/>
                </a:solidFill>
                <a:latin typeface="Consolas"/>
                <a:cs typeface="Consolas"/>
              </a:rPr>
              <a:t>NEML2Stress</a:t>
            </a:r>
          </a:p>
          <a:p>
            <a:pPr algn="ctr">
              <a:lnSpc>
                <a:spcPct val="108000"/>
              </a:lnSpc>
            </a:pPr>
            <a:r>
              <a:rPr sz="1100" b="1" i="0">
                <a:solidFill>
                  <a:srgbClr val="1E2430"/>
                </a:solidFill>
                <a:latin typeface="Consolas"/>
                <a:cs typeface="Consolas"/>
              </a:rPr>
              <a:t>Divergence</a:t>
            </a:r>
          </a:p>
          <a:p>
            <a:pPr algn="ctr">
              <a:lnSpc>
                <a:spcPct val="108000"/>
              </a:lnSpc>
            </a:pPr>
            <a:r>
              <a:rPr sz="1050" b="0" i="0">
                <a:solidFill>
                  <a:srgbClr val="1E2430"/>
                </a:solidFill>
                <a:latin typeface="Arial"/>
                <a:cs typeface="Arial"/>
              </a:rPr>
              <a:t>Rᵉ = Σ ∇φ·σ JxW</a:t>
            </a:r>
          </a:p>
          <a:p>
            <a:pPr algn="ctr">
              <a:lnSpc>
                <a:spcPct val="108000"/>
              </a:lnSpc>
            </a:pPr>
            <a:r>
              <a:rPr sz="1050" b="0" i="0">
                <a:solidFill>
                  <a:srgbClr val="59595C"/>
                </a:solidFill>
                <a:latin typeface="Arial"/>
                <a:cs typeface="Arial"/>
              </a:rPr>
              <a:t>all elements at once</a:t>
            </a:r>
          </a:p>
        </p:txBody>
      </p:sp>
      <p:cxnSp>
        <p:nvCxnSpPr>
          <p:cNvPr id="15" name="Connector 14"/>
          <p:cNvCxnSpPr/>
          <p:nvPr/>
        </p:nvCxnSpPr>
        <p:spPr>
          <a:xfrm>
            <a:off x="2002536" y="2514600.0"/>
            <a:ext cx="621792" cy="0.0"/>
          </a:xfrm>
          <a:prstGeom prst="line">
            <a:avLst/>
          </a:prstGeom>
          <a:ln w="22225">
            <a:solidFill>
              <a:srgbClr val="1E2430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6" name="Connector 15"/>
          <p:cNvCxnSpPr/>
          <p:nvPr/>
        </p:nvCxnSpPr>
        <p:spPr>
          <a:xfrm>
            <a:off x="9567367" y="2514600.0"/>
            <a:ext cx="621792" cy="0.0"/>
          </a:xfrm>
          <a:prstGeom prst="line">
            <a:avLst/>
          </a:prstGeom>
          <a:ln w="22225">
            <a:solidFill>
              <a:srgbClr val="1E2430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7" name="Connector 16"/>
          <p:cNvCxnSpPr/>
          <p:nvPr/>
        </p:nvCxnSpPr>
        <p:spPr>
          <a:xfrm>
            <a:off x="10916107.0" y="3255264"/>
            <a:ext cx="0.0" cy="1335024"/>
          </a:xfrm>
          <a:prstGeom prst="line">
            <a:avLst/>
          </a:prstGeom>
          <a:ln w="19050">
            <a:solidFill>
              <a:srgbClr val="06509D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8" name="Connector 17"/>
          <p:cNvCxnSpPr/>
          <p:nvPr/>
        </p:nvCxnSpPr>
        <p:spPr>
          <a:xfrm>
            <a:off x="1275588.0" y="4590288"/>
            <a:ext cx="9640519.0" cy="0"/>
          </a:xfrm>
          <a:prstGeom prst="line">
            <a:avLst/>
          </a:prstGeom>
          <a:ln w="19050">
            <a:solidFill>
              <a:srgbClr val="06509D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9" name="Connector 18"/>
          <p:cNvCxnSpPr/>
          <p:nvPr/>
        </p:nvCxnSpPr>
        <p:spPr>
          <a:xfrm flipV="1">
            <a:off x="1275588.0" y="3273552"/>
            <a:ext cx="0.0" cy="1316736"/>
          </a:xfrm>
          <a:prstGeom prst="line">
            <a:avLst/>
          </a:prstGeom>
          <a:ln w="19050">
            <a:solidFill>
              <a:srgbClr val="06509D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0" name="TextBox 19"/>
          <p:cNvSpPr txBox="1"/>
          <p:nvPr/>
        </p:nvSpPr>
        <p:spPr>
          <a:xfrm>
            <a:off x="4632807" y="4663440"/>
            <a:ext cx="2926080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050" b="0" i="1">
                <a:solidFill>
                  <a:srgbClr val="06509D"/>
                </a:solidFill>
                <a:latin typeface="Arial"/>
                <a:cs typeface="Arial"/>
              </a:rPr>
              <a:t>next explicit step (Δt ≈ 10 ns)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2642616" y="3529584"/>
            <a:ext cx="6906463" cy="585216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9525">
            <a:solidFill>
              <a:srgbClr val="5E861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2825496" y="3529584"/>
            <a:ext cx="6540703" cy="58521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050" b="1" i="0">
                <a:solidFill>
                  <a:srgbClr val="5E8614"/>
                </a:solidFill>
                <a:latin typeface="Arial"/>
                <a:cs typeface="Arial"/>
              </a:rPr>
              <a:t>built once, cached on device:  </a:t>
            </a:r>
            <a:r>
              <a:rPr sz="1050" b="0" i="0">
                <a:solidFill>
                  <a:srgbClr val="3A3F47"/>
                </a:solidFill>
                <a:latin typeface="Arial"/>
                <a:cs typeface="Arial"/>
              </a:rPr>
              <a:t>shape functions φ, ∇φ,  DOF maps,  weights JxW — rebuilt only on mesh change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566928" y="5376672"/>
            <a:ext cx="11057839" cy="658368"/>
          </a:xfrm>
          <a:prstGeom prst="roundRect">
            <a:avLst>
              <a:gd name="adj" fmla="val 5500"/>
            </a:avLst>
          </a:prstGeom>
          <a:solidFill>
            <a:srgbClr val="FDF0DF"/>
          </a:solidFill>
          <a:ln w="12700">
            <a:solidFill>
              <a:srgbClr val="B4620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841248" y="5376672"/>
            <a:ext cx="10509199" cy="65836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500" b="1" i="0">
                <a:solidFill>
                  <a:srgbClr val="1E2430"/>
                </a:solidFill>
                <a:latin typeface="Arial"/>
                <a:cs typeface="Arial"/>
              </a:rPr>
              <a:t>The interior force computation never touches an element loop:</a:t>
            </a:r>
            <a:r>
              <a:rPr sz="1500" b="0" i="0">
                <a:solidFill>
                  <a:srgbClr val="3A3F47"/>
                </a:solidFill>
                <a:latin typeface="Arial"/>
                <a:cs typeface="Arial"/>
              </a:rPr>
              <a:t> a short sequence of batched tensor ops.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2600"/>
              <a:t>Constitutive state never leaves the device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1231575" y="274320"/>
            <a:ext cx="685800" cy="228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900" b="0" i="0">
                <a:solidFill>
                  <a:srgbClr val="59595C"/>
                </a:solidFill>
                <a:latin typeface="Arial"/>
                <a:cs typeface="Arial"/>
              </a:rPr>
              <a:t>11 / 19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566928" y="1252728"/>
            <a:ext cx="11057839" cy="1755648"/>
          </a:xfrm>
          <a:prstGeom prst="roundRect">
            <a:avLst>
              <a:gd name="adj" fmla="val 5500"/>
            </a:avLst>
          </a:prstGeom>
          <a:solidFill>
            <a:srgbClr val="FAE8ED"/>
          </a:solidFill>
          <a:ln w="12700">
            <a:solidFill>
              <a:srgbClr val="CF1D4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804672" y="1362456"/>
            <a:ext cx="7315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1" i="0">
                <a:solidFill>
                  <a:srgbClr val="CF1D4C"/>
                </a:solidFill>
                <a:latin typeface="Arial"/>
                <a:cs typeface="Arial"/>
              </a:rPr>
              <a:t>CONVENTIONAL COUPLING — state round-trips through MOOSE every step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41248" y="1773936"/>
            <a:ext cx="10515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50" b="1" i="0">
                <a:solidFill>
                  <a:srgbClr val="59595C"/>
                </a:solidFill>
                <a:latin typeface="Arial"/>
                <a:cs typeface="Arial"/>
              </a:rPr>
              <a:t>HOST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41248" y="2468880"/>
            <a:ext cx="10515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50" b="1" i="0">
                <a:solidFill>
                  <a:srgbClr val="59595C"/>
                </a:solidFill>
                <a:latin typeface="Arial"/>
                <a:cs typeface="Arial"/>
              </a:rPr>
              <a:t>DEVICE</a:t>
            </a:r>
          </a:p>
        </p:txBody>
      </p:sp>
      <p:cxnSp>
        <p:nvCxnSpPr>
          <p:cNvPr id="8" name="Connector 7"/>
          <p:cNvCxnSpPr/>
          <p:nvPr/>
        </p:nvCxnSpPr>
        <p:spPr>
          <a:xfrm>
            <a:off x="1892808" y="2276856"/>
            <a:ext cx="6766560" cy="0"/>
          </a:xfrm>
          <a:prstGeom prst="line">
            <a:avLst/>
          </a:prstGeom>
          <a:ln w="9525">
            <a:solidFill>
              <a:srgbClr val="CF1D4C"/>
            </a:solidFill>
            <a:prstDash val="dash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9" name="Rounded Rectangle 8"/>
          <p:cNvSpPr/>
          <p:nvPr/>
        </p:nvSpPr>
        <p:spPr>
          <a:xfrm>
            <a:off x="2121408" y="1655064"/>
            <a:ext cx="2651760" cy="475488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9525">
            <a:solidFill>
              <a:srgbClr val="CF1D4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27432" bIns="27432"/>
          <a:lstStyle/>
          <a:p>
            <a:pPr algn="ctr"/>
            <a:r>
              <a:rPr sz="1050" b="0" i="0">
                <a:solidFill>
                  <a:srgbClr val="1E2430"/>
                </a:solidFill>
                <a:latin typeface="Arial"/>
                <a:cs typeface="Arial"/>
              </a:rPr>
              <a:t>state in MOOSE material properties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327648" y="1655064"/>
            <a:ext cx="2377440" cy="475488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9525">
            <a:solidFill>
              <a:srgbClr val="CF1D4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27432" bIns="27432"/>
          <a:lstStyle/>
          <a:p>
            <a:pPr algn="ctr"/>
            <a:r>
              <a:rPr sz="1050" b="0" i="0">
                <a:solidFill>
                  <a:srgbClr val="1E2430"/>
                </a:solidFill>
                <a:latin typeface="Arial"/>
                <a:cs typeface="Arial"/>
              </a:rPr>
              <a:t>age state:  old ← current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3950208" y="2350008"/>
            <a:ext cx="3108960" cy="475488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9525">
            <a:solidFill>
              <a:srgbClr val="CF1D4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27432" bIns="27432"/>
          <a:lstStyle/>
          <a:p>
            <a:pPr algn="ctr"/>
            <a:r>
              <a:rPr sz="1050" b="0" i="0">
                <a:solidFill>
                  <a:srgbClr val="1E2430"/>
                </a:solidFill>
                <a:latin typeface="Arial"/>
                <a:cs typeface="Arial"/>
              </a:rPr>
              <a:t>batched stress + state update</a:t>
            </a:r>
          </a:p>
        </p:txBody>
      </p:sp>
      <p:cxnSp>
        <p:nvCxnSpPr>
          <p:cNvPr id="12" name="Connector 11"/>
          <p:cNvCxnSpPr/>
          <p:nvPr/>
        </p:nvCxnSpPr>
        <p:spPr>
          <a:xfrm>
            <a:off x="3447288" y="2130552"/>
            <a:ext cx="1051560" cy="219456"/>
          </a:xfrm>
          <a:prstGeom prst="line">
            <a:avLst/>
          </a:prstGeom>
          <a:ln w="19050">
            <a:solidFill>
              <a:srgbClr val="CF1D4C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3" name="Connector 12"/>
          <p:cNvCxnSpPr/>
          <p:nvPr/>
        </p:nvCxnSpPr>
        <p:spPr>
          <a:xfrm flipV="1">
            <a:off x="6784848" y="2130552"/>
            <a:ext cx="457200" cy="219456"/>
          </a:xfrm>
          <a:prstGeom prst="line">
            <a:avLst/>
          </a:prstGeom>
          <a:ln w="19050">
            <a:solidFill>
              <a:srgbClr val="CF1D4C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4" name="TextBox 13"/>
          <p:cNvSpPr txBox="1"/>
          <p:nvPr/>
        </p:nvSpPr>
        <p:spPr>
          <a:xfrm>
            <a:off x="8842248" y="1819656"/>
            <a:ext cx="2560320" cy="10058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050" b="0" i="1">
                <a:solidFill>
                  <a:srgbClr val="CF1D4C"/>
                </a:solidFill>
                <a:latin typeface="Arial"/>
                <a:cs typeface="Arial"/>
              </a:rPr>
              <a:t>state copied down and back up every step — scales with model complexity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566928" y="3319272"/>
            <a:ext cx="11057839" cy="1755648"/>
          </a:xfrm>
          <a:prstGeom prst="roundRect">
            <a:avLst>
              <a:gd name="adj" fmla="val 5500"/>
            </a:avLst>
          </a:prstGeom>
          <a:solidFill>
            <a:srgbClr val="EFF6DF"/>
          </a:solidFill>
          <a:ln w="12700">
            <a:solidFill>
              <a:srgbClr val="5E861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804672" y="3429000"/>
            <a:ext cx="86868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1" i="0">
                <a:solidFill>
                  <a:srgbClr val="5E8614"/>
                </a:solidFill>
                <a:latin typeface="Arial"/>
                <a:cs typeface="Arial"/>
              </a:rPr>
              <a:t>THIS WORK — state advances in place on the device  (manage_state_advance)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41248" y="3840480"/>
            <a:ext cx="10515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50" b="1" i="0">
                <a:solidFill>
                  <a:srgbClr val="59595C"/>
                </a:solidFill>
                <a:latin typeface="Arial"/>
                <a:cs typeface="Arial"/>
              </a:rPr>
              <a:t>HOST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841248" y="4535424"/>
            <a:ext cx="10515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50" b="1" i="0">
                <a:solidFill>
                  <a:srgbClr val="59595C"/>
                </a:solidFill>
                <a:latin typeface="Arial"/>
                <a:cs typeface="Arial"/>
              </a:rPr>
              <a:t>DEVICE</a:t>
            </a:r>
          </a:p>
        </p:txBody>
      </p:sp>
      <p:cxnSp>
        <p:nvCxnSpPr>
          <p:cNvPr id="19" name="Connector 18"/>
          <p:cNvCxnSpPr/>
          <p:nvPr/>
        </p:nvCxnSpPr>
        <p:spPr>
          <a:xfrm>
            <a:off x="1892808" y="4343400"/>
            <a:ext cx="6766560" cy="0"/>
          </a:xfrm>
          <a:prstGeom prst="line">
            <a:avLst/>
          </a:prstGeom>
          <a:ln w="9525">
            <a:solidFill>
              <a:srgbClr val="5E8614"/>
            </a:solidFill>
            <a:prstDash val="dash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0" name="Rounded Rectangle 19"/>
          <p:cNvSpPr/>
          <p:nvPr/>
        </p:nvSpPr>
        <p:spPr>
          <a:xfrm>
            <a:off x="2121408" y="3721608"/>
            <a:ext cx="2103120" cy="475488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9525">
            <a:solidFill>
              <a:srgbClr val="5E861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27432" bIns="27432"/>
          <a:lstStyle/>
          <a:p>
            <a:pPr algn="ctr"/>
            <a:r>
              <a:rPr sz="1050" b="0" i="0">
                <a:solidFill>
                  <a:srgbClr val="1E2430"/>
                </a:solidFill>
                <a:latin typeface="Arial"/>
                <a:cs typeface="Arial"/>
              </a:rPr>
              <a:t>solution u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6327648" y="3721608"/>
            <a:ext cx="2103120" cy="475488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9525">
            <a:solidFill>
              <a:srgbClr val="5E861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27432" bIns="27432"/>
          <a:lstStyle/>
          <a:p>
            <a:pPr algn="ctr"/>
            <a:r>
              <a:rPr sz="1050" b="0" i="0">
                <a:solidFill>
                  <a:srgbClr val="1E2430"/>
                </a:solidFill>
                <a:latin typeface="Arial"/>
                <a:cs typeface="Arial"/>
              </a:rPr>
              <a:t>nodal forces F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3675888" y="4416552"/>
            <a:ext cx="3657600" cy="475488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2700">
            <a:solidFill>
              <a:srgbClr val="5E861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27432" bIns="27432"/>
          <a:lstStyle/>
          <a:p>
            <a:pPr algn="ctr"/>
            <a:r>
              <a:rPr sz="1050" b="1" i="0">
                <a:solidFill>
                  <a:srgbClr val="1E2430"/>
                </a:solidFill>
                <a:latin typeface="Arial"/>
                <a:cs typeface="Arial"/>
              </a:rPr>
              <a:t>state (Eᵖ, εᵖ, T, ...) advances in place</a:t>
            </a:r>
          </a:p>
        </p:txBody>
      </p:sp>
      <p:cxnSp>
        <p:nvCxnSpPr>
          <p:cNvPr id="23" name="Connector 22"/>
          <p:cNvCxnSpPr/>
          <p:nvPr/>
        </p:nvCxnSpPr>
        <p:spPr>
          <a:xfrm>
            <a:off x="3172968" y="4197096"/>
            <a:ext cx="960120" cy="219456"/>
          </a:xfrm>
          <a:prstGeom prst="line">
            <a:avLst/>
          </a:prstGeom>
          <a:ln w="19050">
            <a:solidFill>
              <a:srgbClr val="5E8614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4" name="Connector 23"/>
          <p:cNvCxnSpPr/>
          <p:nvPr/>
        </p:nvCxnSpPr>
        <p:spPr>
          <a:xfrm flipV="1">
            <a:off x="6876288" y="4197096"/>
            <a:ext cx="502920" cy="219456"/>
          </a:xfrm>
          <a:prstGeom prst="line">
            <a:avLst/>
          </a:prstGeom>
          <a:ln w="19050">
            <a:solidFill>
              <a:srgbClr val="5E8614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5" name="TextBox 24"/>
          <p:cNvSpPr txBox="1"/>
          <p:nvPr/>
        </p:nvSpPr>
        <p:spPr>
          <a:xfrm>
            <a:off x="8842248" y="3886200"/>
            <a:ext cx="2560320" cy="10058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050" b="0" i="1">
                <a:solidFill>
                  <a:srgbClr val="5E8614"/>
                </a:solidFill>
                <a:latin typeface="Arial"/>
                <a:cs typeface="Arial"/>
              </a:rPr>
              <a:t>per step: one solution upload, one force download — independent of model complexity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566928" y="5376672"/>
            <a:ext cx="11057839" cy="658368"/>
          </a:xfrm>
          <a:prstGeom prst="roundRect">
            <a:avLst>
              <a:gd name="adj" fmla="val 5500"/>
            </a:avLst>
          </a:prstGeom>
          <a:solidFill>
            <a:srgbClr val="FDF0DF"/>
          </a:solidFill>
          <a:ln w="12700">
            <a:solidFill>
              <a:srgbClr val="B4620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841248" y="5376672"/>
            <a:ext cx="10509199" cy="65836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500" b="1" i="0">
                <a:solidFill>
                  <a:srgbClr val="1E2430"/>
                </a:solidFill>
                <a:latin typeface="Arial"/>
                <a:cs typeface="Arial"/>
              </a:rPr>
              <a:t>The richer the model, the more this matters</a:t>
            </a:r>
            <a:r>
              <a:rPr sz="1500" b="0" i="0">
                <a:solidFill>
                  <a:srgbClr val="3A3F47"/>
                </a:solidFill>
                <a:latin typeface="Arial"/>
                <a:cs typeface="Arial"/>
              </a:rPr>
              <a:t> — state stays where it is computed; traffic does not grow with it.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2600"/>
              <a:t>The method, in one slide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1231575" y="274320"/>
            <a:ext cx="685800" cy="228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900" b="0" i="0">
                <a:solidFill>
                  <a:srgbClr val="59595C"/>
                </a:solidFill>
                <a:latin typeface="Arial"/>
                <a:cs typeface="Arial"/>
              </a:rPr>
              <a:t>12 / 19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566928" y="1298448"/>
            <a:ext cx="11057839" cy="804672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9525">
            <a:solidFill>
              <a:srgbClr val="DADDE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768096" y="1490472"/>
            <a:ext cx="420624" cy="420624"/>
          </a:xfrm>
          <a:prstGeom prst="roundRect">
            <a:avLst>
              <a:gd name="adj" fmla="val 5500"/>
            </a:avLst>
          </a:prstGeom>
          <a:solidFill>
            <a:srgbClr val="06509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27432" bIns="27432"/>
          <a:lstStyle/>
          <a:p>
            <a:pPr algn="ctr"/>
            <a:r>
              <a:rPr sz="1600" b="1" i="0">
                <a:solidFill>
                  <a:srgbClr val="FFFFFF"/>
                </a:solidFill>
                <a:latin typeface="Arial"/>
                <a:cs typeface="Arial"/>
              </a:rPr>
              <a:t>1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435608" y="1408176"/>
            <a:ext cx="9869119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550" b="1" i="0">
                <a:solidFill>
                  <a:srgbClr val="1E2430"/>
                </a:solidFill>
                <a:latin typeface="Arial"/>
                <a:cs typeface="Arial"/>
              </a:rPr>
              <a:t>Explicit runtime ≈ steps × material-update cost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435608" y="1755648"/>
            <a:ext cx="9869119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00" b="0" i="0">
                <a:solidFill>
                  <a:srgbClr val="59595C"/>
                </a:solidFill>
                <a:latin typeface="Arial"/>
                <a:cs typeface="Arial"/>
              </a:rPr>
              <a:t>CFL fixes the step count; the constitutive update is the only lever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66928" y="2231136"/>
            <a:ext cx="11057839" cy="804672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9525">
            <a:solidFill>
              <a:srgbClr val="DADDE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ounded Rectangle 8"/>
          <p:cNvSpPr/>
          <p:nvPr/>
        </p:nvSpPr>
        <p:spPr>
          <a:xfrm>
            <a:off x="768096" y="2423160"/>
            <a:ext cx="420624" cy="420624"/>
          </a:xfrm>
          <a:prstGeom prst="roundRect">
            <a:avLst>
              <a:gd name="adj" fmla="val 5500"/>
            </a:avLst>
          </a:prstGeom>
          <a:solidFill>
            <a:srgbClr val="06509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27432" bIns="27432"/>
          <a:lstStyle/>
          <a:p>
            <a:pPr algn="ctr"/>
            <a:r>
              <a:rPr sz="1600" b="1" i="0">
                <a:solidFill>
                  <a:srgbClr val="FFFFFF"/>
                </a:solidFill>
                <a:latin typeface="Arial"/>
                <a:cs typeface="Arial"/>
              </a:rPr>
              <a:t>2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435608" y="2340864"/>
            <a:ext cx="9869119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550" b="1" i="0">
                <a:solidFill>
                  <a:srgbClr val="1E2430"/>
                </a:solidFill>
                <a:latin typeface="Arial"/>
                <a:cs typeface="Arial"/>
              </a:rPr>
              <a:t>ExplicitMixedOrder advances mechanics + first-order fields, no solver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435608" y="2688336"/>
            <a:ext cx="9869119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00" b="0" i="0">
                <a:solidFill>
                  <a:srgbClr val="59595C"/>
                </a:solidFill>
                <a:latin typeface="Arial"/>
                <a:cs typeface="Arial"/>
              </a:rPr>
              <a:t>lumped mass, zero linear iterations; upstreamed to MOOSE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566928" y="3163824"/>
            <a:ext cx="11057839" cy="804672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9525">
            <a:solidFill>
              <a:srgbClr val="DADDE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ounded Rectangle 12"/>
          <p:cNvSpPr/>
          <p:nvPr/>
        </p:nvSpPr>
        <p:spPr>
          <a:xfrm>
            <a:off x="768096" y="3355848"/>
            <a:ext cx="420624" cy="420624"/>
          </a:xfrm>
          <a:prstGeom prst="roundRect">
            <a:avLst>
              <a:gd name="adj" fmla="val 5500"/>
            </a:avLst>
          </a:prstGeom>
          <a:solidFill>
            <a:srgbClr val="06509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27432" bIns="27432"/>
          <a:lstStyle/>
          <a:p>
            <a:pPr algn="ctr"/>
            <a:r>
              <a:rPr sz="1600" b="1" i="0">
                <a:solidFill>
                  <a:srgbClr val="FFFFFF"/>
                </a:solidFill>
                <a:latin typeface="Arial"/>
                <a:cs typeface="Arial"/>
              </a:rPr>
              <a:t>3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435608" y="3273552"/>
            <a:ext cx="9869119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550" b="1" i="0">
                <a:solidFill>
                  <a:srgbClr val="1E2430"/>
                </a:solidFill>
                <a:latin typeface="Arial"/>
                <a:cs typeface="Arial"/>
              </a:rPr>
              <a:t>NEML2 assembles the internal nodal forces on the device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435608" y="3621024"/>
            <a:ext cx="9869119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00" b="0" i="0">
                <a:solidFill>
                  <a:srgbClr val="59595C"/>
                </a:solidFill>
                <a:latin typeface="Arial"/>
                <a:cs typeface="Arial"/>
              </a:rPr>
              <a:t>batched over all elements; state advances in place; one upload + one download per step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566928" y="4096512"/>
            <a:ext cx="11057839" cy="804672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9525">
            <a:solidFill>
              <a:srgbClr val="DADDE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ounded Rectangle 16"/>
          <p:cNvSpPr/>
          <p:nvPr/>
        </p:nvSpPr>
        <p:spPr>
          <a:xfrm>
            <a:off x="768096" y="4288536"/>
            <a:ext cx="420624" cy="420624"/>
          </a:xfrm>
          <a:prstGeom prst="roundRect">
            <a:avLst>
              <a:gd name="adj" fmla="val 5500"/>
            </a:avLst>
          </a:prstGeom>
          <a:solidFill>
            <a:srgbClr val="06509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27432" bIns="27432"/>
          <a:lstStyle/>
          <a:p>
            <a:pPr algn="ctr"/>
            <a:r>
              <a:rPr sz="1600" b="1" i="0">
                <a:solidFill>
                  <a:srgbClr val="FFFFFF"/>
                </a:solidFill>
                <a:latin typeface="Arial"/>
                <a:cs typeface="Arial"/>
              </a:rPr>
              <a:t>4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435608" y="4206240"/>
            <a:ext cx="9869119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550" b="1" i="0">
                <a:solidFill>
                  <a:srgbClr val="1E2430"/>
                </a:solidFill>
                <a:latin typeface="Arial"/>
                <a:cs typeface="Arial"/>
              </a:rPr>
              <a:t>MOOSE keeps BCs, parallelism, outputs — unchanged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435608" y="4553712"/>
            <a:ext cx="9869119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00" b="0" i="0">
                <a:solidFill>
                  <a:srgbClr val="59595C"/>
                </a:solidFill>
                <a:latin typeface="Arial"/>
                <a:cs typeface="Arial"/>
              </a:rPr>
              <a:t>and the path is verified to match conventional MOOSE assembly (CPU and CUDA test suite)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566928" y="5138928"/>
            <a:ext cx="11057839" cy="777240"/>
          </a:xfrm>
          <a:prstGeom prst="roundRect">
            <a:avLst>
              <a:gd name="adj" fmla="val 5500"/>
            </a:avLst>
          </a:prstGeom>
          <a:solidFill>
            <a:srgbClr val="E6EEF7"/>
          </a:solidFill>
          <a:ln w="12700">
            <a:solidFill>
              <a:srgbClr val="06509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841248" y="5138928"/>
            <a:ext cx="10509199" cy="77724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500" b="1" i="0">
                <a:solidFill>
                  <a:srgbClr val="06509D"/>
                </a:solidFill>
                <a:latin typeface="Arial"/>
                <a:cs typeface="Arial"/>
              </a:rPr>
              <a:t>Up next:  </a:t>
            </a:r>
            <a:r>
              <a:rPr sz="1500" b="0" i="0">
                <a:solidFill>
                  <a:srgbClr val="1E2430"/>
                </a:solidFill>
                <a:latin typeface="Arial"/>
                <a:cs typeface="Arial"/>
              </a:rPr>
              <a:t>verification across formulations  ·  reduced integration  ·  Taylor impact &amp; thermo-mechanics  ·  calibration against a scanned specimen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2600"/>
              <a:t>The interface adds no error — in any formulation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1231575" y="274320"/>
            <a:ext cx="685800" cy="228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900" b="0" i="0">
                <a:solidFill>
                  <a:srgbClr val="59595C"/>
                </a:solidFill>
                <a:latin typeface="Arial"/>
                <a:cs typeface="Arial"/>
              </a:rPr>
              <a:t>13 / 19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66928" y="1133856"/>
            <a:ext cx="11057839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50" b="0" i="0">
                <a:solidFill>
                  <a:srgbClr val="3A3F47"/>
                </a:solidFill>
                <a:latin typeface="Arial"/>
                <a:cs typeface="Arial"/>
              </a:rPr>
              <a:t>Matched pairs: </a:t>
            </a:r>
            <a:r>
              <a:rPr sz="1450" b="1" i="0">
                <a:solidFill>
                  <a:srgbClr val="1E2430"/>
                </a:solidFill>
                <a:latin typeface="Arial"/>
                <a:cs typeface="Arial"/>
              </a:rPr>
              <a:t>the same model through both force paths</a:t>
            </a:r>
            <a:r>
              <a:rPr sz="1450" b="0" i="0">
                <a:solidFill>
                  <a:srgbClr val="3A3F47"/>
                </a:solidFill>
                <a:latin typeface="Arial"/>
                <a:cs typeface="Arial"/>
              </a:rPr>
              <a:t> — same mesh, same steps; only the assembly differs. Each pair exodiffs against one shared gold.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566928" y="1682496"/>
            <a:ext cx="6537960" cy="548640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9525">
            <a:solidFill>
              <a:srgbClr val="DADDE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786384" y="1728216"/>
            <a:ext cx="393192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50" b="1" i="0">
                <a:solidFill>
                  <a:srgbClr val="1E2430"/>
                </a:solidFill>
                <a:latin typeface="Arial"/>
                <a:cs typeface="Arial"/>
              </a:rPr>
              <a:t>2-D small strain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86384" y="1984248"/>
            <a:ext cx="5257800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0" i="0">
                <a:solidFill>
                  <a:srgbClr val="59595C"/>
                </a:solidFill>
                <a:latin typeface="Arial"/>
                <a:cs typeface="Arial"/>
              </a:rPr>
              <a:t>NEML2 J2 vs MOOSE native radial return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053328" y="1682496"/>
            <a:ext cx="868680" cy="54864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2000" b="1" i="0">
                <a:solidFill>
                  <a:srgbClr val="5E8614"/>
                </a:solidFill>
                <a:latin typeface="Arial"/>
                <a:cs typeface="Arial"/>
              </a:rPr>
              <a:t>✓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566928" y="2304288"/>
            <a:ext cx="6537960" cy="548640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9525">
            <a:solidFill>
              <a:srgbClr val="DADDE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786384" y="2350008"/>
            <a:ext cx="393192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50" b="1" i="0">
                <a:solidFill>
                  <a:srgbClr val="1E2430"/>
                </a:solidFill>
                <a:latin typeface="Arial"/>
                <a:cs typeface="Arial"/>
              </a:rPr>
              <a:t>RZ small strain, thermal JC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86384" y="2606040"/>
            <a:ext cx="5257800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0" i="0">
                <a:solidFill>
                  <a:srgbClr val="59595C"/>
                </a:solidFill>
                <a:latin typeface="Arial"/>
                <a:cs typeface="Arial"/>
              </a:rPr>
              <a:t>force path vs conventional NEML2 coupling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053328" y="2304288"/>
            <a:ext cx="868680" cy="54864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2000" b="1" i="0">
                <a:solidFill>
                  <a:srgbClr val="5E8614"/>
                </a:solidFill>
                <a:latin typeface="Arial"/>
                <a:cs typeface="Arial"/>
              </a:rPr>
              <a:t>✓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566928" y="2926080"/>
            <a:ext cx="6537960" cy="548640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9525">
            <a:solidFill>
              <a:srgbClr val="DADDE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786384" y="2971800"/>
            <a:ext cx="393192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50" b="1" i="0">
                <a:solidFill>
                  <a:srgbClr val="1E2430"/>
                </a:solidFill>
                <a:latin typeface="Arial"/>
                <a:cs typeface="Arial"/>
              </a:rPr>
              <a:t>RZ total-Lagrangian JC (PK1)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786384" y="3227832"/>
            <a:ext cx="5257800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0" i="0">
                <a:solidFill>
                  <a:srgbClr val="59595C"/>
                </a:solidFill>
                <a:latin typeface="Arial"/>
                <a:cs typeface="Arial"/>
              </a:rPr>
              <a:t>large deformation on the reference mesh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053328" y="2926080"/>
            <a:ext cx="868680" cy="54864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2000" b="1" i="0">
                <a:solidFill>
                  <a:srgbClr val="5E8614"/>
                </a:solidFill>
                <a:latin typeface="Arial"/>
                <a:cs typeface="Arial"/>
              </a:rPr>
              <a:t>✓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566928" y="3547872"/>
            <a:ext cx="6537960" cy="548640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9525">
            <a:solidFill>
              <a:srgbClr val="DADDE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786384" y="3593592"/>
            <a:ext cx="393192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50" b="1" i="0">
                <a:solidFill>
                  <a:srgbClr val="1E2430"/>
                </a:solidFill>
                <a:latin typeface="Arial"/>
                <a:cs typeface="Arial"/>
              </a:rPr>
              <a:t>RZ multiplicative JC  (F = FᵉFᵖ)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786384" y="3849624"/>
            <a:ext cx="5257800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0" i="0">
                <a:solidFill>
                  <a:srgbClr val="59595C"/>
                </a:solidFill>
                <a:latin typeface="Arial"/>
                <a:cs typeface="Arial"/>
              </a:rPr>
              <a:t>finite-strain plasticity, identity-seeded Fᵖ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053328" y="3547872"/>
            <a:ext cx="868680" cy="54864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2000" b="1" i="0">
                <a:solidFill>
                  <a:srgbClr val="5E8614"/>
                </a:solidFill>
                <a:latin typeface="Arial"/>
                <a:cs typeface="Arial"/>
              </a:rPr>
              <a:t>✓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566928" y="4169664"/>
            <a:ext cx="6537960" cy="548640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9525">
            <a:solidFill>
              <a:srgbClr val="DADDE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786384" y="4215384"/>
            <a:ext cx="393192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50" b="1" i="0">
                <a:solidFill>
                  <a:srgbClr val="1E2430"/>
                </a:solidFill>
                <a:latin typeface="Arial"/>
                <a:cs typeface="Arial"/>
              </a:rPr>
              <a:t>RZ multiplicative + F-bar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786384" y="4471416"/>
            <a:ext cx="5257800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0" i="0">
                <a:solidFill>
                  <a:srgbClr val="59595C"/>
                </a:solidFill>
                <a:latin typeface="Arial"/>
                <a:cs typeface="Arial"/>
              </a:rPr>
              <a:t>batched volumetric stabilization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053328" y="4169664"/>
            <a:ext cx="868680" cy="54864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2000" b="1" i="0">
                <a:solidFill>
                  <a:srgbClr val="5E8614"/>
                </a:solidFill>
                <a:latin typeface="Arial"/>
                <a:cs typeface="Arial"/>
              </a:rPr>
              <a:t>✓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566928" y="4791456"/>
            <a:ext cx="6537960" cy="548640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9525">
            <a:solidFill>
              <a:srgbClr val="DADDE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786384" y="4837176"/>
            <a:ext cx="393192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50" b="1" i="0">
                <a:solidFill>
                  <a:srgbClr val="1E2430"/>
                </a:solidFill>
                <a:latin typeface="Arial"/>
                <a:cs typeface="Arial"/>
              </a:rPr>
              <a:t>β = 0 thermal ≡ isothermal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786384" y="5093208"/>
            <a:ext cx="5257800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0" i="0">
                <a:solidFill>
                  <a:srgbClr val="59595C"/>
                </a:solidFill>
                <a:latin typeface="Arial"/>
                <a:cs typeface="Arial"/>
              </a:rPr>
              <a:t>in-model heating identity to 10⁻¹⁵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6053328" y="4791456"/>
            <a:ext cx="868680" cy="54864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2000" b="1" i="0">
                <a:solidFill>
                  <a:srgbClr val="5E8614"/>
                </a:solidFill>
                <a:latin typeface="Arial"/>
                <a:cs typeface="Arial"/>
              </a:rPr>
              <a:t>✓</a:t>
            </a:r>
          </a:p>
        </p:txBody>
      </p:sp>
      <p:sp>
        <p:nvSpPr>
          <p:cNvPr id="29" name="Rounded Rectangle 28"/>
          <p:cNvSpPr/>
          <p:nvPr/>
        </p:nvSpPr>
        <p:spPr>
          <a:xfrm>
            <a:off x="7516368" y="1682496"/>
            <a:ext cx="4108399" cy="1371600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2700">
            <a:solidFill>
              <a:srgbClr val="DADDE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Rectangle 29"/>
          <p:cNvSpPr/>
          <p:nvPr/>
        </p:nvSpPr>
        <p:spPr>
          <a:xfrm>
            <a:off x="7516368" y="1810512"/>
            <a:ext cx="54864" cy="1115568"/>
          </a:xfrm>
          <a:prstGeom prst="rect">
            <a:avLst/>
          </a:prstGeom>
          <a:solidFill>
            <a:srgbClr val="06509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7808976" y="1828800"/>
            <a:ext cx="3651199" cy="6858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4000" b="1" i="0">
                <a:solidFill>
                  <a:srgbClr val="06509D"/>
                </a:solidFill>
                <a:latin typeface="Arial"/>
                <a:cs typeface="Arial"/>
              </a:rPr>
              <a:t>≤ 3 × 10</a:t>
            </a:r>
            <a:r>
              <a:rPr sz="2600" b="1" i="0" baseline="30000">
                <a:solidFill>
                  <a:srgbClr val="06509D"/>
                </a:solidFill>
                <a:latin typeface="Arial"/>
                <a:cs typeface="Arial"/>
              </a:rPr>
              <a:t>−8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7827264" y="2578608"/>
            <a:ext cx="3605479" cy="4114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150" b="0" i="0">
                <a:solidFill>
                  <a:srgbClr val="3A3F47"/>
                </a:solidFill>
                <a:latin typeface="Arial"/>
                <a:cs typeface="Arial"/>
              </a:rPr>
              <a:t>max nodal-force difference (rel. to peak)</a:t>
            </a:r>
          </a:p>
        </p:txBody>
      </p:sp>
      <p:sp>
        <p:nvSpPr>
          <p:cNvPr id="33" name="Rounded Rectangle 32"/>
          <p:cNvSpPr/>
          <p:nvPr/>
        </p:nvSpPr>
        <p:spPr>
          <a:xfrm>
            <a:off x="7516368" y="3200400"/>
            <a:ext cx="4108399" cy="1371600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2700">
            <a:solidFill>
              <a:srgbClr val="DADDE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Rectangle 33"/>
          <p:cNvSpPr/>
          <p:nvPr/>
        </p:nvSpPr>
        <p:spPr>
          <a:xfrm>
            <a:off x="7516368" y="3328416"/>
            <a:ext cx="54864" cy="1115568"/>
          </a:xfrm>
          <a:prstGeom prst="rect">
            <a:avLst/>
          </a:prstGeom>
          <a:solidFill>
            <a:srgbClr val="5E861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7808976" y="3346704"/>
            <a:ext cx="3651199" cy="6858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4000" b="1" i="0">
                <a:solidFill>
                  <a:srgbClr val="5E8614"/>
                </a:solidFill>
                <a:latin typeface="Arial"/>
                <a:cs typeface="Arial"/>
              </a:rPr>
              <a:t>≤ 8 × 10</a:t>
            </a:r>
            <a:r>
              <a:rPr sz="2600" b="1" i="0" baseline="30000">
                <a:solidFill>
                  <a:srgbClr val="5E8614"/>
                </a:solidFill>
                <a:latin typeface="Arial"/>
                <a:cs typeface="Arial"/>
              </a:rPr>
              <a:t>−8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7827264" y="4096512"/>
            <a:ext cx="3605479" cy="4114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150" b="0" i="0">
                <a:solidFill>
                  <a:srgbClr val="3A3F47"/>
                </a:solidFill>
                <a:latin typeface="Arial"/>
                <a:cs typeface="Arial"/>
              </a:rPr>
              <a:t>max relative displacement difference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7562088" y="4764024"/>
            <a:ext cx="4016959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250" b="1" i="0">
                <a:solidFill>
                  <a:srgbClr val="1E2430"/>
                </a:solidFill>
                <a:latin typeface="Arial"/>
                <a:cs typeface="Arial"/>
              </a:rPr>
              <a:t>6,000× tighter</a:t>
            </a:r>
            <a:r>
              <a:rPr sz="1250" b="0" i="0">
                <a:solidFill>
                  <a:srgbClr val="3A3F47"/>
                </a:solidFill>
                <a:latin typeface="Arial"/>
                <a:cs typeface="Arial"/>
              </a:rPr>
              <a:t> than the regression tolerance — floating-point noise territory.</a:t>
            </a:r>
          </a:p>
        </p:txBody>
      </p:sp>
      <p:sp>
        <p:nvSpPr>
          <p:cNvPr id="38" name="Rounded Rectangle 37"/>
          <p:cNvSpPr/>
          <p:nvPr/>
        </p:nvSpPr>
        <p:spPr>
          <a:xfrm>
            <a:off x="566928" y="5376672"/>
            <a:ext cx="11057839" cy="658368"/>
          </a:xfrm>
          <a:prstGeom prst="roundRect">
            <a:avLst>
              <a:gd name="adj" fmla="val 5500"/>
            </a:avLst>
          </a:prstGeom>
          <a:solidFill>
            <a:srgbClr val="FDF0DF"/>
          </a:solidFill>
          <a:ln w="12700">
            <a:solidFill>
              <a:srgbClr val="B4620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TextBox 38"/>
          <p:cNvSpPr txBox="1"/>
          <p:nvPr/>
        </p:nvSpPr>
        <p:spPr>
          <a:xfrm>
            <a:off x="841248" y="5376672"/>
            <a:ext cx="10509199" cy="65836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500" b="1" i="0">
                <a:solidFill>
                  <a:srgbClr val="1E2430"/>
                </a:solidFill>
                <a:latin typeface="Arial"/>
                <a:cs typeface="Arial"/>
              </a:rPr>
              <a:t>Six matched pairs, one rule:</a:t>
            </a:r>
            <a:r>
              <a:rPr sz="1500" b="0" i="0">
                <a:solidFill>
                  <a:srgbClr val="3A3F47"/>
                </a:solidFill>
                <a:latin typeface="Arial"/>
                <a:cs typeface="Arial"/>
              </a:rPr>
              <a:t> the batched force path reproduces conventional assembly to machine precision — small strain through finite-strain plasticity, Cartesian and axisymmetric.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2600"/>
              <a:t>Reduced integration: one point per element, stabilized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1231575" y="274320"/>
            <a:ext cx="685800" cy="228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900" b="0" i="0">
                <a:solidFill>
                  <a:srgbClr val="59595C"/>
                </a:solidFill>
                <a:latin typeface="Arial"/>
                <a:cs typeface="Arial"/>
              </a:rPr>
              <a:t>14 / 19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66928" y="1344168"/>
            <a:ext cx="6675120" cy="39319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marL="219456" indent="-219456">
              <a:lnSpc>
                <a:spcPct val="106000"/>
              </a:lnSpc>
              <a:spcAft>
                <a:spcPts val="1500"/>
              </a:spcAft>
              <a:buClr>
                <a:srgbClr val="06509D"/>
              </a:buClr>
              <a:buFont typeface="Arial"/>
              <a:buChar char="•"/>
            </a:pPr>
            <a:r>
              <a:rPr sz="1500" b="0" i="0">
                <a:solidFill>
                  <a:srgbClr val="3A3F47"/>
                </a:solidFill>
                <a:latin typeface="Arial"/>
                <a:cs typeface="Arial"/>
              </a:rPr>
              <a:t>Full integration </a:t>
            </a:r>
            <a:r>
              <a:rPr sz="1500" b="1" i="0">
                <a:solidFill>
                  <a:srgbClr val="3A3F47"/>
                </a:solidFill>
                <a:latin typeface="Arial"/>
                <a:cs typeface="Arial"/>
              </a:rPr>
              <a:t>locks volumetrically</a:t>
            </a:r>
            <a:r>
              <a:rPr sz="1500" b="0" i="0">
                <a:solidFill>
                  <a:srgbClr val="3A3F47"/>
                </a:solidFill>
                <a:latin typeface="Arial"/>
                <a:cs typeface="Arial"/>
              </a:rPr>
              <a:t> under large plastic flow — the batched </a:t>
            </a:r>
            <a:r>
              <a:rPr sz="1500" b="1" i="0">
                <a:solidFill>
                  <a:srgbClr val="3A3F47"/>
                </a:solidFill>
                <a:latin typeface="Arial"/>
                <a:cs typeface="Arial"/>
              </a:rPr>
              <a:t>F-bar</a:t>
            </a:r>
            <a:r>
              <a:rPr sz="1500" b="0" i="0">
                <a:solidFill>
                  <a:srgbClr val="3A3F47"/>
                </a:solidFill>
                <a:latin typeface="Arial"/>
                <a:cs typeface="Arial"/>
              </a:rPr>
              <a:t> correction fixes it (verified to machine precision, previous slide)</a:t>
            </a:r>
          </a:p>
          <a:p>
            <a:pPr marL="219456" indent="-219456">
              <a:lnSpc>
                <a:spcPct val="106000"/>
              </a:lnSpc>
              <a:spcAft>
                <a:spcPts val="1500"/>
              </a:spcAft>
              <a:buClr>
                <a:srgbClr val="06509D"/>
              </a:buClr>
              <a:buFont typeface="Arial"/>
              <a:buChar char="•"/>
            </a:pPr>
            <a:r>
              <a:rPr sz="1500" b="0" i="0">
                <a:solidFill>
                  <a:srgbClr val="3A3F47"/>
                </a:solidFill>
                <a:latin typeface="Arial"/>
                <a:cs typeface="Arial"/>
              </a:rPr>
              <a:t>The production choice instead: </a:t>
            </a:r>
            <a:r>
              <a:rPr sz="1500" b="1" i="0">
                <a:solidFill>
                  <a:srgbClr val="1E2430"/>
                </a:solidFill>
                <a:latin typeface="Arial"/>
                <a:cs typeface="Arial"/>
              </a:rPr>
              <a:t>one-point quadrature</a:t>
            </a:r>
            <a:r>
              <a:rPr sz="1500" b="0" i="0">
                <a:solidFill>
                  <a:srgbClr val="3A3F47"/>
                </a:solidFill>
                <a:latin typeface="Arial"/>
                <a:cs typeface="Arial"/>
              </a:rPr>
              <a:t> — locking-free by construction and much cheaper per step</a:t>
            </a:r>
          </a:p>
          <a:p>
            <a:pPr marL="219456" indent="-219456">
              <a:lnSpc>
                <a:spcPct val="106000"/>
              </a:lnSpc>
              <a:spcAft>
                <a:spcPts val="1500"/>
              </a:spcAft>
              <a:buClr>
                <a:srgbClr val="06509D"/>
              </a:buClr>
              <a:buFont typeface="Arial"/>
              <a:buChar char="•"/>
            </a:pPr>
            <a:r>
              <a:rPr sz="1500" b="0" i="0">
                <a:solidFill>
                  <a:srgbClr val="3A3F47"/>
                </a:solidFill>
                <a:latin typeface="Arial"/>
                <a:cs typeface="Arial"/>
              </a:rPr>
              <a:t>Underintegration admits </a:t>
            </a:r>
            <a:r>
              <a:rPr sz="1500" b="1" i="0">
                <a:solidFill>
                  <a:srgbClr val="3A3F47"/>
                </a:solidFill>
                <a:latin typeface="Arial"/>
                <a:cs typeface="Arial"/>
              </a:rPr>
              <a:t>hourglass modes</a:t>
            </a:r>
            <a:r>
              <a:rPr sz="1500" b="0" i="0">
                <a:solidFill>
                  <a:srgbClr val="3A3F47"/>
                </a:solidFill>
                <a:latin typeface="Arial"/>
                <a:cs typeface="Arial"/>
              </a:rPr>
              <a:t> → stabilized by a batched Flanagan–Belytschko correction (QUAD4 + HEX8): remove the least-squares affine part of the element displacement, penalize the rest</a:t>
            </a:r>
          </a:p>
          <a:p>
            <a:pPr marL="219456" indent="-219456">
              <a:lnSpc>
                <a:spcPct val="106000"/>
              </a:lnSpc>
              <a:spcAft>
                <a:spcPts val="1500"/>
              </a:spcAft>
              <a:buClr>
                <a:srgbClr val="06509D"/>
              </a:buClr>
              <a:buFont typeface="Arial"/>
              <a:buChar char="•"/>
            </a:pPr>
            <a:r>
              <a:rPr sz="1500" b="0" i="0">
                <a:solidFill>
                  <a:srgbClr val="3A3F47"/>
                </a:solidFill>
                <a:latin typeface="Arial"/>
                <a:cs typeface="Arial"/>
              </a:rPr>
              <a:t>Penalty scale  c = 0.05 · μ · V/h²  uses the </a:t>
            </a:r>
            <a:r>
              <a:rPr sz="1500" b="1" i="0">
                <a:solidFill>
                  <a:srgbClr val="3A3F47"/>
                </a:solidFill>
                <a:latin typeface="Arial"/>
                <a:cs typeface="Arial"/>
              </a:rPr>
              <a:t>physical shear modulus</a:t>
            </a:r>
            <a:r>
              <a:rPr sz="1500" b="0" i="0">
                <a:solidFill>
                  <a:srgbClr val="3A3F47"/>
                </a:solidFill>
                <a:latin typeface="Arial"/>
                <a:cs typeface="Arial"/>
              </a:rPr>
              <a:t> — the classic coefficient, not a tunable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7699248" y="1207008"/>
            <a:ext cx="3925519" cy="1828800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2700">
            <a:solidFill>
              <a:srgbClr val="DADDE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7699248" y="1344168"/>
            <a:ext cx="54864" cy="1554480"/>
          </a:xfrm>
          <a:prstGeom prst="rect">
            <a:avLst/>
          </a:prstGeom>
          <a:solidFill>
            <a:srgbClr val="06509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019288" y="1408176"/>
            <a:ext cx="3376879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5200" b="1" i="0">
                <a:solidFill>
                  <a:srgbClr val="06509D"/>
                </a:solidFill>
                <a:latin typeface="Arial"/>
                <a:cs typeface="Arial"/>
              </a:rPr>
              <a:t>2.6×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037576" y="2395728"/>
            <a:ext cx="3331159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</a:pPr>
            <a:r>
              <a:rPr sz="1250" b="0" i="0">
                <a:solidFill>
                  <a:srgbClr val="3A3F47"/>
                </a:solidFill>
                <a:latin typeface="Arial"/>
                <a:cs typeface="Arial"/>
              </a:rPr>
              <a:t>faster per explicit step than full integration, same mesh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7699248" y="3310128"/>
            <a:ext cx="3925519" cy="1874519"/>
          </a:xfrm>
          <a:prstGeom prst="roundRect">
            <a:avLst>
              <a:gd name="adj" fmla="val 5500"/>
            </a:avLst>
          </a:prstGeom>
          <a:solidFill>
            <a:srgbClr val="EFF6DF"/>
          </a:solidFill>
          <a:ln w="12700">
            <a:solidFill>
              <a:srgbClr val="5E861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7936992" y="3474720"/>
            <a:ext cx="3450031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1" i="0">
                <a:solidFill>
                  <a:srgbClr val="5E8614"/>
                </a:solidFill>
                <a:latin typeface="Arial"/>
                <a:cs typeface="Arial"/>
              </a:rPr>
              <a:t>NOT A TUNING KNOB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955280" y="3813048"/>
            <a:ext cx="3413455" cy="12801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0" i="0">
                <a:solidFill>
                  <a:srgbClr val="3A3F47"/>
                </a:solidFill>
                <a:latin typeface="Arial"/>
                <a:cs typeface="Arial"/>
              </a:rPr>
              <a:t>Final profiles insensitive to the hourglass penalty over a </a:t>
            </a:r>
            <a:r>
              <a:rPr sz="1300" b="1" i="0">
                <a:solidFill>
                  <a:srgbClr val="1E2430"/>
                </a:solidFill>
                <a:latin typeface="Arial"/>
                <a:cs typeface="Arial"/>
              </a:rPr>
              <a:t>4× range</a:t>
            </a:r>
            <a:r>
              <a:rPr sz="1300" b="0" i="0">
                <a:solidFill>
                  <a:srgbClr val="3A3F47"/>
                </a:solidFill>
                <a:latin typeface="Arial"/>
                <a:cs typeface="Arial"/>
              </a:rPr>
              <a:t> — the physics does not hide in the stabilization.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566928" y="5376672"/>
            <a:ext cx="11057839" cy="658368"/>
          </a:xfrm>
          <a:prstGeom prst="roundRect">
            <a:avLst>
              <a:gd name="adj" fmla="val 5500"/>
            </a:avLst>
          </a:prstGeom>
          <a:solidFill>
            <a:srgbClr val="FDF0DF"/>
          </a:solidFill>
          <a:ln w="12700">
            <a:solidFill>
              <a:srgbClr val="B4620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841248" y="5376672"/>
            <a:ext cx="10509199" cy="65836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500" b="1" i="0">
                <a:solidFill>
                  <a:srgbClr val="1E2430"/>
                </a:solidFill>
                <a:latin typeface="Arial"/>
                <a:cs typeface="Arial"/>
              </a:rPr>
              <a:t>Every production run in the rest of this talk uses reduced integration + batched hourglass control.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2600"/>
              <a:t>After the first step, the element loop is empty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1231575" y="274320"/>
            <a:ext cx="685800" cy="228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900" b="0" i="0">
                <a:solidFill>
                  <a:srgbClr val="59595C"/>
                </a:solidFill>
                <a:latin typeface="Arial"/>
                <a:cs typeface="Arial"/>
              </a:rPr>
              <a:t>15 / 19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66928" y="1207008"/>
            <a:ext cx="603504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50" b="0" i="0">
                <a:solidFill>
                  <a:srgbClr val="3A3F47"/>
                </a:solidFill>
                <a:latin typeface="Arial"/>
                <a:cs typeface="Arial"/>
              </a:rPr>
              <a:t>Instrumented the FE element loop of the production RZ impact run: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566928" y="1664208"/>
            <a:ext cx="6035040" cy="1691640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2700">
            <a:solidFill>
              <a:srgbClr val="DADDE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804672" y="1810512"/>
            <a:ext cx="55778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50" b="1" i="0">
                <a:solidFill>
                  <a:srgbClr val="59595C"/>
                </a:solidFill>
                <a:latin typeface="Arial"/>
                <a:cs typeface="Arial"/>
              </a:rPr>
              <a:t>VOLUME ELEMENTS VISITED PER RESIDUAL EVALUATION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86968" y="2167128"/>
            <a:ext cx="5486400" cy="10058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1500" b="0" i="0">
                <a:solidFill>
                  <a:srgbClr val="1E2430"/>
                </a:solidFill>
                <a:latin typeface="Consolas"/>
                <a:cs typeface="Consolas"/>
              </a:rPr>
              <a:t>step 0:   </a:t>
            </a:r>
            <a:r>
              <a:rPr sz="1500" b="1" i="0">
                <a:solidFill>
                  <a:srgbClr val="06509D"/>
                </a:solidFill>
                <a:latin typeface="Consolas"/>
                <a:cs typeface="Consolas"/>
              </a:rPr>
              <a:t>640</a:t>
            </a:r>
            <a:r>
              <a:rPr sz="1150" b="0" i="0">
                <a:solidFill>
                  <a:srgbClr val="59595C"/>
                </a:solidFill>
                <a:latin typeface="Arial"/>
                <a:cs typeface="Arial"/>
              </a:rPr>
              <a:t>   (builds the device caches: φ, ∇φ, DOF maps, weights)</a:t>
            </a:r>
          </a:p>
          <a:p>
            <a:pPr algn="l">
              <a:lnSpc>
                <a:spcPct val="135000"/>
              </a:lnSpc>
            </a:pPr>
            <a:r>
              <a:rPr sz="1500" b="0" i="0">
                <a:solidFill>
                  <a:srgbClr val="1E2430"/>
                </a:solidFill>
                <a:latin typeface="Consolas"/>
                <a:cs typeface="Consolas"/>
              </a:rPr>
              <a:t>step 1:   </a:t>
            </a:r>
            <a:r>
              <a:rPr sz="1500" b="1" i="0">
                <a:solidFill>
                  <a:srgbClr val="5E8614"/>
                </a:solidFill>
                <a:latin typeface="Consolas"/>
                <a:cs typeface="Consolas"/>
              </a:rPr>
              <a:t>0</a:t>
            </a:r>
          </a:p>
          <a:p>
            <a:pPr algn="l">
              <a:lnSpc>
                <a:spcPct val="135000"/>
              </a:lnSpc>
            </a:pPr>
            <a:r>
              <a:rPr sz="1500" b="0" i="0">
                <a:solidFill>
                  <a:srgbClr val="1E2430"/>
                </a:solidFill>
                <a:latin typeface="Consolas"/>
                <a:cs typeface="Consolas"/>
              </a:rPr>
              <a:t>step n:   </a:t>
            </a:r>
            <a:r>
              <a:rPr sz="1500" b="1" i="0">
                <a:solidFill>
                  <a:srgbClr val="5E8614"/>
                </a:solidFill>
                <a:latin typeface="Consolas"/>
                <a:cs typeface="Consolas"/>
              </a:rPr>
              <a:t>0</a:t>
            </a:r>
            <a:r>
              <a:rPr sz="1150" b="0" i="0">
                <a:solidFill>
                  <a:srgbClr val="59595C"/>
                </a:solidFill>
                <a:latin typeface="Arial"/>
                <a:cs typeface="Arial"/>
              </a:rPr>
              <a:t>   — for the rest of the run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66928" y="3584448"/>
            <a:ext cx="6035040" cy="15544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marL="219456" indent="-219456">
              <a:lnSpc>
                <a:spcPct val="106000"/>
              </a:lnSpc>
              <a:spcAft>
                <a:spcPts val="1000"/>
              </a:spcAft>
              <a:buClr>
                <a:srgbClr val="06509D"/>
              </a:buClr>
              <a:buFont typeface="Arial"/>
              <a:buChar char="•"/>
            </a:pPr>
            <a:r>
              <a:rPr sz="1350" b="0" i="0">
                <a:solidFill>
                  <a:srgbClr val="3A3F47"/>
                </a:solidFill>
                <a:latin typeface="Arial"/>
                <a:cs typeface="Arial"/>
              </a:rPr>
              <a:t>The integrator installs a </a:t>
            </a:r>
            <a:r>
              <a:rPr sz="1350" b="1" i="0">
                <a:solidFill>
                  <a:srgbClr val="3A3F47"/>
                </a:solidFill>
                <a:latin typeface="Arial"/>
                <a:cs typeface="Arial"/>
              </a:rPr>
              <a:t>shrunken algebraic range</a:t>
            </a:r>
            <a:r>
              <a:rPr sz="1350" b="0" i="0">
                <a:solidFill>
                  <a:srgbClr val="3A3F47"/>
                </a:solidFill>
                <a:latin typeface="Arial"/>
                <a:cs typeface="Arial"/>
              </a:rPr>
              <a:t>: only elements adjacent to integrated BCs — none, with node-wise contact</a:t>
            </a:r>
          </a:p>
          <a:p>
            <a:pPr marL="219456" indent="-219456">
              <a:lnSpc>
                <a:spcPct val="106000"/>
              </a:lnSpc>
              <a:spcAft>
                <a:spcPts val="1000"/>
              </a:spcAft>
              <a:buClr>
                <a:srgbClr val="06509D"/>
              </a:buClr>
              <a:buFont typeface="Arial"/>
              <a:buChar char="•"/>
            </a:pPr>
            <a:r>
              <a:rPr sz="1350" b="0" i="0">
                <a:solidFill>
                  <a:srgbClr val="3A3F47"/>
                </a:solidFill>
                <a:latin typeface="Arial"/>
                <a:cs typeface="Arial"/>
              </a:rPr>
              <a:t>Contact runs on the </a:t>
            </a:r>
            <a:r>
              <a:rPr sz="1350" b="1" i="0">
                <a:solidFill>
                  <a:srgbClr val="3A3F47"/>
                </a:solidFill>
                <a:latin typeface="Arial"/>
                <a:cs typeface="Arial"/>
              </a:rPr>
              <a:t>9 impact-face nodes</a:t>
            </a:r>
            <a:r>
              <a:rPr sz="1350" b="0" i="0">
                <a:solidFill>
                  <a:srgbClr val="3A3F47"/>
                </a:solidFill>
                <a:latin typeface="Arial"/>
                <a:cs typeface="Arial"/>
              </a:rPr>
              <a:t> only (boundary-restricted nodal kernels)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7059168" y="1207008"/>
            <a:ext cx="4565599" cy="3977639"/>
          </a:xfrm>
          <a:prstGeom prst="roundRect">
            <a:avLst>
              <a:gd name="adj" fmla="val 5500"/>
            </a:avLst>
          </a:prstGeom>
          <a:solidFill>
            <a:srgbClr val="F4F5F7"/>
          </a:solidFill>
          <a:ln w="9525">
            <a:solidFill>
              <a:srgbClr val="DADDE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7296912" y="1389888"/>
            <a:ext cx="4090111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50" b="1" i="0">
                <a:solidFill>
                  <a:srgbClr val="59595C"/>
                </a:solidFill>
                <a:latin typeface="Arial"/>
                <a:cs typeface="Arial"/>
              </a:rPr>
              <a:t>MEASURED: ONE EXPLICIT STEP (53 ms, serial CPU)</a:t>
            </a:r>
          </a:p>
        </p:txBody>
      </p:sp>
      <p:sp>
        <p:nvSpPr>
          <p:cNvPr id="11" name="Rectangle 10"/>
          <p:cNvSpPr/>
          <p:nvPr/>
        </p:nvSpPr>
        <p:spPr>
          <a:xfrm>
            <a:off x="7333488" y="1773936"/>
            <a:ext cx="457200" cy="1737360"/>
          </a:xfrm>
          <a:prstGeom prst="rect">
            <a:avLst/>
          </a:prstGeom>
          <a:solidFill>
            <a:srgbClr val="FAE8ED"/>
          </a:solidFill>
          <a:ln w="12700">
            <a:solidFill>
              <a:srgbClr val="CF1D4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7973568" y="2478024"/>
            <a:ext cx="3376879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50" b="1" i="0">
                <a:solidFill>
                  <a:srgbClr val="1E2430"/>
                </a:solidFill>
                <a:latin typeface="Arial"/>
                <a:cs typeface="Arial"/>
              </a:rPr>
              <a:t>batched NEML2 constitutive call</a:t>
            </a:r>
            <a:r>
              <a:rPr sz="1100" b="1" i="0">
                <a:solidFill>
                  <a:srgbClr val="CF1D4C"/>
                </a:solidFill>
                <a:latin typeface="Arial"/>
                <a:cs typeface="Arial"/>
              </a:rPr>
              <a:t>   71%</a:t>
            </a:r>
          </a:p>
        </p:txBody>
      </p:sp>
      <p:sp>
        <p:nvSpPr>
          <p:cNvPr id="13" name="Rectangle 12"/>
          <p:cNvSpPr/>
          <p:nvPr/>
        </p:nvSpPr>
        <p:spPr>
          <a:xfrm>
            <a:off x="7333488" y="3639312"/>
            <a:ext cx="457200" cy="685800"/>
          </a:xfrm>
          <a:prstGeom prst="rect">
            <a:avLst/>
          </a:prstGeom>
          <a:solidFill>
            <a:srgbClr val="FFFFFF"/>
          </a:solidFill>
          <a:ln w="12700">
            <a:solidFill>
              <a:srgbClr val="59595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7973568" y="3817620"/>
            <a:ext cx="3376879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50" b="0" i="0">
                <a:solidFill>
                  <a:srgbClr val="3A3F47"/>
                </a:solidFill>
                <a:latin typeface="Arial"/>
                <a:cs typeface="Arial"/>
              </a:rPr>
              <a:t>integrator, aux, output</a:t>
            </a:r>
            <a:r>
              <a:rPr sz="1100" b="1" i="0">
                <a:solidFill>
                  <a:srgbClr val="59595C"/>
                </a:solidFill>
                <a:latin typeface="Arial"/>
                <a:cs typeface="Arial"/>
              </a:rPr>
              <a:t>   27%</a:t>
            </a:r>
          </a:p>
        </p:txBody>
      </p:sp>
      <p:sp>
        <p:nvSpPr>
          <p:cNvPr id="15" name="Rectangle 14"/>
          <p:cNvSpPr/>
          <p:nvPr/>
        </p:nvSpPr>
        <p:spPr>
          <a:xfrm>
            <a:off x="7333488" y="4453128"/>
            <a:ext cx="457200" cy="256032"/>
          </a:xfrm>
          <a:prstGeom prst="rect">
            <a:avLst/>
          </a:prstGeom>
          <a:solidFill>
            <a:srgbClr val="E6EEF7"/>
          </a:solidFill>
          <a:ln w="12700">
            <a:solidFill>
              <a:srgbClr val="06509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7973568" y="4416552"/>
            <a:ext cx="3376879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50" b="0" i="0">
                <a:solidFill>
                  <a:srgbClr val="3A3F47"/>
                </a:solidFill>
                <a:latin typeface="Arial"/>
                <a:cs typeface="Arial"/>
              </a:rPr>
              <a:t>contact + residual loops</a:t>
            </a:r>
            <a:r>
              <a:rPr sz="1100" b="1" i="0">
                <a:solidFill>
                  <a:srgbClr val="06509D"/>
                </a:solidFill>
                <a:latin typeface="Arial"/>
                <a:cs typeface="Arial"/>
              </a:rPr>
              <a:t>   2%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7333488" y="4928616"/>
            <a:ext cx="4016959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050" b="0" i="1">
                <a:solidFill>
                  <a:srgbClr val="59595C"/>
                </a:solidFill>
                <a:latin typeface="Arial"/>
                <a:cs typeface="Arial"/>
              </a:rPr>
              <a:t>2,000-step production benchmark; geometry caches never rebuilt (0.000 s total)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566928" y="5376672"/>
            <a:ext cx="11057839" cy="658368"/>
          </a:xfrm>
          <a:prstGeom prst="roundRect">
            <a:avLst>
              <a:gd name="adj" fmla="val 5500"/>
            </a:avLst>
          </a:prstGeom>
          <a:solidFill>
            <a:srgbClr val="FDF0DF"/>
          </a:solidFill>
          <a:ln w="12700">
            <a:solidFill>
              <a:srgbClr val="B4620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841248" y="5376672"/>
            <a:ext cx="10509199" cy="65836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500" b="1" i="0">
                <a:solidFill>
                  <a:srgbClr val="1E2430"/>
                </a:solidFill>
                <a:latin typeface="Arial"/>
                <a:cs typeface="Arial"/>
              </a:rPr>
              <a:t>Per-step cost ≈ one batched constitutive call.</a:t>
            </a:r>
            <a:r>
              <a:rPr sz="1500" b="0" i="0">
                <a:solidFill>
                  <a:srgbClr val="3A3F47"/>
                </a:solidFill>
                <a:latin typeface="Arial"/>
                <a:cs typeface="Arial"/>
              </a:rPr>
              <a:t> That call is exactly the work that moves to the GPU — everything around it is already negligible.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2600"/>
              <a:t>3-D Taylor anvil impact, end to end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1231575" y="274320"/>
            <a:ext cx="685800" cy="228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900" b="0" i="0">
                <a:solidFill>
                  <a:srgbClr val="59595C"/>
                </a:solidFill>
                <a:latin typeface="Arial"/>
                <a:cs typeface="Arial"/>
              </a:rPr>
              <a:t>16 / 19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66928" y="1133856"/>
            <a:ext cx="11057839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50" b="0" i="0">
                <a:solidFill>
                  <a:srgbClr val="3A3F47"/>
                </a:solidFill>
                <a:latin typeface="Arial"/>
                <a:cs typeface="Arial"/>
              </a:rPr>
              <a:t>OFHC copper slug at </a:t>
            </a:r>
            <a:r>
              <a:rPr sz="1450" b="1" i="0">
                <a:solidFill>
                  <a:srgbClr val="1E2430"/>
                </a:solidFill>
                <a:latin typeface="Arial"/>
                <a:cs typeface="Arial"/>
              </a:rPr>
              <a:t>235.9 m/s</a:t>
            </a:r>
            <a:r>
              <a:rPr sz="1450" b="0" i="0">
                <a:solidFill>
                  <a:srgbClr val="3A3F47"/>
                </a:solidFill>
                <a:latin typeface="Arial"/>
                <a:cs typeface="Arial"/>
              </a:rPr>
              <a:t> — calibrated multiplicative Johnson–Cook · reduced integration · Δt = 10 ns · </a:t>
            </a:r>
            <a:r>
              <a:rPr sz="1450" b="1" i="0">
                <a:solidFill>
                  <a:srgbClr val="1E2430"/>
                </a:solidFill>
                <a:latin typeface="Arial"/>
                <a:cs typeface="Arial"/>
              </a:rPr>
              <a:t>9,600+ explicit steps</a:t>
            </a:r>
          </a:p>
        </p:txBody>
      </p:sp>
      <p:pic>
        <p:nvPicPr>
          <p:cNvPr id="5" name="Picture 4" descr="fig_pstrain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15568" y="1627632"/>
            <a:ext cx="8778240" cy="2259290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1207008" y="3914354"/>
            <a:ext cx="10058400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0" i="1">
                <a:solidFill>
                  <a:srgbClr val="59595C"/>
                </a:solidFill>
                <a:latin typeface="Arial"/>
                <a:cs typeface="Arial"/>
              </a:rPr>
              <a:t>cutaway views (near half removed) — plastic strain localizes at the impact foot; gray plane = rigid anvil</a:t>
            </a:r>
          </a:p>
        </p:txBody>
      </p:sp>
      <p:pic>
        <p:nvPicPr>
          <p:cNvPr id="7" name="Picture 6" descr="fig_profil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66928" y="4179530"/>
            <a:ext cx="3931920" cy="1438444"/>
          </a:xfrm>
          <a:prstGeom prst="rect">
            <a:avLst/>
          </a:prstGeom>
        </p:spPr>
      </p:pic>
      <p:sp>
        <p:nvSpPr>
          <p:cNvPr id="8" name="TextBox 7"/>
          <p:cNvSpPr txBox="1"/>
          <p:nvPr/>
        </p:nvSpPr>
        <p:spPr>
          <a:xfrm>
            <a:off x="4956048" y="4270970"/>
            <a:ext cx="6668719" cy="1529884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marL="219456" indent="-219456">
              <a:lnSpc>
                <a:spcPct val="106000"/>
              </a:lnSpc>
              <a:spcAft>
                <a:spcPts val="1000"/>
              </a:spcAft>
              <a:buClr>
                <a:srgbClr val="06509D"/>
              </a:buClr>
              <a:buFont typeface="Arial"/>
              <a:buChar char="•"/>
            </a:pPr>
            <a:r>
              <a:rPr sz="1350" b="0" i="0">
                <a:solidFill>
                  <a:srgbClr val="3A3F47"/>
                </a:solidFill>
                <a:latin typeface="Arial"/>
                <a:cs typeface="Arial"/>
              </a:rPr>
              <a:t>Same mesh, BCs, integrator — the temper is swapped by </a:t>
            </a:r>
            <a:r>
              <a:rPr sz="1350" b="1" i="0">
                <a:solidFill>
                  <a:srgbClr val="3A3F47"/>
                </a:solidFill>
                <a:latin typeface="Arial"/>
                <a:cs typeface="Arial"/>
              </a:rPr>
              <a:t>one NEML2 parameter</a:t>
            </a:r>
            <a:r>
              <a:rPr sz="1350" b="0" i="0">
                <a:solidFill>
                  <a:srgbClr val="3A3F47"/>
                </a:solidFill>
                <a:latin typeface="Arial"/>
                <a:cs typeface="Arial"/>
              </a:rPr>
              <a:t>: the prior cold work (initial plastic strain)</a:t>
            </a:r>
          </a:p>
          <a:p>
            <a:pPr marL="219456" indent="-219456">
              <a:lnSpc>
                <a:spcPct val="106000"/>
              </a:lnSpc>
              <a:spcAft>
                <a:spcPts val="1000"/>
              </a:spcAft>
              <a:buClr>
                <a:srgbClr val="06509D"/>
              </a:buClr>
              <a:buFont typeface="Arial"/>
              <a:buChar char="•"/>
            </a:pPr>
            <a:r>
              <a:rPr sz="1350" b="0" i="0">
                <a:solidFill>
                  <a:srgbClr val="3A3F47"/>
                </a:solidFill>
                <a:latin typeface="Arial"/>
                <a:cs typeface="Arial"/>
              </a:rPr>
              <a:t>Full-hard </a:t>
            </a:r>
            <a:r>
              <a:rPr sz="1350" b="1" i="0">
                <a:solidFill>
                  <a:srgbClr val="CF1D4C"/>
                </a:solidFill>
                <a:latin typeface="Arial"/>
                <a:cs typeface="Arial"/>
              </a:rPr>
              <a:t>39%</a:t>
            </a:r>
            <a:r>
              <a:rPr sz="1350" b="0" i="0">
                <a:solidFill>
                  <a:srgbClr val="3A3F47"/>
                </a:solidFill>
                <a:latin typeface="Arial"/>
                <a:cs typeface="Arial"/>
              </a:rPr>
              <a:t> vs annealed </a:t>
            </a:r>
            <a:r>
              <a:rPr sz="1350" b="1" i="0">
                <a:solidFill>
                  <a:srgbClr val="06509D"/>
                </a:solidFill>
                <a:latin typeface="Arial"/>
                <a:cs typeface="Arial"/>
              </a:rPr>
              <a:t>43%</a:t>
            </a:r>
            <a:r>
              <a:rPr sz="1350" b="0" i="0">
                <a:solidFill>
                  <a:srgbClr val="3A3F47"/>
                </a:solidFill>
                <a:latin typeface="Arial"/>
                <a:cs typeface="Arial"/>
              </a:rPr>
              <a:t> axial shortening — temper sensitivity captured</a:t>
            </a:r>
          </a:p>
          <a:p>
            <a:pPr marL="219456" indent="-219456">
              <a:lnSpc>
                <a:spcPct val="106000"/>
              </a:lnSpc>
              <a:spcAft>
                <a:spcPts val="1000"/>
              </a:spcAft>
              <a:buClr>
                <a:srgbClr val="06509D"/>
              </a:buClr>
              <a:buFont typeface="Arial"/>
              <a:buChar char="•"/>
            </a:pPr>
            <a:r>
              <a:rPr sz="1350" b="0" i="0">
                <a:solidFill>
                  <a:srgbClr val="3A3F47"/>
                </a:solidFill>
                <a:latin typeface="Arial"/>
                <a:cs typeface="Arial"/>
              </a:rPr>
              <a:t>3-D full-hard shortening matches the calibrated axisymmetric model (</a:t>
            </a:r>
            <a:r>
              <a:rPr sz="1350" b="1" i="0">
                <a:solidFill>
                  <a:srgbClr val="1E2430"/>
                </a:solidFill>
                <a:latin typeface="Arial"/>
                <a:cs typeface="Arial"/>
              </a:rPr>
              <a:t>39.5%</a:t>
            </a:r>
            <a:r>
              <a:rPr sz="1350" b="0" i="0">
                <a:solidFill>
                  <a:srgbClr val="3A3F47"/>
                </a:solidFill>
                <a:latin typeface="Arial"/>
                <a:cs typeface="Arial"/>
              </a:rPr>
              <a:t>) — cross-dimensional consistency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2600"/>
              <a:t>Coupled thermo-mechanics: heating from plastic work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1231575" y="274320"/>
            <a:ext cx="685800" cy="228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900" b="0" i="0">
                <a:solidFill>
                  <a:srgbClr val="59595C"/>
                </a:solidFill>
                <a:latin typeface="Arial"/>
                <a:cs typeface="Arial"/>
              </a:rPr>
              <a:t>17 / 19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66928" y="1133856"/>
            <a:ext cx="11057839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50" b="0" i="0">
                <a:solidFill>
                  <a:srgbClr val="3A3F47"/>
                </a:solidFill>
                <a:latin typeface="Arial"/>
                <a:cs typeface="Arial"/>
              </a:rPr>
              <a:t>The run you just saw is coupled — temperature integrated </a:t>
            </a:r>
            <a:r>
              <a:rPr sz="1450" b="1" i="0">
                <a:solidFill>
                  <a:srgbClr val="1E2430"/>
                </a:solidFill>
                <a:latin typeface="Arial"/>
                <a:cs typeface="Arial"/>
              </a:rPr>
              <a:t>inside the NEML2 model</a:t>
            </a:r>
            <a:r>
              <a:rPr sz="1450" b="0" i="0">
                <a:solidFill>
                  <a:srgbClr val="3A3F47"/>
                </a:solidFill>
                <a:latin typeface="Arial"/>
                <a:cs typeface="Arial"/>
              </a:rPr>
              <a:t> (adiabatic Taylor–Quinney heating, β = 0.9)</a:t>
            </a:r>
          </a:p>
        </p:txBody>
      </p:sp>
      <p:pic>
        <p:nvPicPr>
          <p:cNvPr id="5" name="Picture 4" descr="fig_thermal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755648" y="1609344"/>
            <a:ext cx="7498079" cy="1921582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1847088" y="3558358"/>
            <a:ext cx="10058400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0" i="1">
                <a:solidFill>
                  <a:srgbClr val="59595C"/>
                </a:solidFill>
                <a:latin typeface="Arial"/>
                <a:cs typeface="Arial"/>
              </a:rPr>
              <a:t>temperature rise above 300 K, cutaway views — run to rebound at 96 µs, &gt;99% of the impact kinetic energy dissipated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66928" y="3878398"/>
            <a:ext cx="3442106" cy="960120"/>
          </a:xfrm>
          <a:prstGeom prst="roundRect">
            <a:avLst>
              <a:gd name="adj" fmla="val 5500"/>
            </a:avLst>
          </a:prstGeom>
          <a:solidFill>
            <a:srgbClr val="F4F5F7"/>
          </a:solidFill>
          <a:ln w="9525">
            <a:solidFill>
              <a:srgbClr val="DADDE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566928" y="3960694"/>
            <a:ext cx="50292" cy="795528"/>
          </a:xfrm>
          <a:prstGeom prst="rect">
            <a:avLst/>
          </a:prstGeom>
          <a:solidFill>
            <a:srgbClr val="CF1D4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786384" y="3951550"/>
            <a:ext cx="303977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2000"/>
              </a:lnSpc>
            </a:pPr>
            <a:r>
              <a:rPr sz="1200" b="1" i="0">
                <a:solidFill>
                  <a:srgbClr val="1E2430"/>
                </a:solidFill>
                <a:latin typeface="Arial"/>
                <a:cs typeface="Arial"/>
              </a:rPr>
              <a:t>Feeds back into the flow stress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86384" y="4271590"/>
            <a:ext cx="303977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6000"/>
              </a:lnSpc>
            </a:pPr>
            <a:r>
              <a:rPr sz="1000" b="0" i="0">
                <a:solidFill>
                  <a:srgbClr val="3A3F47"/>
                </a:solidFill>
                <a:latin typeface="Arial"/>
                <a:cs typeface="Arial"/>
              </a:rPr>
              <a:t>the hot foot softens (Johnson–Cook Θ = 1 − T*ᵐ) and flows more easily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4374794" y="3878398"/>
            <a:ext cx="3442106" cy="960120"/>
          </a:xfrm>
          <a:prstGeom prst="roundRect">
            <a:avLst>
              <a:gd name="adj" fmla="val 5500"/>
            </a:avLst>
          </a:prstGeom>
          <a:solidFill>
            <a:srgbClr val="F4F5F7"/>
          </a:solidFill>
          <a:ln w="9525">
            <a:solidFill>
              <a:srgbClr val="DADDE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4374794" y="3960694"/>
            <a:ext cx="50292" cy="795528"/>
          </a:xfrm>
          <a:prstGeom prst="rect">
            <a:avLst/>
          </a:prstGeom>
          <a:solidFill>
            <a:srgbClr val="06509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4594250" y="3951550"/>
            <a:ext cx="303977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2000"/>
              </a:lnSpc>
            </a:pPr>
            <a:r>
              <a:rPr sz="1200" b="1" i="0">
                <a:solidFill>
                  <a:srgbClr val="1E2430"/>
                </a:solidFill>
                <a:latin typeface="Arial"/>
                <a:cs typeface="Arial"/>
              </a:rPr>
              <a:t>Adiabatic by physics, not assumption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594250" y="4271590"/>
            <a:ext cx="303977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6000"/>
              </a:lnSpc>
            </a:pPr>
            <a:r>
              <a:rPr sz="1000" b="0" i="0">
                <a:solidFill>
                  <a:srgbClr val="3A3F47"/>
                </a:solidFill>
                <a:latin typeface="Arial"/>
                <a:cs typeface="Arial"/>
              </a:rPr>
              <a:t>diffusion length √(αt) ≈ 0.1 mm ≪ element size over the ~100 µs run — no heat-conduction PDE needed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8182660" y="3878398"/>
            <a:ext cx="3442106" cy="960120"/>
          </a:xfrm>
          <a:prstGeom prst="roundRect">
            <a:avLst>
              <a:gd name="adj" fmla="val 5500"/>
            </a:avLst>
          </a:prstGeom>
          <a:solidFill>
            <a:srgbClr val="F4F5F7"/>
          </a:solidFill>
          <a:ln w="9525">
            <a:solidFill>
              <a:srgbClr val="DADDE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8182660" y="3960694"/>
            <a:ext cx="50292" cy="795528"/>
          </a:xfrm>
          <a:prstGeom prst="rect">
            <a:avLst/>
          </a:prstGeom>
          <a:solidFill>
            <a:srgbClr val="5E861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8402116" y="3951550"/>
            <a:ext cx="303977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2000"/>
              </a:lnSpc>
            </a:pPr>
            <a:r>
              <a:rPr sz="1200" b="1" i="0">
                <a:solidFill>
                  <a:srgbClr val="1E2430"/>
                </a:solidFill>
                <a:latin typeface="Arial"/>
                <a:cs typeface="Arial"/>
              </a:rPr>
              <a:t>Three extra NEML2 model blocks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8402116" y="4271590"/>
            <a:ext cx="303977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6000"/>
              </a:lnSpc>
            </a:pPr>
            <a:r>
              <a:rPr sz="1000" b="0" i="0">
                <a:solidFill>
                  <a:srgbClr val="3A3F47"/>
                </a:solidFill>
                <a:latin typeface="Arial"/>
                <a:cs typeface="Arial"/>
              </a:rPr>
              <a:t>no new MOOSE modules, no new transfers — temperature state lives on the device like everything else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2600"/>
              <a:t>Validation: calibrated against a scanned specimen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1231575" y="274320"/>
            <a:ext cx="685800" cy="228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900" b="0" i="0">
                <a:solidFill>
                  <a:srgbClr val="59595C"/>
                </a:solidFill>
                <a:latin typeface="Arial"/>
                <a:cs typeface="Arial"/>
              </a:rPr>
              <a:t>18 / 19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66928" y="1133856"/>
            <a:ext cx="11057839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50" b="0" i="0">
                <a:solidFill>
                  <a:srgbClr val="3A3F47"/>
                </a:solidFill>
                <a:latin typeface="Arial"/>
                <a:cs typeface="Arial"/>
              </a:rPr>
              <a:t>Laser-scanned recovered specimen (OFHC copper, 235.9 m/s) → axis-corrected profile target → </a:t>
            </a:r>
            <a:r>
              <a:rPr sz="1450" b="1" i="0">
                <a:solidFill>
                  <a:srgbClr val="1E2430"/>
                </a:solidFill>
                <a:latin typeface="Arial"/>
                <a:cs typeface="Arial"/>
              </a:rPr>
              <a:t>Bayesian calibration of the Johnson–Cook parameters</a:t>
            </a:r>
          </a:p>
        </p:txBody>
      </p:sp>
      <p:pic>
        <p:nvPicPr>
          <p:cNvPr id="5" name="Picture 4" descr="fig_calibration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58368" y="1709928"/>
            <a:ext cx="6949440" cy="2918764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749808" y="4683556"/>
            <a:ext cx="6949440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50" b="0" i="1">
                <a:solidFill>
                  <a:srgbClr val="59595C"/>
                </a:solidFill>
                <a:latin typeface="Arial"/>
                <a:cs typeface="Arial"/>
              </a:rPr>
              <a:t>final deformed profile, RZ production model at the calibrated posterior median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8065008" y="1755648"/>
            <a:ext cx="3559759" cy="786384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9525">
            <a:solidFill>
              <a:srgbClr val="DADDE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8065008" y="1847088"/>
            <a:ext cx="50292" cy="603504"/>
          </a:xfrm>
          <a:prstGeom prst="rect">
            <a:avLst/>
          </a:prstGeom>
          <a:solidFill>
            <a:srgbClr val="59595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8302752" y="1828800"/>
            <a:ext cx="3102559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200" b="1" i="0">
                <a:solidFill>
                  <a:srgbClr val="59595C"/>
                </a:solidFill>
                <a:latin typeface="Arial"/>
                <a:cs typeface="Arial"/>
              </a:rPr>
              <a:t>159 µm</a:t>
            </a:r>
            <a:r>
              <a:rPr sz="1050" b="0" i="0">
                <a:solidFill>
                  <a:srgbClr val="59595C"/>
                </a:solidFill>
                <a:latin typeface="Arial"/>
                <a:cs typeface="Arial"/>
              </a:rPr>
              <a:t>  profile RMS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302752" y="2231136"/>
            <a:ext cx="3102559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50" b="0" i="0">
                <a:solidFill>
                  <a:srgbClr val="3A3F47"/>
                </a:solidFill>
                <a:latin typeface="Arial"/>
                <a:cs typeface="Arial"/>
              </a:rPr>
              <a:t>hand-tuned</a:t>
            </a:r>
          </a:p>
        </p:txBody>
      </p:sp>
      <p:cxnSp>
        <p:nvCxnSpPr>
          <p:cNvPr id="11" name="Connector 10"/>
          <p:cNvCxnSpPr/>
          <p:nvPr/>
        </p:nvCxnSpPr>
        <p:spPr>
          <a:xfrm>
            <a:off x="9844887.5" y="2560320"/>
            <a:ext cx="0.0" cy="256032"/>
          </a:xfrm>
          <a:prstGeom prst="line">
            <a:avLst/>
          </a:prstGeom>
          <a:ln w="22225">
            <a:solidFill>
              <a:srgbClr val="1E2430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2" name="Rounded Rectangle 11"/>
          <p:cNvSpPr/>
          <p:nvPr/>
        </p:nvSpPr>
        <p:spPr>
          <a:xfrm>
            <a:off x="8065008" y="2871216"/>
            <a:ext cx="3559759" cy="786384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9525">
            <a:solidFill>
              <a:srgbClr val="DADDE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8065008" y="2962656"/>
            <a:ext cx="50292" cy="603504"/>
          </a:xfrm>
          <a:prstGeom prst="rect">
            <a:avLst/>
          </a:prstGeom>
          <a:solidFill>
            <a:srgbClr val="06509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8302752" y="2944368"/>
            <a:ext cx="3102559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200" b="1" i="0">
                <a:solidFill>
                  <a:srgbClr val="06509D"/>
                </a:solidFill>
                <a:latin typeface="Arial"/>
                <a:cs typeface="Arial"/>
              </a:rPr>
              <a:t>81 µm</a:t>
            </a:r>
            <a:r>
              <a:rPr sz="1050" b="0" i="0">
                <a:solidFill>
                  <a:srgbClr val="59595C"/>
                </a:solidFill>
                <a:latin typeface="Arial"/>
                <a:cs typeface="Arial"/>
              </a:rPr>
              <a:t>  profile RMS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302752" y="3346704"/>
            <a:ext cx="3102559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50" b="0" i="0">
                <a:solidFill>
                  <a:srgbClr val="3A3F47"/>
                </a:solidFill>
                <a:latin typeface="Arial"/>
                <a:cs typeface="Arial"/>
              </a:rPr>
              <a:t>Bayesian posterior median</a:t>
            </a:r>
          </a:p>
        </p:txBody>
      </p:sp>
      <p:cxnSp>
        <p:nvCxnSpPr>
          <p:cNvPr id="16" name="Connector 15"/>
          <p:cNvCxnSpPr/>
          <p:nvPr/>
        </p:nvCxnSpPr>
        <p:spPr>
          <a:xfrm>
            <a:off x="9844887.5" y="3675888"/>
            <a:ext cx="0.0" cy="256032"/>
          </a:xfrm>
          <a:prstGeom prst="line">
            <a:avLst/>
          </a:prstGeom>
          <a:ln w="22225">
            <a:solidFill>
              <a:srgbClr val="1E2430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7" name="Rounded Rectangle 16"/>
          <p:cNvSpPr/>
          <p:nvPr/>
        </p:nvSpPr>
        <p:spPr>
          <a:xfrm>
            <a:off x="8065008" y="3986784"/>
            <a:ext cx="3559759" cy="786384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9525">
            <a:solidFill>
              <a:srgbClr val="DADDE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8065008" y="4078224"/>
            <a:ext cx="50292" cy="603504"/>
          </a:xfrm>
          <a:prstGeom prst="rect">
            <a:avLst/>
          </a:prstGeom>
          <a:solidFill>
            <a:srgbClr val="5E861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8302752" y="4059936"/>
            <a:ext cx="3102559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200" b="1" i="0">
                <a:solidFill>
                  <a:srgbClr val="5E8614"/>
                </a:solidFill>
                <a:latin typeface="Arial"/>
                <a:cs typeface="Arial"/>
              </a:rPr>
              <a:t>69 µm</a:t>
            </a:r>
            <a:r>
              <a:rPr sz="1050" b="0" i="0">
                <a:solidFill>
                  <a:srgbClr val="59595C"/>
                </a:solidFill>
                <a:latin typeface="Arial"/>
                <a:cs typeface="Arial"/>
              </a:rPr>
              <a:t>  profile RMS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8302752" y="4462272"/>
            <a:ext cx="3102559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50" b="0" i="0">
                <a:solidFill>
                  <a:srgbClr val="3A3F47"/>
                </a:solidFill>
                <a:latin typeface="Arial"/>
                <a:cs typeface="Arial"/>
              </a:rPr>
              <a:t>+ frictionless anvil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566928" y="5376672"/>
            <a:ext cx="11057839" cy="658368"/>
          </a:xfrm>
          <a:prstGeom prst="roundRect">
            <a:avLst>
              <a:gd name="adj" fmla="val 5500"/>
            </a:avLst>
          </a:prstGeom>
          <a:solidFill>
            <a:srgbClr val="FDF0DF"/>
          </a:solidFill>
          <a:ln w="12700">
            <a:solidFill>
              <a:srgbClr val="B4620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841248" y="5376672"/>
            <a:ext cx="10509199" cy="65836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500" b="1" i="0">
                <a:solidFill>
                  <a:srgbClr val="1E2430"/>
                </a:solidFill>
                <a:latin typeface="Arial"/>
                <a:cs typeface="Arial"/>
              </a:rPr>
              <a:t>96-run Sobol design on the production model → GP emulator → posterior.</a:t>
            </a:r>
            <a:r>
              <a:rPr sz="1500" b="0" i="0">
                <a:solidFill>
                  <a:srgbClr val="3A3F47"/>
                </a:solidFill>
                <a:latin typeface="Arial"/>
                <a:cs typeface="Arial"/>
              </a:rPr>
              <a:t> The data rejects anvil friction, and one shot cannot separate A–B–n–C — multi-velocity shots are next.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2600"/>
              <a:t>Takeaways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1231575" y="274320"/>
            <a:ext cx="685800" cy="228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900" b="0" i="0">
                <a:solidFill>
                  <a:srgbClr val="59595C"/>
                </a:solidFill>
                <a:latin typeface="Arial"/>
                <a:cs typeface="Arial"/>
              </a:rPr>
              <a:t>19 / 19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566928" y="1298448"/>
            <a:ext cx="11057839" cy="841248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9525">
            <a:solidFill>
              <a:srgbClr val="DADDE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768096" y="1508760"/>
            <a:ext cx="420624" cy="420624"/>
          </a:xfrm>
          <a:prstGeom prst="roundRect">
            <a:avLst>
              <a:gd name="adj" fmla="val 5500"/>
            </a:avLst>
          </a:prstGeom>
          <a:solidFill>
            <a:srgbClr val="06509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27432" bIns="27432"/>
          <a:lstStyle/>
          <a:p>
            <a:pPr algn="ctr"/>
            <a:r>
              <a:rPr sz="1600" b="1" i="0">
                <a:solidFill>
                  <a:srgbClr val="FFFFFF"/>
                </a:solidFill>
                <a:latin typeface="Arial"/>
                <a:cs typeface="Arial"/>
              </a:rPr>
              <a:t>1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435608" y="1417320"/>
            <a:ext cx="9869119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550" b="1" i="0">
                <a:solidFill>
                  <a:srgbClr val="1E2430"/>
                </a:solidFill>
                <a:latin typeface="Arial"/>
                <a:cs typeface="Arial"/>
              </a:rPr>
              <a:t>NEML2 assembles the internal nodal forces inside MOOSE explicit dynamics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435608" y="1773936"/>
            <a:ext cx="9869119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00" b="0" i="0">
                <a:solidFill>
                  <a:srgbClr val="59595C"/>
                </a:solidFill>
                <a:latin typeface="Arial"/>
                <a:cs typeface="Arial"/>
              </a:rPr>
              <a:t>batched, device-resident; state advances in place; one upload + one download per step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66928" y="2267712"/>
            <a:ext cx="11057839" cy="841248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9525">
            <a:solidFill>
              <a:srgbClr val="DADDE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ounded Rectangle 8"/>
          <p:cNvSpPr/>
          <p:nvPr/>
        </p:nvSpPr>
        <p:spPr>
          <a:xfrm>
            <a:off x="768096" y="2478024"/>
            <a:ext cx="420624" cy="420624"/>
          </a:xfrm>
          <a:prstGeom prst="roundRect">
            <a:avLst>
              <a:gd name="adj" fmla="val 5500"/>
            </a:avLst>
          </a:prstGeom>
          <a:solidFill>
            <a:srgbClr val="5E861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27432" bIns="27432"/>
          <a:lstStyle/>
          <a:p>
            <a:pPr algn="ctr"/>
            <a:r>
              <a:rPr sz="1600" b="1" i="0">
                <a:solidFill>
                  <a:srgbClr val="FFFFFF"/>
                </a:solidFill>
                <a:latin typeface="Arial"/>
                <a:cs typeface="Arial"/>
              </a:rPr>
              <a:t>2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435608" y="2386584"/>
            <a:ext cx="9869119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550" b="1" i="0">
                <a:solidFill>
                  <a:srgbClr val="1E2430"/>
                </a:solidFill>
                <a:latin typeface="Arial"/>
                <a:cs typeface="Arial"/>
              </a:rPr>
              <a:t>Verified to machine precision across formulations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435608" y="2743200"/>
            <a:ext cx="9869119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00" b="0" i="0">
                <a:solidFill>
                  <a:srgbClr val="59595C"/>
                </a:solidFill>
                <a:latin typeface="Arial"/>
                <a:cs typeface="Arial"/>
              </a:rPr>
              <a:t>small strain → total-Lagrangian → multiplicative plasticity, Cartesian and axisymmetric, incl. F-bar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566928" y="3236976"/>
            <a:ext cx="11057839" cy="841248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9525">
            <a:solidFill>
              <a:srgbClr val="DADDE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ounded Rectangle 12"/>
          <p:cNvSpPr/>
          <p:nvPr/>
        </p:nvSpPr>
        <p:spPr>
          <a:xfrm>
            <a:off x="768096" y="3447288"/>
            <a:ext cx="420624" cy="420624"/>
          </a:xfrm>
          <a:prstGeom prst="roundRect">
            <a:avLst>
              <a:gd name="adj" fmla="val 5500"/>
            </a:avLst>
          </a:prstGeom>
          <a:solidFill>
            <a:srgbClr val="CF1D4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27432" bIns="27432"/>
          <a:lstStyle/>
          <a:p>
            <a:pPr algn="ctr"/>
            <a:r>
              <a:rPr sz="1600" b="1" i="0">
                <a:solidFill>
                  <a:srgbClr val="FFFFFF"/>
                </a:solidFill>
                <a:latin typeface="Arial"/>
                <a:cs typeface="Arial"/>
              </a:rPr>
              <a:t>3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435608" y="3355848"/>
            <a:ext cx="9869119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550" b="1" i="0">
                <a:solidFill>
                  <a:srgbClr val="1E2430"/>
                </a:solidFill>
                <a:latin typeface="Arial"/>
                <a:cs typeface="Arial"/>
              </a:rPr>
              <a:t>Per-step cost is one batched constitutive call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435608" y="3712464"/>
            <a:ext cx="9869119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00" b="0" i="0">
                <a:solidFill>
                  <a:srgbClr val="59595C"/>
                </a:solidFill>
                <a:latin typeface="Arial"/>
                <a:cs typeface="Arial"/>
              </a:rPr>
              <a:t>the element loop is provably empty after setup; reduced integration + knob-free hourglass control, 2.6× faster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566928" y="4206240"/>
            <a:ext cx="11057839" cy="841248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9525">
            <a:solidFill>
              <a:srgbClr val="DADDE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ounded Rectangle 16"/>
          <p:cNvSpPr/>
          <p:nvPr/>
        </p:nvSpPr>
        <p:spPr>
          <a:xfrm>
            <a:off x="768096" y="4416552"/>
            <a:ext cx="420624" cy="420624"/>
          </a:xfrm>
          <a:prstGeom prst="roundRect">
            <a:avLst>
              <a:gd name="adj" fmla="val 5500"/>
            </a:avLst>
          </a:prstGeom>
          <a:solidFill>
            <a:srgbClr val="B462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27432" bIns="27432"/>
          <a:lstStyle/>
          <a:p>
            <a:pPr algn="ctr"/>
            <a:r>
              <a:rPr sz="1600" b="1" i="0">
                <a:solidFill>
                  <a:srgbClr val="FFFFFF"/>
                </a:solidFill>
                <a:latin typeface="Arial"/>
                <a:cs typeface="Arial"/>
              </a:rPr>
              <a:t>4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435608" y="4325112"/>
            <a:ext cx="9869119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550" b="1" i="0">
                <a:solidFill>
                  <a:srgbClr val="1E2430"/>
                </a:solidFill>
                <a:latin typeface="Arial"/>
                <a:cs typeface="Arial"/>
              </a:rPr>
              <a:t>End-to-end on a real experiment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435608" y="4681728"/>
            <a:ext cx="9869119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00" b="0" i="0">
                <a:solidFill>
                  <a:srgbClr val="59595C"/>
                </a:solidFill>
                <a:latin typeface="Arial"/>
                <a:cs typeface="Arial"/>
              </a:rPr>
              <a:t>3-D and RZ Taylor impact with in-model adiabatic heating; Bayesian-calibrated to 69 µm profile RMS against a scanned specimen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566928" y="5266944"/>
            <a:ext cx="11057839" cy="731520"/>
          </a:xfrm>
          <a:prstGeom prst="roundRect">
            <a:avLst>
              <a:gd name="adj" fmla="val 5500"/>
            </a:avLst>
          </a:prstGeom>
          <a:solidFill>
            <a:srgbClr val="E6EEF7"/>
          </a:solidFill>
          <a:ln w="12700">
            <a:solidFill>
              <a:srgbClr val="06509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841248" y="5266944"/>
            <a:ext cx="10509199" cy="7315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450" b="1" i="0">
                <a:solidFill>
                  <a:srgbClr val="06509D"/>
                </a:solidFill>
                <a:latin typeface="Arial"/>
                <a:cs typeface="Arial"/>
              </a:rPr>
              <a:t>Open source, in MOOSE today.   Next:  </a:t>
            </a:r>
            <a:r>
              <a:rPr sz="1450" b="0" i="0">
                <a:solidFill>
                  <a:srgbClr val="1E2430"/>
                </a:solidFill>
                <a:latin typeface="Arial"/>
                <a:cs typeface="Arial"/>
              </a:rPr>
              <a:t>GPU scaling studies  ·  multi-velocity calibration  ·  3-D reduced-integration production runs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INL 2020">
  <a:themeElements>
    <a:clrScheme name="INL 2020">
      <a:dk1>
        <a:srgbClr val="000000"/>
      </a:dk1>
      <a:lt1>
        <a:srgbClr val="FFFFFF"/>
      </a:lt1>
      <a:dk2>
        <a:srgbClr val="06509D"/>
      </a:dk2>
      <a:lt2>
        <a:srgbClr val="2CA8E1"/>
      </a:lt2>
      <a:accent1>
        <a:srgbClr val="8EC423"/>
      </a:accent1>
      <a:accent2>
        <a:srgbClr val="2CA8E1"/>
      </a:accent2>
      <a:accent3>
        <a:srgbClr val="832369"/>
      </a:accent3>
      <a:accent4>
        <a:srgbClr val="CF1D4C"/>
      </a:accent4>
      <a:accent5>
        <a:srgbClr val="F78E20"/>
      </a:accent5>
      <a:accent6>
        <a:srgbClr val="59595C"/>
      </a:accent6>
      <a:hlink>
        <a:srgbClr val="7F7F7F"/>
      </a:hlink>
      <a:folHlink>
        <a:srgbClr val="954F72"/>
      </a:folHlink>
    </a:clrScheme>
    <a:fontScheme name="Arial">
      <a:majorFont>
        <a:latin typeface="Arial" panose="020B0604020202020204"/>
        <a:ea typeface=""/>
        <a:cs typeface=""/>
        <a:font script="Jpan" typeface="ＭＳ Ｐゴシック"/>
        <a:font script="Hang" typeface="굴림"/>
        <a:font script="Hans" typeface="黑体"/>
        <a:font script="Hant" typeface="微軟正黑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ajorFont>
      <a:minorFont>
        <a:latin typeface="Arial" panose="020B0604020202020204"/>
        <a:ea typeface=""/>
        <a:cs typeface=""/>
        <a:font script="Jpan" typeface="ＭＳ Ｐゴシック"/>
        <a:font script="Hang" typeface="굴림"/>
        <a:font script="Hans" typeface="黑体"/>
        <a:font script="Hant" typeface="微軟正黑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INL_2022_hexLight_wide-WEB" id="{02E20BC5-FEDE-CE44-9BE4-1CE6CB29BA3D}" vid="{E4378662-F895-C340-BA33-6EA5E69E43EA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customXml/_rels/item1.xml.rels><?xml version='1.0' encoding='UTF-8' standalone='yes'?>
<Relationships xmlns="http://schemas.openxmlformats.org/package/2006/relationships"><Relationship Id="rId1" Type="http://schemas.openxmlformats.org/officeDocument/2006/relationships/customXmlProps" Target="itemProps1.xml"/></Relationships>
</file>

<file path=customXml/_rels/item2.xml.rels><?xml version='1.0' encoding='UTF-8' standalone='yes'?>
<Relationships xmlns="http://schemas.openxmlformats.org/package/2006/relationships"><Relationship Id="rId1" Type="http://schemas.openxmlformats.org/officeDocument/2006/relationships/customXmlProps" Target="itemProps2.xml"/></Relationships>
</file>

<file path=customXml/_rels/item3.xml.rels><?xml version='1.0' encoding='UTF-8' standalone='yes'?>
<Relationships xmlns="http://schemas.openxmlformats.org/package/2006/relationships"><Relationship Id="rId1" Type="http://schemas.openxmlformats.org/officeDocument/2006/relationships/customXmlProps" Target="itemProps3.xml"/></Relationships>
</file>

<file path=customXml/item1.xml><?xml version="1.0" encoding="utf-8"?>
<ct:contentTypeSchema xmlns:ct="http://schemas.microsoft.com/office/2006/metadata/contentType" xmlns:ma="http://schemas.microsoft.com/office/2006/metadata/properties/metaAttributes" ct:_="" ma:_="" ma:contentTypeName="Document" ma:contentTypeID="0x010100803797F432E2A042A124C0139981475A" ma:contentTypeVersion="14" ma:contentTypeDescription="Create a new document." ma:contentTypeScope="" ma:versionID="f98a91b6c1e71bbba55439f0a80a0573">
  <xsd:schema xmlns:xsd="http://www.w3.org/2001/XMLSchema" xmlns:xs="http://www.w3.org/2001/XMLSchema" xmlns:p="http://schemas.microsoft.com/office/2006/metadata/properties" xmlns:ns2="2391d807-f94f-4c4f-bb14-493106c624c2" xmlns:ns3="42ea9b75-b306-4826-8769-4c6ad6718b67" targetNamespace="http://schemas.microsoft.com/office/2006/metadata/properties" ma:root="true" ma:fieldsID="e10204a60157ce1d68d66ae7a68b8f6a" ns2:_="" ns3:_="">
    <xsd:import namespace="2391d807-f94f-4c4f-bb14-493106c624c2"/>
    <xsd:import namespace="42ea9b75-b306-4826-8769-4c6ad6718b67"/>
    <xsd:element name="properties">
      <xsd:complexType>
        <xsd:sequence>
          <xsd:element name="documentManagement">
            <xsd:complexType>
              <xsd:all>
                <xsd:element ref="ns2:SharedWithUsers" minOccurs="0"/>
                <xsd:element ref="ns2:lcf76f155ced4ddcb4097134ff3c332f" minOccurs="0"/>
                <xsd:element ref="ns3:TaxCatchAll" minOccurs="0"/>
                <xsd:element ref="ns2:MediaServiceMetadata" minOccurs="0"/>
                <xsd:element ref="ns2:MediaServiceFastMetadata" minOccurs="0"/>
                <xsd:element ref="ns2:MediaServiceSearchProperties" minOccurs="0"/>
                <xsd:element ref="ns2:MediaServiceObjectDetectorVersions" minOccurs="0"/>
                <xsd:element ref="ns2:MediaServiceOCR" minOccurs="0"/>
                <xsd:element ref="ns2:MediaServiceGenerationTime" minOccurs="0"/>
                <xsd:element ref="ns2:MediaServiceEventHashCode" minOccurs="0"/>
                <xsd:element ref="ns2:MediaServiceDateTaken" minOccurs="0"/>
              </xsd:all>
            </xsd:complexType>
          </xsd:element>
        </xsd:sequence>
      </xsd:complexType>
    </xsd:element>
  </xsd:schema>
  <xsd:schema xmlns:xsd="http://www.w3.org/2001/XMLSchema" xmlns:xs="http://www.w3.org/2001/XMLSchema" xmlns:dms="http://schemas.microsoft.com/office/2006/documentManagement/types" xmlns:pc="http://schemas.microsoft.com/office/infopath/2007/PartnerControls" targetNamespace="2391d807-f94f-4c4f-bb14-493106c624c2" elementFormDefault="qualified">
    <xsd:import namespace="http://schemas.microsoft.com/office/2006/documentManagement/types"/>
    <xsd:import namespace="http://schemas.microsoft.com/office/infopath/2007/PartnerControls"/>
    <xsd:element name="SharedWithUsers" ma:index="8" nillable="true" ma:displayName="Shared With" ma:list="UserInfo" ma:SearchPeopleOnly="false" ma:internalName="SharedWithUsers" ma:readOnly="false">
      <xsd:complexType>
        <xsd:complexContent>
          <xsd:extension base="dms:UserMulti">
            <xsd:sequence>
              <xsd:element name="UserInfo" minOccurs="0" maxOccurs="unbounded">
                <xsd:complexType>
                  <xsd:sequence>
                    <xsd:element name="DisplayName" type="xsd:string" minOccurs="0"/>
                    <xsd:element name="AccountId" type="dms:UserId" minOccurs="0" nillable="true"/>
                    <xsd:element name="AccountType" type="xsd:string" minOccurs="0"/>
                  </xsd:sequence>
                </xsd:complexType>
              </xsd:element>
            </xsd:sequence>
          </xsd:extension>
        </xsd:complexContent>
      </xsd:complexType>
    </xsd:element>
    <xsd:element name="lcf76f155ced4ddcb4097134ff3c332f" ma:index="10" nillable="true" ma:taxonomy="true" ma:internalName="lcf76f155ced4ddcb4097134ff3c332f" ma:taxonomyFieldName="MediaServiceImageTags" ma:displayName="Image Tags" ma:readOnly="false" ma:fieldId="{5cf76f15-5ced-4ddc-b409-7134ff3c332f}" ma:taxonomyMulti="true" ma:sspId="0b78db39-37aa-4e28-bb7e-9642684d42d7" ma:termSetId="09814cd3-568e-fe90-9814-8d621ff8fb84" ma:anchorId="fba54fb3-c3e1-fe81-a776-ca4b69148c4d" ma:open="true" ma:isKeyword="false">
      <xsd:complexType>
        <xsd:sequence>
          <xsd:element ref="pc:Terms" minOccurs="0" maxOccurs="1"/>
        </xsd:sequence>
      </xsd:complexType>
    </xsd:element>
    <xsd:element name="MediaServiceMetadata" ma:index="12" nillable="true" ma:displayName="MediaServiceMetadata" ma:hidden="true" ma:internalName="MediaServiceMetadata" ma:readOnly="true">
      <xsd:simpleType>
        <xsd:restriction base="dms:Note"/>
      </xsd:simpleType>
    </xsd:element>
    <xsd:element name="MediaServiceFastMetadata" ma:index="13" nillable="true" ma:displayName="MediaServiceFastMetadata" ma:hidden="true" ma:internalName="MediaServiceFastMetadata" ma:readOnly="true">
      <xsd:simpleType>
        <xsd:restriction base="dms:Note"/>
      </xsd:simpleType>
    </xsd:element>
    <xsd:element name="MediaServiceSearchProperties" ma:index="14" nillable="true" ma:displayName="MediaServiceSearchProperties" ma:hidden="true" ma:internalName="MediaServiceSearchProperties" ma:readOnly="true">
      <xsd:simpleType>
        <xsd:restriction base="dms:Note"/>
      </xsd:simpleType>
    </xsd:element>
    <xsd:element name="MediaServiceObjectDetectorVersions" ma:index="15" nillable="true" ma:displayName="MediaServiceObjectDetectorVersions" ma:hidden="true" ma:indexed="true" ma:internalName="MediaServiceObjectDetectorVersions" ma:readOnly="true">
      <xsd:simpleType>
        <xsd:restriction base="dms:Text"/>
      </xsd:simpleType>
    </xsd:element>
    <xsd:element name="MediaServiceOCR" ma:index="16" nillable="true" ma:displayName="Extracted Text" ma:internalName="MediaServiceOCR" ma:readOnly="true">
      <xsd:simpleType>
        <xsd:restriction base="dms:Note">
          <xsd:maxLength value="255"/>
        </xsd:restriction>
      </xsd:simpleType>
    </xsd:element>
    <xsd:element name="MediaServiceGenerationTime" ma:index="17" nillable="true" ma:displayName="MediaServiceGenerationTime" ma:hidden="true" ma:internalName="MediaServiceGenerationTime" ma:readOnly="true">
      <xsd:simpleType>
        <xsd:restriction base="dms:Text"/>
      </xsd:simpleType>
    </xsd:element>
    <xsd:element name="MediaServiceEventHashCode" ma:index="18" nillable="true" ma:displayName="MediaServiceEventHashCode" ma:hidden="true" ma:internalName="MediaServiceEventHashCode" ma:readOnly="true">
      <xsd:simpleType>
        <xsd:restriction base="dms:Text"/>
      </xsd:simpleType>
    </xsd:element>
    <xsd:element name="MediaServiceDateTaken" ma:index="19" nillable="true" ma:displayName="MediaServiceDateTaken" ma:hidden="true" ma:indexed="true" ma:internalName="MediaServiceDateTaken" ma:readOnly="true">
      <xsd:simpleType>
        <xsd:restriction base="dms:Text"/>
      </xsd:simpleType>
    </xsd:element>
  </xsd:schema>
  <xsd:schema xmlns:xsd="http://www.w3.org/2001/XMLSchema" xmlns:xs="http://www.w3.org/2001/XMLSchema" xmlns:dms="http://schemas.microsoft.com/office/2006/documentManagement/types" xmlns:pc="http://schemas.microsoft.com/office/infopath/2007/PartnerControls" targetNamespace="42ea9b75-b306-4826-8769-4c6ad6718b67" elementFormDefault="qualified">
    <xsd:import namespace="http://schemas.microsoft.com/office/2006/documentManagement/types"/>
    <xsd:import namespace="http://schemas.microsoft.com/office/infopath/2007/PartnerControls"/>
    <xsd:element name="TaxCatchAll" ma:index="11" nillable="true" ma:displayName="Taxonomy Catch All Column" ma:hidden="true" ma:list="{2721504a-65bf-41e8-8385-5761431a3c1d}" ma:internalName="TaxCatchAll" ma:showField="CatchAllData" ma:web="42ea9b75-b306-4826-8769-4c6ad6718b67">
      <xsd:complexType>
        <xsd:complexContent>
          <xsd:extension base="dms:MultiChoiceLookup">
            <xsd:sequence>
              <xsd:element name="Value" type="dms:Lookup" maxOccurs="unbounded" minOccurs="0" nillable="true"/>
            </xsd:sequence>
          </xsd:extension>
        </xsd:complexContent>
      </xsd:complexType>
    </xsd:element>
  </xsd:schema>
  <xsd:schema xmlns="http://schemas.openxmlformats.org/package/2006/metadata/core-properties" xmlns:xsd="http://www.w3.org/2001/XMLSchema" xmlns:xsi="http://www.w3.org/2001/XMLSchema-instance" xmlns:dc="http://purl.org/dc/elements/1.1/" xmlns:dcterms="http://purl.org/dc/terms/" xmlns:odoc="http://schemas.microsoft.com/internal/obd" targetNamespace="http://schemas.openxmlformats.org/package/2006/metadata/core-properties" elementFormDefault="qualified" attributeFormDefault="unqualified" blockDefault="#all">
    <xsd:import namespace="http://purl.org/dc/elements/1.1/" schemaLocation="http://dublincore.org/schemas/xmls/qdc/2003/04/02/dc.xsd"/>
    <xsd:import namespace="http://purl.org/dc/terms/" schemaLocation="http://dublincore.org/schemas/xmls/qdc/2003/04/02/dcterms.xsd"/>
    <xsd:element name="coreProperties" type="CT_coreProperties"/>
    <xsd:complexType name="CT_coreProperties">
      <xsd:all>
        <xsd:element ref="dc:creator" minOccurs="0" maxOccurs="1"/>
        <xsd:element ref="dcterms:created" minOccurs="0" maxOccurs="1"/>
        <xsd:element ref="dc:identifier" minOccurs="0" maxOccurs="1"/>
        <xsd:element name="contentType" minOccurs="0" maxOccurs="1" type="xsd:string" ma:index="0" ma:displayName="Content Type"/>
        <xsd:element ref="dc:title" minOccurs="0" maxOccurs="1" ma:index="4" ma:displayName="Title"/>
        <xsd:element ref="dc:subject" minOccurs="0" maxOccurs="1"/>
        <xsd:element ref="dc:description" minOccurs="0" maxOccurs="1"/>
        <xsd:element name="keywords" minOccurs="0" maxOccurs="1" type="xsd:string"/>
        <xsd:element ref="dc:language" minOccurs="0" maxOccurs="1"/>
        <xsd:element name="category" minOccurs="0" maxOccurs="1" type="xsd:string"/>
        <xsd:element name="version" minOccurs="0" maxOccurs="1" type="xsd:string"/>
        <xsd:element name="revision" minOccurs="0" maxOccurs="1" type="xsd:string">
          <xsd:annotation>
            <xsd:documentation>
                        This value indicates the number of saves or revisions. The application is responsible for updating this value after each revision.
                    </xsd:documentation>
          </xsd:annotation>
        </xsd:element>
        <xsd:element name="lastModifiedBy" minOccurs="0" maxOccurs="1" type="xsd:string"/>
        <xsd:element ref="dcterms:modified" minOccurs="0" maxOccurs="1"/>
        <xsd:element name="contentStatus" minOccurs="0" maxOccurs="1" type="xsd:string"/>
      </xsd:all>
    </xsd:complexType>
  </xsd:schema>
  <xs:schema xmlns:pc="http://schemas.microsoft.com/office/infopath/2007/PartnerControls" xmlns:xs="http://www.w3.org/2001/XMLSchema" targetNamespace="http://schemas.microsoft.com/office/infopath/2007/PartnerControls" elementFormDefault="qualified" attributeFormDefault="unqualified">
    <xs:element name="Person">
      <xs:complexType>
        <xs:sequence>
          <xs:element ref="pc:DisplayName" minOccurs="0"/>
          <xs:element ref="pc:AccountId" minOccurs="0"/>
          <xs:element ref="pc:AccountType" minOccurs="0"/>
        </xs:sequence>
      </xs:complexType>
    </xs:element>
    <xs:element name="DisplayName" type="xs:string"/>
    <xs:element name="AccountId" type="xs:string"/>
    <xs:element name="AccountType" type="xs:string"/>
    <xs:element name="BDCAssociatedEntity">
      <xs:complexType>
        <xs:sequence>
          <xs:element ref="pc:BDCEntity" minOccurs="0" maxOccurs="unbounded"/>
        </xs:sequence>
        <xs:attribute ref="pc:EntityNamespace"/>
        <xs:attribute ref="pc:EntityName"/>
        <xs:attribute ref="pc:SystemInstanceName"/>
        <xs:attribute ref="pc:AssociationName"/>
      </xs:complexType>
    </xs:element>
    <xs:attribute name="EntityNamespace" type="xs:string"/>
    <xs:attribute name="EntityName" type="xs:string"/>
    <xs:attribute name="SystemInstanceName" type="xs:string"/>
    <xs:attribute name="AssociationName" type="xs:string"/>
    <xs:element name="BDCEntity">
      <xs:complexType>
        <xs:sequence>
          <xs:element ref="pc:EntityDisplayName" minOccurs="0"/>
          <xs:element ref="pc:EntityInstanceReference" minOccurs="0"/>
          <xs:element ref="pc:EntityId1" minOccurs="0"/>
          <xs:element ref="pc:EntityId2" minOccurs="0"/>
          <xs:element ref="pc:EntityId3" minOccurs="0"/>
          <xs:element ref="pc:EntityId4" minOccurs="0"/>
          <xs:element ref="pc:EntityId5" minOccurs="0"/>
        </xs:sequence>
      </xs:complexType>
    </xs:element>
    <xs:element name="EntityDisplayName" type="xs:string"/>
    <xs:element name="EntityInstanceReference" type="xs:string"/>
    <xs:element name="EntityId1" type="xs:string"/>
    <xs:element name="EntityId2" type="xs:string"/>
    <xs:element name="EntityId3" type="xs:string"/>
    <xs:element name="EntityId4" type="xs:string"/>
    <xs:element name="EntityId5" type="xs:string"/>
    <xs:element name="Terms">
      <xs:complexType>
        <xs:sequence>
          <xs:element ref="pc:TermInfo" minOccurs="0" maxOccurs="unbounded"/>
        </xs:sequence>
      </xs:complexType>
    </xs:element>
    <xs:element name="TermInfo">
      <xs:complexType>
        <xs:sequence>
          <xs:element ref="pc:TermName" minOccurs="0"/>
          <xs:element ref="pc:TermId" minOccurs="0"/>
        </xs:sequence>
      </xs:complexType>
    </xs:element>
    <xs:element name="TermName" type="xs:string"/>
    <xs:element name="TermId" type="xs:string"/>
  </xs:schema>
</ct:contentTypeSchema>
</file>

<file path=customXml/item2.xml><?xml version="1.0" encoding="utf-8"?>
<?mso-contentType ?>
<FormTemplates xmlns="http://schemas.microsoft.com/sharepoint/v3/contenttype/forms">
  <Display>DocumentLibraryForm</Display>
  <Edit>DocumentLibraryForm</Edit>
  <New>DocumentLibraryForm</New>
</FormTemplates>
</file>

<file path=customXml/item3.xml><?xml version="1.0" encoding="utf-8"?>
<p:properties xmlns:p="http://schemas.microsoft.com/office/2006/metadata/properties" xmlns:xsi="http://www.w3.org/2001/XMLSchema-instance" xmlns:pc="http://schemas.microsoft.com/office/infopath/2007/PartnerControls">
  <documentManagement>
    <SharedWithUsers xmlns="2391d807-f94f-4c4f-bb14-493106c624c2">
      <UserInfo>
        <DisplayName/>
        <AccountId xsi:nil="true"/>
        <AccountType/>
      </UserInfo>
    </SharedWithUsers>
    <TaxCatchAll xmlns="42ea9b75-b306-4826-8769-4c6ad6718b67" xsi:nil="true"/>
    <lcf76f155ced4ddcb4097134ff3c332f xmlns="2391d807-f94f-4c4f-bb14-493106c624c2">
      <Terms xmlns="http://schemas.microsoft.com/office/infopath/2007/PartnerControls"/>
    </lcf76f155ced4ddcb4097134ff3c332f>
  </documentManagement>
</p:properties>
</file>

<file path=customXml/itemProps1.xml><?xml version="1.0" encoding="utf-8"?>
<ds:datastoreItem xmlns:ds="http://schemas.openxmlformats.org/officeDocument/2006/customXml" ds:itemID="{E158C39C-6B2B-46C8-8FF5-4FF701DE8E56}"/>
</file>

<file path=customXml/itemProps2.xml><?xml version="1.0" encoding="utf-8"?>
<ds:datastoreItem xmlns:ds="http://schemas.openxmlformats.org/officeDocument/2006/customXml" ds:itemID="{5B987B27-07C2-425E-9FC8-8EB9D2FCBB97}">
  <ds:schemaRefs>
    <ds:schemaRef ds:uri="http://schemas.microsoft.com/sharepoint/v3/contenttype/forms"/>
  </ds:schemaRefs>
</ds:datastoreItem>
</file>

<file path=customXml/itemProps3.xml><?xml version="1.0" encoding="utf-8"?>
<ds:datastoreItem xmlns:ds="http://schemas.openxmlformats.org/officeDocument/2006/customXml" ds:itemID="{52E72521-46AD-4BAF-8AA5-1067FA401909}">
  <ds:schemaRefs>
    <ds:schemaRef ds:uri="http://schemas.microsoft.com/office/2006/metadata/properties"/>
    <ds:schemaRef ds:uri="http://schemas.microsoft.com/office/infopath/2007/PartnerControls"/>
  </ds:schemaRefs>
</ds:datastoreItem>
</file>

<file path=docProps/app.xml><?xml version="1.0" encoding="utf-8"?>
<Properties xmlns="http://schemas.openxmlformats.org/officeDocument/2006/extended-properties" xmlns:vt="http://schemas.openxmlformats.org/officeDocument/2006/docPropsVTypes">
  <Template/>
  <TotalTime>9542</TotalTime>
  <Words>15</Words>
  <Application>Microsoft Macintosh PowerPoint</Application>
  <PresentationFormat>Widescreen</PresentationFormat>
  <Paragraphs>5</Paragraphs>
  <Slides>3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5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3</vt:i4>
      </vt:variant>
    </vt:vector>
  </HeadingPairs>
  <TitlesOfParts>
    <vt:vector size="9" baseType="lpstr">
      <vt:lpstr>Arial</vt:lpstr>
      <vt:lpstr>Arial Narrow</vt:lpstr>
      <vt:lpstr>Calibri</vt:lpstr>
      <vt:lpstr>Myriad Pro Cond</vt:lpstr>
      <vt:lpstr>Times New Roman</vt:lpstr>
      <vt:lpstr>INL 2020</vt:lpstr>
      <vt:lpstr>PowerPoint Presentation</vt:lpstr>
      <vt:lpstr>PowerPoint Presentation</vt:lpstr>
      <vt:lpstr>PowerPoint Presentation</vt:lpstr>
    </vt:vector>
  </TitlesOfParts>
  <Manager/>
  <Company/>
  <LinksUpToDate>false</LinksUpToDate>
  <SharedDoc>false</SharedDoc>
  <HyperlinkBase/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PowerPoint Presentation</dc:title>
  <dc:subject/>
  <dc:creator>Daniel L. Campbell</dc:creator>
  <cp:keywords/>
  <dc:description/>
  <cp:lastModifiedBy>David L. Combs</cp:lastModifiedBy>
  <cp:revision>238</cp:revision>
  <dcterms:created xsi:type="dcterms:W3CDTF">2020-04-22T20:22:45Z</dcterms:created>
  <dcterms:modified xsi:type="dcterms:W3CDTF">2022-07-18T20:44:46Z</dcterms:modified>
  <cp:category/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ContentTypeId">
    <vt:lpwstr>0x010100803797F432E2A042A124C0139981475A</vt:lpwstr>
  </property>
  <property fmtid="{D5CDD505-2E9C-101B-9397-08002B2CF9AE}" pid="3" name="Order">
    <vt:r8>73000</vt:r8>
  </property>
</Properties>
</file>